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7039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cô. Em là Huỳnh Chí Khải, lớp DX24TT8. Em xin trình bày đồ án thực tập cơ sở ngành: Xây dựng Website Trường Trung học Quốc tế DNC, dưới sự hướng dẫn của thầy Lê Phong Dũ. Website được xây dựng bằng PHP, MySQL và chạy trên Docker.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5 phần: tổng quan đề tài, công nghệ và chức năng, phân tích thiết kế, kết quả hiện thực và cuối cùng là kiểm thử, đánh giá. Sản phẩm bàn giao gồm website chạy được, báo cáo đồ án và mã nguồn quản lý trên GitHub.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nay thông tin về trường thường rải rác trên mạng xã hội và tờ rơi, phụ huynh khó tìm hiểu chương trình, đăng ký nhập học vẫn qua giấy tờ hoặc điện thoại nên khó theo dõi. Giải pháp là một website chính thức: giới thiệu trường, cập nhật tin tức, nhận đăng ký trực tuyến và có trang quản trị để nhà trường tự cập nhật.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của đề tài gồm ba ý: giới thiệu và quảng bá hình ảnh trường, cập nhật tin tức hoạt động, và tiếp nhận đăng ký nhập học trực tuyến. Có hai nhóm người dùng: phụ huynh, học sinh truy cập không cần đăng nhập; và quản trị viên đăng nhập với hai vai trò admin và biên tập. Các chức năng như điểm danh, điểm số, học phí nằm ngoài phạm vi đồ án.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cương yêu cầu PHP, MySQL và HTML/CSS/JavaScript. Em tự xây mô hình MVC nhẹ bằng PHP 8.2, truy cập MySQL qua PDO với prepared statement. Giao diện dùng CSS thuần, không cần bước build. Môi trường chạy được đóng gói bằng Docker Compose gồm web, cơ sở dữ liệu và phpMyAdmin. Mã nguồn quản lý bằng Git và GitHub.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sáu nhóm chức năng, đánh mã F01 đến F06. Năm chức năng đầu phục vụ khách truy cập: giới thiệu trường, thư viện ảnh, chương trình đào tạo, tin tức và đăng ký nhập học. F06 là khu vực quản trị với bảy tab, trong đó quan trọng nhất là xử lý hồ sơ đăng ký nhập học.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theo mô hình MVC nhẹ, không dùng framework. Mọi request đi vào một file duy nhất là public/index.php, Router tra bảng route để gọi Controller. Controller kiểm tra CSRF, quyền và dữ liệu, gọi Model truy vấn MySQL qua PDO, rồi đưa dữ liệu cho View dựng trang HTML trả về trình duyệt. Tổng cộng 9 module, 45 route và 67 file PHP.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luồng nghiệp vụ quan trọng nhất. Phụ huynh điền form gồm bốn nhóm thông tin; máy chủ kiểm tra token CSRF và từng trường dữ liệu; học bạ được kiểm tra đúng loại tệp và đổi tên ngẫu nhiên; hồ sơ được lưu với trạng thái Mới. Quản trị viên sau đó xem chi tiết và chuyển trạng thái: đang xử lý, rồi đã liên hệ hoặc từ chối.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gồm 6 bảng, dùng bảng mã utf8mb4. Hai khóa ngoại chính: tin tức liên kết với người đăng trong bảng người dùng, và hồ sơ đăng ký liên kết với chương trình đào tạo. Bảng cài đặt lưu thông tin trường như địa chỉ, điện thoại để hiển thị ở footer, không viết cứng trong giao diện.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mật là yêu cầu bắt buộc của đề tài. Mật khẩu được băm bằng bcrypt; mọi truy vấn dùng prepared statement nên chống được SQL injection; mọi form POST có token CSRF; dữ liệu xuất ra được escape để chống XSS; tệp tải lên được kiểm tra loại thật và không thể chạy mã PHP; khu vực quản trị dùng session và phân quyền theo vai trò. Cả 6 ca kiểm thử bảo mật đều đạt.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trang chủ. Header có logo, menu bảy mục và nút vàng Đăng ký ngay luôn nổi bật. Phần hero dùng ảnh lớn cùng slogan của trường, bên dưới là các khối Vì sao chọn DNC, chương trình đào tạo, đời sống học sinh và tin tức mới. Giao diện responsive, trên điện thoại menu được thu gọn.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trang công khai tiếp theo: chương trình đào tạo có trang danh sách và trang chi tiết theo slug; tin tức có phân trang, đếm lượt xem, và bài ở trạng thái nháp sẽ trả về lỗi 404; thư viện ảnh cho phép lọc theo album và bấm vào ảnh để phóng 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đăng ký nhập học gồm bốn nhóm: học sinh, phụ huynh, học vấn và thông tin thêm. Bên trái là ca kiểm thử TC04: khi thiếu email, hệ thống báo lỗi ngay tại trường đó và giữ nguyên dữ liệu đã nhập. Bên phải là ca TC03: dữ liệu hợp lệ thì hồ sơ được lưu với trạng thái mới và hiển thị thông báo gửi thành công.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 vực quản trị yêu cầu đăng nhập. Trang chính hiển thị các thẻ thống kê, hồ sơ đăng ký mới nhất và tin gần đây. Quản trị viên có thể thêm, sửa, xóa tin tức, chương trình, hình ảnh; xử lý hồ sơ đăng ký theo trạng thái; và chỉnh thông tin trường trong phần cài đặt.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đã chạy kiểm thử hồi quy ngày 26/09/2026 trên Docker. Tổng cộng 16 ca đều đạt: 6 ca chức năng theo bảng 4.1 của báo cáo, 6 ca bảo mật và 4 luồng nghiệp vụ đầu cuối. Ngoài ra còn kiểm tra 20 route, cú pháp 67 file PHP và giao diện ở ba độ rộng màn hình.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chạy dự án chỉ cần Docker: sao chép file cấu hình môi trường rồi chạy docker compose. Hệ thống gồm ba dịch vụ: web chạy PHP 8.2 với Apache ở cổng 8080, cơ sở dữ liệu MySQL 8.0 tự nạp cấu trúc bảng và dữ liệu mẫu ở lần chạy đầu, và phpMyAdmin ở cổng 8081 để xem dữ liệu. Mã nguồn được gắn trực tiếp vào container nên sửa code là thấy ngay. Nếu không có Docker có thể dùng XAMPP.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Mã nguồn của đồ án được lưu trên GitHub theo đường dẫn trên slide, thầy cô có thể bấm vào link hoặc quét mã QR để mở. Bên dưới là đường dẫn video thuyết trình trên Google Drive.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website đã đáp ứng đủ sáu chức năng theo đề cương, bảo mật cơ bản đầy đủ và toàn bộ ca kiểm thử đều đạt. Hạn chế là dữ liệu còn là dữ liệu mẫu và tệp học bạ vẫn nằm trong thư mục web. Hướng phát triển là bảo vệ tệp học bạ, thêm trình soạn thảo, email xác nhận và triển khai lên hosting có HTTPS. Em xin cảm ơn thầy cô đã lắng nghe.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0.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30.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hyperlink" Target="https://drive.google.com/file/d/1mQbcqRtB2FgkDaEPFMfxQvor5TGGTFZ_/view?usp=drive_link"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hyperlink" Target="https://github.com/trikhaihuynh/csn-dx24tt8-huynhchikhai-truongtrunghocquoctednc-php"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C59"/>
        </a:solidFill>
        <a:effectLst/>
      </p:bgPr>
    </p:bg>
    <p:spTree>
      <p:nvGrpSpPr>
        <p:cNvPr id="1" name=""/>
        <p:cNvGrpSpPr/>
        <p:nvPr/>
      </p:nvGrpSpPr>
      <p:grpSpPr>
        <a:xfrm>
          <a:off x="0" y="0"/>
          <a:ext cx="0" cy="0"/>
          <a:chOff x="0" y="0"/>
          <a:chExt cx="0" cy="0"/>
        </a:xfrm>
      </p:grpSpPr>
      <p:pic>
        <p:nvPicPr>
          <p:cNvPr id="2" name="Shape 1" descr="Ảnh khuôn viên và học sinh Trường Trung học Quốc tế DNC"/>
          <p:cNvPicPr>
            <a:picLocks noChangeAspect="1"/>
          </p:cNvPicPr>
          <p:nvPr/>
        </p:nvPicPr>
        <p:blipFill>
          <a:blip r:embed="rId3"/>
          <a:stretch>
            <a:fillRect/>
          </a:stretch>
        </p:blipFill>
        <p:spPr>
          <a:xfrm>
            <a:off x="5879592" y="0"/>
            <a:ext cx="6309360" cy="6858000"/>
          </a:xfrm>
          <a:prstGeom prst="rect">
            <a:avLst/>
          </a:prstGeom>
        </p:spPr>
      </p:pic>
      <p:grpSp>
        <p:nvGrpSpPr>
          <p:cNvPr id="14" name="Group 2">
            <a:extLst>
              <a:ext uri="{FF2B5EF4-FFF2-40B4-BE49-F238E27FC236}">
                <a16:creationId xmlns:a16="http://schemas.microsoft.com/office/drawing/2014/main" id="{09850C1A-636F-93AE-9880-0BA40FA69416}"/>
              </a:ext>
            </a:extLst>
          </p:cNvPr>
          <p:cNvGrpSpPr/>
          <p:nvPr/>
        </p:nvGrpSpPr>
        <p:grpSpPr>
          <a:xfrm>
            <a:off x="548640" y="420624"/>
            <a:ext cx="5257800" cy="914400"/>
            <a:chOff x="548640" y="420624"/>
            <a:chExt cx="5257800" cy="914400"/>
          </a:xfrm>
        </p:grpSpPr>
        <p:pic>
          <p:nvPicPr>
            <p:cNvPr id="3" name="Part 1" descr="Logo Đại học Trà Vinh"/>
            <p:cNvPicPr>
              <a:picLocks noChangeAspect="1"/>
            </p:cNvPicPr>
            <p:nvPr/>
          </p:nvPicPr>
          <p:blipFill>
            <a:blip r:embed="rId4"/>
            <a:stretch>
              <a:fillRect/>
            </a:stretch>
          </p:blipFill>
          <p:spPr>
            <a:xfrm>
              <a:off x="548640" y="457200"/>
              <a:ext cx="841248" cy="841248"/>
            </a:xfrm>
            <a:prstGeom prst="rect">
              <a:avLst/>
            </a:prstGeom>
          </p:spPr>
        </p:pic>
        <p:pic>
          <p:nvPicPr>
            <p:cNvPr id="4" name="Part 2" descr="Logo Trường Trung học Quốc tế DNC"/>
            <p:cNvPicPr>
              <a:picLocks noChangeAspect="1"/>
            </p:cNvPicPr>
            <p:nvPr/>
          </p:nvPicPr>
          <p:blipFill>
            <a:blip r:embed="rId5"/>
            <a:stretch>
              <a:fillRect/>
            </a:stretch>
          </p:blipFill>
          <p:spPr>
            <a:xfrm>
              <a:off x="1536192" y="420624"/>
              <a:ext cx="793699" cy="914400"/>
            </a:xfrm>
            <a:prstGeom prst="rect">
              <a:avLst/>
            </a:prstGeom>
          </p:spPr>
        </p:pic>
        <p:sp>
          <p:nvSpPr>
            <p:cNvPr id="5" name="Part 3"/>
            <p:cNvSpPr txBox="1"/>
            <p:nvPr/>
          </p:nvSpPr>
          <p:spPr>
            <a:xfrm>
              <a:off x="2514600" y="566928"/>
              <a:ext cx="3291840" cy="640080"/>
            </a:xfrm>
            <a:prstGeom prst="rect">
              <a:avLst/>
            </a:prstGeom>
            <a:noFill/>
            <a:ln/>
          </p:spPr>
          <p:txBody>
            <a:bodyPr wrap="square" lIns="0" tIns="0" rIns="0" bIns="0" rtlCol="0" anchor="ctr"/>
            <a:lstStyle/>
            <a:p>
              <a:pPr marL="0" indent="0" algn="l">
                <a:lnSpc>
                  <a:spcPct val="115000"/>
                </a:lnSpc>
                <a:buNone/>
              </a:pPr>
              <a:r>
                <a:rPr lang="en-US" sz="1150" b="1" dirty="0">
                  <a:solidFill>
                    <a:srgbClr val="DCE4F2"/>
                  </a:solidFill>
                  <a:latin typeface="Arial" pitchFamily="34" charset="0"/>
                  <a:ea typeface="Arial" pitchFamily="34" charset="-122"/>
                  <a:cs typeface="Arial" pitchFamily="34" charset="-120"/>
                </a:rPr>
                <a:t>TRƯỜNG KỸ THUẬT VÀ CÔNG NGHỆ</a:t>
              </a:r>
              <a:endParaRPr lang="en-US" sz="1150" dirty="0"/>
            </a:p>
            <a:p>
              <a:pPr marL="0" indent="0" algn="l">
                <a:lnSpc>
                  <a:spcPct val="115000"/>
                </a:lnSpc>
                <a:buNone/>
              </a:pPr>
              <a:r>
                <a:rPr lang="en-US" sz="1150" b="1" dirty="0">
                  <a:solidFill>
                    <a:srgbClr val="DCE4F2"/>
                  </a:solidFill>
                  <a:latin typeface="Arial" pitchFamily="34" charset="0"/>
                  <a:ea typeface="Arial" pitchFamily="34" charset="-122"/>
                  <a:cs typeface="Arial" pitchFamily="34" charset="-120"/>
                </a:rPr>
                <a:t>ĐẠI HỌC TRÀ VINH</a:t>
              </a:r>
              <a:endParaRPr lang="en-US" sz="1150" dirty="0"/>
            </a:p>
          </p:txBody>
        </p:sp>
      </p:grpSp>
      <p:sp>
        <p:nvSpPr>
          <p:cNvPr id="6" name="Shape 3"/>
          <p:cNvSpPr txBox="1"/>
          <p:nvPr/>
        </p:nvSpPr>
        <p:spPr>
          <a:xfrm>
            <a:off x="548640" y="1828800"/>
            <a:ext cx="5303520" cy="329184"/>
          </a:xfrm>
          <a:prstGeom prst="rect">
            <a:avLst/>
          </a:prstGeom>
          <a:noFill/>
          <a:ln/>
        </p:spPr>
        <p:txBody>
          <a:bodyPr wrap="square" lIns="0" tIns="0" rIns="0" bIns="0" rtlCol="0" anchor="t"/>
          <a:lstStyle/>
          <a:p>
            <a:pPr marL="0" indent="0" algn="l">
              <a:buNone/>
            </a:pPr>
            <a:r>
              <a:rPr lang="en-US" sz="1300" b="1" kern="0" spc="300" dirty="0">
                <a:solidFill>
                  <a:srgbClr val="E5B53A"/>
                </a:solidFill>
                <a:latin typeface="Arial" pitchFamily="34" charset="0"/>
                <a:ea typeface="Arial" pitchFamily="34" charset="-122"/>
                <a:cs typeface="Arial" pitchFamily="34" charset="-120"/>
              </a:rPr>
              <a:t>ĐỒ ÁN THỰC TẬP CƠ SỞ NGÀNH</a:t>
            </a:r>
            <a:endParaRPr lang="en-US" sz="1300" dirty="0"/>
          </a:p>
        </p:txBody>
      </p:sp>
      <p:sp>
        <p:nvSpPr>
          <p:cNvPr id="7" name="Shape 4"/>
          <p:cNvSpPr txBox="1"/>
          <p:nvPr/>
        </p:nvSpPr>
        <p:spPr>
          <a:xfrm>
            <a:off x="548640" y="2240280"/>
            <a:ext cx="5669280" cy="1783080"/>
          </a:xfrm>
          <a:prstGeom prst="rect">
            <a:avLst/>
          </a:prstGeom>
          <a:noFill/>
          <a:ln/>
        </p:spPr>
        <p:txBody>
          <a:bodyPr wrap="square" lIns="0" tIns="0" rIns="0" bIns="0" rtlCol="0" anchor="ctr"/>
          <a:lstStyle/>
          <a:p>
            <a:pPr marL="0" indent="0" algn="l">
              <a:lnSpc>
                <a:spcPct val="95000"/>
              </a:lnSpc>
              <a:buNone/>
            </a:pPr>
            <a:r>
              <a:rPr lang="en-US" sz="3800" b="1" dirty="0">
                <a:solidFill>
                  <a:srgbClr val="FFFFFF"/>
                </a:solidFill>
                <a:latin typeface="Arial" pitchFamily="34" charset="0"/>
                <a:ea typeface="Arial" pitchFamily="34" charset="-122"/>
                <a:cs typeface="Arial" pitchFamily="34" charset="-120"/>
              </a:rPr>
              <a:t>XÂY DỰNG WEBSITE</a:t>
            </a:r>
            <a:endParaRPr lang="en-US" sz="3800" dirty="0"/>
          </a:p>
          <a:p>
            <a:pPr marL="0" indent="0" algn="l">
              <a:lnSpc>
                <a:spcPct val="95000"/>
              </a:lnSpc>
              <a:buNone/>
            </a:pPr>
            <a:r>
              <a:rPr lang="en-US" sz="3800" b="1" dirty="0">
                <a:solidFill>
                  <a:srgbClr val="FFFFFF"/>
                </a:solidFill>
                <a:latin typeface="Arial" pitchFamily="34" charset="0"/>
                <a:ea typeface="Arial" pitchFamily="34" charset="-122"/>
                <a:cs typeface="Arial" pitchFamily="34" charset="-120"/>
              </a:rPr>
              <a:t>TRƯỜNG TRUNG HỌC</a:t>
            </a:r>
            <a:endParaRPr lang="en-US" sz="3800" dirty="0"/>
          </a:p>
          <a:p>
            <a:pPr marL="0" indent="0" algn="l">
              <a:lnSpc>
                <a:spcPct val="95000"/>
              </a:lnSpc>
              <a:buNone/>
            </a:pPr>
            <a:r>
              <a:rPr lang="en-US" sz="3800" b="1" dirty="0">
                <a:solidFill>
                  <a:srgbClr val="E5B53A"/>
                </a:solidFill>
                <a:latin typeface="Arial" pitchFamily="34" charset="0"/>
                <a:ea typeface="Arial" pitchFamily="34" charset="-122"/>
                <a:cs typeface="Arial" pitchFamily="34" charset="-120"/>
              </a:rPr>
              <a:t>QUỐC TẾ DNC</a:t>
            </a:r>
            <a:endParaRPr lang="en-US" sz="3800" dirty="0"/>
          </a:p>
        </p:txBody>
      </p:sp>
      <p:sp>
        <p:nvSpPr>
          <p:cNvPr id="8" name="Shape 5"/>
          <p:cNvSpPr txBox="1"/>
          <p:nvPr/>
        </p:nvSpPr>
        <p:spPr>
          <a:xfrm>
            <a:off x="548640" y="4224528"/>
            <a:ext cx="5486400" cy="731520"/>
          </a:xfrm>
          <a:prstGeom prst="rect">
            <a:avLst/>
          </a:prstGeom>
          <a:noFill/>
          <a:ln/>
        </p:spPr>
        <p:txBody>
          <a:bodyPr wrap="square" lIns="0" tIns="0" rIns="0" bIns="0" rtlCol="0" anchor="t"/>
          <a:lstStyle/>
          <a:p>
            <a:pPr marL="0" indent="0" algn="l">
              <a:spcAft>
                <a:spcPts val="600"/>
              </a:spcAft>
              <a:buNone/>
            </a:pPr>
            <a:r>
              <a:rPr lang="en-US" sz="1500" dirty="0">
                <a:solidFill>
                  <a:srgbClr val="A9B7D0"/>
                </a:solidFill>
                <a:latin typeface="Arial" pitchFamily="34" charset="0"/>
                <a:ea typeface="Arial" pitchFamily="34" charset="-122"/>
                <a:cs typeface="Arial" pitchFamily="34" charset="-120"/>
              </a:rPr>
              <a:t>Sinh viên: </a:t>
            </a:r>
            <a:r>
              <a:rPr lang="en-US" sz="1500" b="1" dirty="0">
                <a:solidFill>
                  <a:srgbClr val="FFFFFF"/>
                </a:solidFill>
                <a:latin typeface="Arial" pitchFamily="34" charset="0"/>
                <a:ea typeface="Arial" pitchFamily="34" charset="-122"/>
                <a:cs typeface="Arial" pitchFamily="34" charset="-120"/>
              </a:rPr>
              <a:t>Huỳnh Chí Khải</a:t>
            </a:r>
            <a:r>
              <a:rPr lang="en-US" sz="1500" dirty="0">
                <a:solidFill>
                  <a:srgbClr val="A9B7D0"/>
                </a:solidFill>
                <a:latin typeface="Arial" pitchFamily="34" charset="0"/>
                <a:ea typeface="Arial" pitchFamily="34" charset="-122"/>
                <a:cs typeface="Arial" pitchFamily="34" charset="-120"/>
              </a:rPr>
              <a:t>   ·   MSSV: </a:t>
            </a:r>
            <a:r>
              <a:rPr lang="en-US" sz="1500" b="1" dirty="0">
                <a:solidFill>
                  <a:srgbClr val="FFFFFF"/>
                </a:solidFill>
                <a:latin typeface="Arial" pitchFamily="34" charset="0"/>
                <a:ea typeface="Arial" pitchFamily="34" charset="-122"/>
                <a:cs typeface="Arial" pitchFamily="34" charset="-120"/>
              </a:rPr>
              <a:t>170124955</a:t>
            </a:r>
            <a:endParaRPr lang="en-US" sz="1500" dirty="0"/>
          </a:p>
          <a:p>
            <a:pPr marL="0" indent="0" algn="l">
              <a:spcAft>
                <a:spcPts val="600"/>
              </a:spcAft>
              <a:buNone/>
            </a:pPr>
            <a:r>
              <a:rPr lang="en-US" sz="1500" dirty="0">
                <a:solidFill>
                  <a:srgbClr val="A9B7D0"/>
                </a:solidFill>
                <a:latin typeface="Arial" pitchFamily="34" charset="0"/>
                <a:ea typeface="Arial" pitchFamily="34" charset="-122"/>
                <a:cs typeface="Arial" pitchFamily="34" charset="-120"/>
              </a:rPr>
              <a:t>Lớp: </a:t>
            </a:r>
            <a:r>
              <a:rPr lang="en-US" sz="1500" b="1" dirty="0">
                <a:solidFill>
                  <a:srgbClr val="FFFFFF"/>
                </a:solidFill>
                <a:latin typeface="Arial" pitchFamily="34" charset="0"/>
                <a:ea typeface="Arial" pitchFamily="34" charset="-122"/>
                <a:cs typeface="Arial" pitchFamily="34" charset="-120"/>
              </a:rPr>
              <a:t>DX24TT8</a:t>
            </a:r>
            <a:r>
              <a:rPr lang="en-US" sz="1500" dirty="0">
                <a:solidFill>
                  <a:srgbClr val="A9B7D0"/>
                </a:solidFill>
                <a:latin typeface="Arial" pitchFamily="34" charset="0"/>
                <a:ea typeface="Arial" pitchFamily="34" charset="-122"/>
                <a:cs typeface="Arial" pitchFamily="34" charset="-120"/>
              </a:rPr>
              <a:t>   ·   GVHD: </a:t>
            </a:r>
            <a:r>
              <a:rPr lang="en-US" sz="1500" b="1" dirty="0">
                <a:solidFill>
                  <a:srgbClr val="FFFFFF"/>
                </a:solidFill>
                <a:latin typeface="Arial" pitchFamily="34" charset="0"/>
                <a:ea typeface="Arial" pitchFamily="34" charset="-122"/>
                <a:cs typeface="Arial" pitchFamily="34" charset="-120"/>
              </a:rPr>
              <a:t>Lê Phong Dũ</a:t>
            </a:r>
            <a:endParaRPr lang="en-US" sz="1500" dirty="0"/>
          </a:p>
        </p:txBody>
      </p:sp>
      <p:grpSp>
        <p:nvGrpSpPr>
          <p:cNvPr id="15" name="Group 6">
            <a:extLst>
              <a:ext uri="{FF2B5EF4-FFF2-40B4-BE49-F238E27FC236}">
                <a16:creationId xmlns:a16="http://schemas.microsoft.com/office/drawing/2014/main" id="{477525BC-D779-FD77-26D1-9E1E258668FA}"/>
              </a:ext>
            </a:extLst>
          </p:cNvPr>
          <p:cNvGrpSpPr/>
          <p:nvPr/>
        </p:nvGrpSpPr>
        <p:grpSpPr>
          <a:xfrm>
            <a:off x="548640" y="5257800"/>
            <a:ext cx="2606040" cy="457200"/>
            <a:chOff x="548640" y="5257800"/>
            <a:chExt cx="2606040" cy="457200"/>
          </a:xfrm>
        </p:grpSpPr>
        <p:sp>
          <p:nvSpPr>
            <p:cNvPr id="9" name="Part 1"/>
            <p:cNvSpPr/>
            <p:nvPr/>
          </p:nvSpPr>
          <p:spPr>
            <a:xfrm>
              <a:off x="548640" y="5257800"/>
              <a:ext cx="2606040" cy="457200"/>
            </a:xfrm>
            <a:prstGeom prst="roundRect">
              <a:avLst>
                <a:gd name="adj" fmla="val 50000"/>
              </a:avLst>
            </a:prstGeom>
            <a:solidFill>
              <a:srgbClr val="1B3E73"/>
            </a:solidFill>
            <a:ln w="9525">
              <a:solidFill>
                <a:srgbClr val="E5B53A"/>
              </a:solidFill>
              <a:prstDash val="solid"/>
            </a:ln>
          </p:spPr>
        </p:sp>
        <p:sp>
          <p:nvSpPr>
            <p:cNvPr id="10" name="Part 2"/>
            <p:cNvSpPr txBox="1"/>
            <p:nvPr/>
          </p:nvSpPr>
          <p:spPr>
            <a:xfrm>
              <a:off x="548640" y="5257800"/>
              <a:ext cx="26060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PHP 8.2 · MySQL · Docker</a:t>
              </a:r>
              <a:endParaRPr lang="en-US" sz="1250" dirty="0"/>
            </a:p>
          </p:txBody>
        </p:sp>
      </p:grpSp>
      <p:grpSp>
        <p:nvGrpSpPr>
          <p:cNvPr id="16" name="Group 7">
            <a:extLst>
              <a:ext uri="{FF2B5EF4-FFF2-40B4-BE49-F238E27FC236}">
                <a16:creationId xmlns:a16="http://schemas.microsoft.com/office/drawing/2014/main" id="{CAF9A012-553B-230E-16E0-C7B40CDC318E}"/>
              </a:ext>
            </a:extLst>
          </p:cNvPr>
          <p:cNvGrpSpPr/>
          <p:nvPr/>
        </p:nvGrpSpPr>
        <p:grpSpPr>
          <a:xfrm>
            <a:off x="3291840" y="5257800"/>
            <a:ext cx="2377440" cy="457200"/>
            <a:chOff x="3291840" y="5257800"/>
            <a:chExt cx="2377440" cy="457200"/>
          </a:xfrm>
        </p:grpSpPr>
        <p:sp>
          <p:nvSpPr>
            <p:cNvPr id="11" name="Part 1"/>
            <p:cNvSpPr/>
            <p:nvPr/>
          </p:nvSpPr>
          <p:spPr>
            <a:xfrm>
              <a:off x="3291840" y="5257800"/>
              <a:ext cx="2377440" cy="457200"/>
            </a:xfrm>
            <a:prstGeom prst="roundRect">
              <a:avLst>
                <a:gd name="adj" fmla="val 50000"/>
              </a:avLst>
            </a:prstGeom>
            <a:solidFill>
              <a:srgbClr val="1B3E73"/>
            </a:solidFill>
            <a:ln w="9525">
              <a:solidFill>
                <a:srgbClr val="E5B53A"/>
              </a:solidFill>
              <a:prstDash val="solid"/>
            </a:ln>
          </p:spPr>
        </p:sp>
        <p:sp>
          <p:nvSpPr>
            <p:cNvPr id="12" name="Part 2"/>
            <p:cNvSpPr txBox="1"/>
            <p:nvPr/>
          </p:nvSpPr>
          <p:spPr>
            <a:xfrm>
              <a:off x="3291840" y="5257800"/>
              <a:ext cx="23774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6 chức năng F01 – F06</a:t>
              </a:r>
              <a:endParaRPr lang="en-US" sz="1250" dirty="0"/>
            </a:p>
          </p:txBody>
        </p:sp>
      </p:grpSp>
      <p:sp>
        <p:nvSpPr>
          <p:cNvPr id="13" name="Shape 8"/>
          <p:cNvSpPr txBox="1"/>
          <p:nvPr/>
        </p:nvSpPr>
        <p:spPr>
          <a:xfrm>
            <a:off x="548640" y="6172200"/>
            <a:ext cx="2743200" cy="274320"/>
          </a:xfrm>
          <a:prstGeom prst="rect">
            <a:avLst/>
          </a:prstGeom>
          <a:noFill/>
          <a:ln/>
        </p:spPr>
        <p:txBody>
          <a:bodyPr wrap="square" lIns="0" tIns="0" rIns="0" bIns="0" rtlCol="0" anchor="t"/>
          <a:lstStyle/>
          <a:p>
            <a:pPr marL="0" indent="0" algn="l">
              <a:buNone/>
            </a:pPr>
            <a:r>
              <a:rPr lang="en-US" sz="1100" dirty="0">
                <a:solidFill>
                  <a:srgbClr val="A9B7D0"/>
                </a:solidFill>
                <a:latin typeface="Arial" pitchFamily="34" charset="0"/>
                <a:ea typeface="Arial" pitchFamily="34" charset="-122"/>
                <a:cs typeface="Arial" pitchFamily="34" charset="-120"/>
              </a:rPr>
              <a:t>Trà Vinh, 2026</a:t>
            </a:r>
            <a:endParaRPr lang="en-US" sz="11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12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par>
                          <p:cTn id="11" fill="hold">
                            <p:stCondLst>
                              <p:cond delay="62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120"/>
                            </p:stCondLst>
                            <p:childTnLst>
                              <p:par>
                                <p:cTn id="16" presetID="42"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50"/>
                                        <p:tgtEl>
                                          <p:spTgt spid="7"/>
                                        </p:tgtEl>
                                      </p:cBhvr>
                                    </p:animEffect>
                                    <p:anim calcmode="lin" valueType="num">
                                      <p:cBhvr>
                                        <p:cTn id="19" dur="550" fill="hold"/>
                                        <p:tgtEl>
                                          <p:spTgt spid="7"/>
                                        </p:tgtEl>
                                        <p:attrNameLst>
                                          <p:attrName>ppt_x</p:attrName>
                                        </p:attrNameLst>
                                      </p:cBhvr>
                                      <p:tavLst>
                                        <p:tav tm="0">
                                          <p:val>
                                            <p:strVal val="#ppt_x"/>
                                          </p:val>
                                        </p:tav>
                                        <p:tav tm="100000">
                                          <p:val>
                                            <p:strVal val="#ppt_x"/>
                                          </p:val>
                                        </p:tav>
                                      </p:tavLst>
                                    </p:anim>
                                    <p:anim calcmode="lin" valueType="num">
                                      <p:cBhvr>
                                        <p:cTn id="20" dur="550" fill="hold"/>
                                        <p:tgtEl>
                                          <p:spTgt spid="7"/>
                                        </p:tgtEl>
                                        <p:attrNameLst>
                                          <p:attrName>ppt_y</p:attrName>
                                        </p:attrNameLst>
                                      </p:cBhvr>
                                      <p:tavLst>
                                        <p:tav tm="0">
                                          <p:val>
                                            <p:strVal val="#ppt_y+.1"/>
                                          </p:val>
                                        </p:tav>
                                        <p:tav tm="100000">
                                          <p:val>
                                            <p:strVal val="#ppt_y"/>
                                          </p:val>
                                        </p:tav>
                                      </p:tavLst>
                                    </p:anim>
                                  </p:childTnLst>
                                </p:cTn>
                              </p:par>
                            </p:childTnLst>
                          </p:cTn>
                        </p:par>
                        <p:par>
                          <p:cTn id="21" fill="hold">
                            <p:stCondLst>
                              <p:cond delay="167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par>
                          <p:cTn id="25" fill="hold">
                            <p:stCondLst>
                              <p:cond delay="2170"/>
                            </p:stCondLst>
                            <p:childTnLst>
                              <p:par>
                                <p:cTn id="26" presetID="53" presetClass="entr" presetSubtype="16" fill="hold"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500" fill="hold"/>
                                        <p:tgtEl>
                                          <p:spTgt spid="15"/>
                                        </p:tgtEl>
                                        <p:attrNameLst>
                                          <p:attrName>ppt_w</p:attrName>
                                        </p:attrNameLst>
                                      </p:cBhvr>
                                      <p:tavLst>
                                        <p:tav tm="0">
                                          <p:val>
                                            <p:fltVal val="0"/>
                                          </p:val>
                                        </p:tav>
                                        <p:tav tm="100000">
                                          <p:val>
                                            <p:strVal val="#ppt_w"/>
                                          </p:val>
                                        </p:tav>
                                      </p:tavLst>
                                    </p:anim>
                                    <p:anim calcmode="lin" valueType="num">
                                      <p:cBhvr>
                                        <p:cTn id="29" dur="500" fill="hold"/>
                                        <p:tgtEl>
                                          <p:spTgt spid="15"/>
                                        </p:tgtEl>
                                        <p:attrNameLst>
                                          <p:attrName>ppt_h</p:attrName>
                                        </p:attrNameLst>
                                      </p:cBhvr>
                                      <p:tavLst>
                                        <p:tav tm="0">
                                          <p:val>
                                            <p:fltVal val="0"/>
                                          </p:val>
                                        </p:tav>
                                        <p:tav tm="100000">
                                          <p:val>
                                            <p:strVal val="#ppt_h"/>
                                          </p:val>
                                        </p:tav>
                                      </p:tavLst>
                                    </p:anim>
                                    <p:animEffect transition="in" filter="fade">
                                      <p:cBhvr>
                                        <p:cTn id="30" dur="500"/>
                                        <p:tgtEl>
                                          <p:spTgt spid="15"/>
                                        </p:tgtEl>
                                      </p:cBhvr>
                                    </p:animEffect>
                                  </p:childTnLst>
                                </p:cTn>
                              </p:par>
                              <p:par>
                                <p:cTn id="31" presetID="53" presetClass="entr" presetSubtype="16" fill="hold" nodeType="withEffect">
                                  <p:stCondLst>
                                    <p:cond delay="120"/>
                                  </p:stCondLst>
                                  <p:childTnLst>
                                    <p:set>
                                      <p:cBhvr>
                                        <p:cTn id="32" dur="1" fill="hold">
                                          <p:stCondLst>
                                            <p:cond delay="0"/>
                                          </p:stCondLst>
                                        </p:cTn>
                                        <p:tgtEl>
                                          <p:spTgt spid="16"/>
                                        </p:tgtEl>
                                        <p:attrNameLst>
                                          <p:attrName>style.visibility</p:attrName>
                                        </p:attrNameLst>
                                      </p:cBhvr>
                                      <p:to>
                                        <p:strVal val="visible"/>
                                      </p:to>
                                    </p:set>
                                    <p:anim calcmode="lin" valueType="num">
                                      <p:cBhvr>
                                        <p:cTn id="33" dur="500" fill="hold"/>
                                        <p:tgtEl>
                                          <p:spTgt spid="16"/>
                                        </p:tgtEl>
                                        <p:attrNameLst>
                                          <p:attrName>ppt_w</p:attrName>
                                        </p:attrNameLst>
                                      </p:cBhvr>
                                      <p:tavLst>
                                        <p:tav tm="0">
                                          <p:val>
                                            <p:fltVal val="0"/>
                                          </p:val>
                                        </p:tav>
                                        <p:tav tm="100000">
                                          <p:val>
                                            <p:strVal val="#ppt_w"/>
                                          </p:val>
                                        </p:tav>
                                      </p:tavLst>
                                    </p:anim>
                                    <p:anim calcmode="lin" valueType="num">
                                      <p:cBhvr>
                                        <p:cTn id="34" dur="500" fill="hold"/>
                                        <p:tgtEl>
                                          <p:spTgt spid="16"/>
                                        </p:tgtEl>
                                        <p:attrNameLst>
                                          <p:attrName>ppt_h</p:attrName>
                                        </p:attrNameLst>
                                      </p:cBhvr>
                                      <p:tavLst>
                                        <p:tav tm="0">
                                          <p:val>
                                            <p:fltVal val="0"/>
                                          </p:val>
                                        </p:tav>
                                        <p:tav tm="100000">
                                          <p:val>
                                            <p:strVal val="#ppt_h"/>
                                          </p:val>
                                        </p:tav>
                                      </p:tavLst>
                                    </p:anim>
                                    <p:animEffect transition="in" filter="fade">
                                      <p:cBhvr>
                                        <p:cTn id="35" dur="500"/>
                                        <p:tgtEl>
                                          <p:spTgt spid="16"/>
                                        </p:tgtEl>
                                      </p:cBhvr>
                                    </p:animEffect>
                                  </p:childTnLst>
                                </p:cTn>
                              </p:par>
                              <p:par>
                                <p:cTn id="36" presetID="10" presetClass="entr" presetSubtype="0" fill="hold" grpId="0" nodeType="withEffect">
                                  <p:stCondLst>
                                    <p:cond delay="24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Cấu trúc bài thuyết trình</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5 phần bám theo báo cáo đồ án và sản phẩm đã xây dựng</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NỘI DUNG</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02 / 18</a:t>
            </a:r>
            <a:endParaRPr lang="en-US" sz="1000" dirty="0"/>
          </a:p>
        </p:txBody>
      </p:sp>
      <p:grpSp>
        <p:nvGrpSpPr>
          <p:cNvPr id="46" name="Group 7">
            <a:extLst>
              <a:ext uri="{FF2B5EF4-FFF2-40B4-BE49-F238E27FC236}">
                <a16:creationId xmlns:a16="http://schemas.microsoft.com/office/drawing/2014/main" id="{D17BAA2D-6771-3C31-5AE5-0FDA18DCF5B6}"/>
              </a:ext>
            </a:extLst>
          </p:cNvPr>
          <p:cNvGrpSpPr/>
          <p:nvPr/>
        </p:nvGrpSpPr>
        <p:grpSpPr>
          <a:xfrm>
            <a:off x="685800" y="1581912"/>
            <a:ext cx="5715000" cy="877824"/>
            <a:chOff x="685800" y="1581912"/>
            <a:chExt cx="5715000" cy="877824"/>
          </a:xfrm>
        </p:grpSpPr>
        <p:sp>
          <p:nvSpPr>
            <p:cNvPr id="8" name="Part 1"/>
            <p:cNvSpPr/>
            <p:nvPr/>
          </p:nvSpPr>
          <p:spPr>
            <a:xfrm>
              <a:off x="969264" y="2203704"/>
              <a:ext cx="0" cy="256032"/>
            </a:xfrm>
            <a:prstGeom prst="line">
              <a:avLst/>
            </a:prstGeom>
            <a:noFill/>
            <a:ln w="25400">
              <a:solidFill>
                <a:srgbClr val="C9D3E3"/>
              </a:solidFill>
              <a:prstDash val="solid"/>
            </a:ln>
          </p:spPr>
        </p:sp>
        <p:sp>
          <p:nvSpPr>
            <p:cNvPr id="9" name="Part 2"/>
            <p:cNvSpPr/>
            <p:nvPr/>
          </p:nvSpPr>
          <p:spPr>
            <a:xfrm>
              <a:off x="685800" y="1600200"/>
              <a:ext cx="566928" cy="566928"/>
            </a:xfrm>
            <a:prstGeom prst="ellipse">
              <a:avLst/>
            </a:prstGeom>
            <a:solidFill>
              <a:srgbClr val="0F2C59"/>
            </a:solidFill>
            <a:ln/>
          </p:spPr>
        </p:sp>
        <p:sp>
          <p:nvSpPr>
            <p:cNvPr id="10" name="Part 3"/>
            <p:cNvSpPr txBox="1"/>
            <p:nvPr/>
          </p:nvSpPr>
          <p:spPr>
            <a:xfrm>
              <a:off x="685800" y="1600200"/>
              <a:ext cx="566928" cy="566928"/>
            </a:xfrm>
            <a:prstGeom prst="rect">
              <a:avLst/>
            </a:prstGeom>
            <a:noFill/>
            <a:ln/>
          </p:spPr>
          <p:txBody>
            <a:bodyPr wrap="square" lIns="0" tIns="0" rIns="0" bIns="0" rtlCol="0" anchor="ctr"/>
            <a:lstStyle/>
            <a:p>
              <a:pPr marL="0" indent="0" algn="ctr">
                <a:buNone/>
              </a:pPr>
              <a:r>
                <a:rPr lang="en-US" sz="1400" b="1" dirty="0">
                  <a:solidFill>
                    <a:srgbClr val="E5B53A"/>
                  </a:solidFill>
                  <a:latin typeface="Arial" pitchFamily="34" charset="0"/>
                  <a:ea typeface="Arial" pitchFamily="34" charset="-122"/>
                  <a:cs typeface="Arial" pitchFamily="34" charset="-120"/>
                </a:rPr>
                <a:t>01</a:t>
              </a:r>
              <a:endParaRPr lang="en-US" sz="1400" dirty="0"/>
            </a:p>
          </p:txBody>
        </p:sp>
        <p:sp>
          <p:nvSpPr>
            <p:cNvPr id="11" name="Part 4"/>
            <p:cNvSpPr txBox="1"/>
            <p:nvPr/>
          </p:nvSpPr>
          <p:spPr>
            <a:xfrm>
              <a:off x="1463040" y="1581912"/>
              <a:ext cx="4754880" cy="329184"/>
            </a:xfrm>
            <a:prstGeom prst="rect">
              <a:avLst/>
            </a:prstGeom>
            <a:noFill/>
            <a:ln/>
          </p:spPr>
          <p:txBody>
            <a:bodyPr wrap="square" lIns="0" tIns="0" rIns="0" bIns="0" rtlCol="0" anchor="t"/>
            <a:lstStyle/>
            <a:p>
              <a:pPr marL="0" indent="0" algn="l">
                <a:buNone/>
              </a:pPr>
              <a:r>
                <a:rPr lang="en-US" sz="1800" b="1" dirty="0">
                  <a:solidFill>
                    <a:srgbClr val="0F2C59"/>
                  </a:solidFill>
                  <a:latin typeface="Arial" pitchFamily="34" charset="0"/>
                  <a:ea typeface="Arial" pitchFamily="34" charset="-122"/>
                  <a:cs typeface="Arial" pitchFamily="34" charset="-120"/>
                </a:rPr>
                <a:t>Tổng quan đề tài</a:t>
              </a:r>
              <a:endParaRPr lang="en-US" sz="1800" dirty="0"/>
            </a:p>
          </p:txBody>
        </p:sp>
        <p:sp>
          <p:nvSpPr>
            <p:cNvPr id="12" name="Part 5"/>
            <p:cNvSpPr txBox="1"/>
            <p:nvPr/>
          </p:nvSpPr>
          <p:spPr>
            <a:xfrm>
              <a:off x="1463040" y="1911096"/>
              <a:ext cx="4937760" cy="274320"/>
            </a:xfrm>
            <a:prstGeom prst="rect">
              <a:avLst/>
            </a:prstGeom>
            <a:noFill/>
            <a:ln/>
          </p:spPr>
          <p:txBody>
            <a:bodyPr wrap="square" lIns="0" tIns="0" rIns="0" bIns="0" rtlCol="0" anchor="t"/>
            <a:lstStyle/>
            <a:p>
              <a:pPr marL="0" indent="0" algn="l">
                <a:buNone/>
              </a:pPr>
              <a:r>
                <a:rPr lang="en-US" sz="1250" dirty="0">
                  <a:solidFill>
                    <a:srgbClr val="6B7280"/>
                  </a:solidFill>
                  <a:latin typeface="Arial" pitchFamily="34" charset="0"/>
                  <a:ea typeface="Arial" pitchFamily="34" charset="-122"/>
                  <a:cs typeface="Arial" pitchFamily="34" charset="-120"/>
                </a:rPr>
                <a:t>Bối cảnh, mục tiêu, đối tượng sử dụng, phạm vi</a:t>
              </a:r>
              <a:endParaRPr lang="en-US" sz="1250" dirty="0"/>
            </a:p>
          </p:txBody>
        </p:sp>
      </p:grpSp>
      <p:grpSp>
        <p:nvGrpSpPr>
          <p:cNvPr id="47" name="Group 8">
            <a:extLst>
              <a:ext uri="{FF2B5EF4-FFF2-40B4-BE49-F238E27FC236}">
                <a16:creationId xmlns:a16="http://schemas.microsoft.com/office/drawing/2014/main" id="{6F290563-20CA-0FC9-8B1F-27C174F35F8A}"/>
              </a:ext>
            </a:extLst>
          </p:cNvPr>
          <p:cNvGrpSpPr/>
          <p:nvPr/>
        </p:nvGrpSpPr>
        <p:grpSpPr>
          <a:xfrm>
            <a:off x="685800" y="2478024"/>
            <a:ext cx="5715000" cy="877824"/>
            <a:chOff x="685800" y="2478024"/>
            <a:chExt cx="5715000" cy="877824"/>
          </a:xfrm>
        </p:grpSpPr>
        <p:sp>
          <p:nvSpPr>
            <p:cNvPr id="13" name="Part 1"/>
            <p:cNvSpPr/>
            <p:nvPr/>
          </p:nvSpPr>
          <p:spPr>
            <a:xfrm>
              <a:off x="969264" y="3099816"/>
              <a:ext cx="0" cy="256032"/>
            </a:xfrm>
            <a:prstGeom prst="line">
              <a:avLst/>
            </a:prstGeom>
            <a:noFill/>
            <a:ln w="25400">
              <a:solidFill>
                <a:srgbClr val="C9D3E3"/>
              </a:solidFill>
              <a:prstDash val="solid"/>
            </a:ln>
          </p:spPr>
        </p:sp>
        <p:sp>
          <p:nvSpPr>
            <p:cNvPr id="14" name="Part 2"/>
            <p:cNvSpPr/>
            <p:nvPr/>
          </p:nvSpPr>
          <p:spPr>
            <a:xfrm>
              <a:off x="685800" y="2496312"/>
              <a:ext cx="566928" cy="566928"/>
            </a:xfrm>
            <a:prstGeom prst="ellipse">
              <a:avLst/>
            </a:prstGeom>
            <a:solidFill>
              <a:srgbClr val="0F2C59"/>
            </a:solidFill>
            <a:ln/>
          </p:spPr>
        </p:sp>
        <p:sp>
          <p:nvSpPr>
            <p:cNvPr id="15" name="Part 3"/>
            <p:cNvSpPr txBox="1"/>
            <p:nvPr/>
          </p:nvSpPr>
          <p:spPr>
            <a:xfrm>
              <a:off x="685800" y="2496312"/>
              <a:ext cx="566928" cy="566928"/>
            </a:xfrm>
            <a:prstGeom prst="rect">
              <a:avLst/>
            </a:prstGeom>
            <a:noFill/>
            <a:ln/>
          </p:spPr>
          <p:txBody>
            <a:bodyPr wrap="square" lIns="0" tIns="0" rIns="0" bIns="0" rtlCol="0" anchor="ctr"/>
            <a:lstStyle/>
            <a:p>
              <a:pPr marL="0" indent="0" algn="ctr">
                <a:buNone/>
              </a:pPr>
              <a:r>
                <a:rPr lang="en-US" sz="1400" b="1" dirty="0">
                  <a:solidFill>
                    <a:srgbClr val="E5B53A"/>
                  </a:solidFill>
                  <a:latin typeface="Arial" pitchFamily="34" charset="0"/>
                  <a:ea typeface="Arial" pitchFamily="34" charset="-122"/>
                  <a:cs typeface="Arial" pitchFamily="34" charset="-120"/>
                </a:rPr>
                <a:t>02</a:t>
              </a:r>
              <a:endParaRPr lang="en-US" sz="1400" dirty="0"/>
            </a:p>
          </p:txBody>
        </p:sp>
        <p:sp>
          <p:nvSpPr>
            <p:cNvPr id="16" name="Part 4"/>
            <p:cNvSpPr txBox="1"/>
            <p:nvPr/>
          </p:nvSpPr>
          <p:spPr>
            <a:xfrm>
              <a:off x="1463040" y="2478024"/>
              <a:ext cx="4754880" cy="329184"/>
            </a:xfrm>
            <a:prstGeom prst="rect">
              <a:avLst/>
            </a:prstGeom>
            <a:noFill/>
            <a:ln/>
          </p:spPr>
          <p:txBody>
            <a:bodyPr wrap="square" lIns="0" tIns="0" rIns="0" bIns="0" rtlCol="0" anchor="t"/>
            <a:lstStyle/>
            <a:p>
              <a:pPr marL="0" indent="0" algn="l">
                <a:buNone/>
              </a:pPr>
              <a:r>
                <a:rPr lang="en-US" sz="1800" b="1" dirty="0">
                  <a:solidFill>
                    <a:srgbClr val="0F2C59"/>
                  </a:solidFill>
                  <a:latin typeface="Arial" pitchFamily="34" charset="0"/>
                  <a:ea typeface="Arial" pitchFamily="34" charset="-122"/>
                  <a:cs typeface="Arial" pitchFamily="34" charset="-120"/>
                </a:rPr>
                <a:t>Công nghệ &amp; chức năng</a:t>
              </a:r>
              <a:endParaRPr lang="en-US" sz="1800" dirty="0"/>
            </a:p>
          </p:txBody>
        </p:sp>
        <p:sp>
          <p:nvSpPr>
            <p:cNvPr id="17" name="Part 5"/>
            <p:cNvSpPr txBox="1"/>
            <p:nvPr/>
          </p:nvSpPr>
          <p:spPr>
            <a:xfrm>
              <a:off x="1463040" y="2807208"/>
              <a:ext cx="4937760" cy="274320"/>
            </a:xfrm>
            <a:prstGeom prst="rect">
              <a:avLst/>
            </a:prstGeom>
            <a:noFill/>
            <a:ln/>
          </p:spPr>
          <p:txBody>
            <a:bodyPr wrap="square" lIns="0" tIns="0" rIns="0" bIns="0" rtlCol="0" anchor="t"/>
            <a:lstStyle/>
            <a:p>
              <a:pPr marL="0" indent="0" algn="l">
                <a:buNone/>
              </a:pPr>
              <a:r>
                <a:rPr lang="en-US" sz="1250" dirty="0">
                  <a:solidFill>
                    <a:srgbClr val="6B7280"/>
                  </a:solidFill>
                  <a:latin typeface="Arial" pitchFamily="34" charset="0"/>
                  <a:ea typeface="Arial" pitchFamily="34" charset="-122"/>
                  <a:cs typeface="Arial" pitchFamily="34" charset="-120"/>
                </a:rPr>
                <a:t>PHP, MySQL, Docker · sáu chức năng F01–F06</a:t>
              </a:r>
              <a:endParaRPr lang="en-US" sz="1250" dirty="0"/>
            </a:p>
          </p:txBody>
        </p:sp>
      </p:grpSp>
      <p:grpSp>
        <p:nvGrpSpPr>
          <p:cNvPr id="48" name="Group 9">
            <a:extLst>
              <a:ext uri="{FF2B5EF4-FFF2-40B4-BE49-F238E27FC236}">
                <a16:creationId xmlns:a16="http://schemas.microsoft.com/office/drawing/2014/main" id="{B8800396-AC6E-4C23-8508-B4641CC64CC9}"/>
              </a:ext>
            </a:extLst>
          </p:cNvPr>
          <p:cNvGrpSpPr/>
          <p:nvPr/>
        </p:nvGrpSpPr>
        <p:grpSpPr>
          <a:xfrm>
            <a:off x="685800" y="3374136"/>
            <a:ext cx="5715000" cy="877824"/>
            <a:chOff x="685800" y="3374136"/>
            <a:chExt cx="5715000" cy="877824"/>
          </a:xfrm>
        </p:grpSpPr>
        <p:sp>
          <p:nvSpPr>
            <p:cNvPr id="18" name="Part 1"/>
            <p:cNvSpPr/>
            <p:nvPr/>
          </p:nvSpPr>
          <p:spPr>
            <a:xfrm>
              <a:off x="969264" y="3995928"/>
              <a:ext cx="0" cy="256032"/>
            </a:xfrm>
            <a:prstGeom prst="line">
              <a:avLst/>
            </a:prstGeom>
            <a:noFill/>
            <a:ln w="25400">
              <a:solidFill>
                <a:srgbClr val="C9D3E3"/>
              </a:solidFill>
              <a:prstDash val="solid"/>
            </a:ln>
          </p:spPr>
        </p:sp>
        <p:sp>
          <p:nvSpPr>
            <p:cNvPr id="19" name="Part 2"/>
            <p:cNvSpPr/>
            <p:nvPr/>
          </p:nvSpPr>
          <p:spPr>
            <a:xfrm>
              <a:off x="685800" y="3392424"/>
              <a:ext cx="566928" cy="566928"/>
            </a:xfrm>
            <a:prstGeom prst="ellipse">
              <a:avLst/>
            </a:prstGeom>
            <a:solidFill>
              <a:srgbClr val="0F2C59"/>
            </a:solidFill>
            <a:ln/>
          </p:spPr>
        </p:sp>
        <p:sp>
          <p:nvSpPr>
            <p:cNvPr id="20" name="Part 3"/>
            <p:cNvSpPr txBox="1"/>
            <p:nvPr/>
          </p:nvSpPr>
          <p:spPr>
            <a:xfrm>
              <a:off x="685800" y="3392424"/>
              <a:ext cx="566928" cy="566928"/>
            </a:xfrm>
            <a:prstGeom prst="rect">
              <a:avLst/>
            </a:prstGeom>
            <a:noFill/>
            <a:ln/>
          </p:spPr>
          <p:txBody>
            <a:bodyPr wrap="square" lIns="0" tIns="0" rIns="0" bIns="0" rtlCol="0" anchor="ctr"/>
            <a:lstStyle/>
            <a:p>
              <a:pPr marL="0" indent="0" algn="ctr">
                <a:buNone/>
              </a:pPr>
              <a:r>
                <a:rPr lang="en-US" sz="1400" b="1" dirty="0">
                  <a:solidFill>
                    <a:srgbClr val="E5B53A"/>
                  </a:solidFill>
                  <a:latin typeface="Arial" pitchFamily="34" charset="0"/>
                  <a:ea typeface="Arial" pitchFamily="34" charset="-122"/>
                  <a:cs typeface="Arial" pitchFamily="34" charset="-120"/>
                </a:rPr>
                <a:t>03</a:t>
              </a:r>
              <a:endParaRPr lang="en-US" sz="1400" dirty="0"/>
            </a:p>
          </p:txBody>
        </p:sp>
        <p:sp>
          <p:nvSpPr>
            <p:cNvPr id="21" name="Part 4"/>
            <p:cNvSpPr txBox="1"/>
            <p:nvPr/>
          </p:nvSpPr>
          <p:spPr>
            <a:xfrm>
              <a:off x="1463040" y="3374136"/>
              <a:ext cx="4754880" cy="329184"/>
            </a:xfrm>
            <a:prstGeom prst="rect">
              <a:avLst/>
            </a:prstGeom>
            <a:noFill/>
            <a:ln/>
          </p:spPr>
          <p:txBody>
            <a:bodyPr wrap="square" lIns="0" tIns="0" rIns="0" bIns="0" rtlCol="0" anchor="t"/>
            <a:lstStyle/>
            <a:p>
              <a:pPr marL="0" indent="0" algn="l">
                <a:buNone/>
              </a:pPr>
              <a:r>
                <a:rPr lang="en-US" sz="1800" b="1" dirty="0">
                  <a:solidFill>
                    <a:srgbClr val="0F2C59"/>
                  </a:solidFill>
                  <a:latin typeface="Arial" pitchFamily="34" charset="0"/>
                  <a:ea typeface="Arial" pitchFamily="34" charset="-122"/>
                  <a:cs typeface="Arial" pitchFamily="34" charset="-120"/>
                </a:rPr>
                <a:t>Phân tích &amp; thiết kế</a:t>
              </a:r>
              <a:endParaRPr lang="en-US" sz="1800" dirty="0"/>
            </a:p>
          </p:txBody>
        </p:sp>
        <p:sp>
          <p:nvSpPr>
            <p:cNvPr id="22" name="Part 5"/>
            <p:cNvSpPr txBox="1"/>
            <p:nvPr/>
          </p:nvSpPr>
          <p:spPr>
            <a:xfrm>
              <a:off x="1463040" y="3703320"/>
              <a:ext cx="4937760" cy="274320"/>
            </a:xfrm>
            <a:prstGeom prst="rect">
              <a:avLst/>
            </a:prstGeom>
            <a:noFill/>
            <a:ln/>
          </p:spPr>
          <p:txBody>
            <a:bodyPr wrap="square" lIns="0" tIns="0" rIns="0" bIns="0" rtlCol="0" anchor="t"/>
            <a:lstStyle/>
            <a:p>
              <a:pPr marL="0" indent="0" algn="l">
                <a:buNone/>
              </a:pPr>
              <a:r>
                <a:rPr lang="en-US" sz="1250" dirty="0">
                  <a:solidFill>
                    <a:srgbClr val="6B7280"/>
                  </a:solidFill>
                  <a:latin typeface="Arial" pitchFamily="34" charset="0"/>
                  <a:ea typeface="Arial" pitchFamily="34" charset="-122"/>
                  <a:cs typeface="Arial" pitchFamily="34" charset="-120"/>
                </a:rPr>
                <a:t>Kiến trúc MVC, luồng đăng ký, CSDL, bảo mật</a:t>
              </a:r>
              <a:endParaRPr lang="en-US" sz="1250" dirty="0"/>
            </a:p>
          </p:txBody>
        </p:sp>
      </p:grpSp>
      <p:grpSp>
        <p:nvGrpSpPr>
          <p:cNvPr id="49" name="Group 10">
            <a:extLst>
              <a:ext uri="{FF2B5EF4-FFF2-40B4-BE49-F238E27FC236}">
                <a16:creationId xmlns:a16="http://schemas.microsoft.com/office/drawing/2014/main" id="{F3976712-41F0-C23F-EB36-195B046A0ADC}"/>
              </a:ext>
            </a:extLst>
          </p:cNvPr>
          <p:cNvGrpSpPr/>
          <p:nvPr/>
        </p:nvGrpSpPr>
        <p:grpSpPr>
          <a:xfrm>
            <a:off x="685800" y="4270248"/>
            <a:ext cx="5715000" cy="877824"/>
            <a:chOff x="685800" y="4270248"/>
            <a:chExt cx="5715000" cy="877824"/>
          </a:xfrm>
        </p:grpSpPr>
        <p:sp>
          <p:nvSpPr>
            <p:cNvPr id="23" name="Part 1"/>
            <p:cNvSpPr/>
            <p:nvPr/>
          </p:nvSpPr>
          <p:spPr>
            <a:xfrm>
              <a:off x="969264" y="4892040"/>
              <a:ext cx="0" cy="256032"/>
            </a:xfrm>
            <a:prstGeom prst="line">
              <a:avLst/>
            </a:prstGeom>
            <a:noFill/>
            <a:ln w="25400">
              <a:solidFill>
                <a:srgbClr val="C9D3E3"/>
              </a:solidFill>
              <a:prstDash val="solid"/>
            </a:ln>
          </p:spPr>
        </p:sp>
        <p:sp>
          <p:nvSpPr>
            <p:cNvPr id="24" name="Part 2"/>
            <p:cNvSpPr/>
            <p:nvPr/>
          </p:nvSpPr>
          <p:spPr>
            <a:xfrm>
              <a:off x="685800" y="4288536"/>
              <a:ext cx="566928" cy="566928"/>
            </a:xfrm>
            <a:prstGeom prst="ellipse">
              <a:avLst/>
            </a:prstGeom>
            <a:solidFill>
              <a:srgbClr val="0F2C59"/>
            </a:solidFill>
            <a:ln/>
          </p:spPr>
        </p:sp>
        <p:sp>
          <p:nvSpPr>
            <p:cNvPr id="25" name="Part 3"/>
            <p:cNvSpPr txBox="1"/>
            <p:nvPr/>
          </p:nvSpPr>
          <p:spPr>
            <a:xfrm>
              <a:off x="685800" y="4288536"/>
              <a:ext cx="566928" cy="566928"/>
            </a:xfrm>
            <a:prstGeom prst="rect">
              <a:avLst/>
            </a:prstGeom>
            <a:noFill/>
            <a:ln/>
          </p:spPr>
          <p:txBody>
            <a:bodyPr wrap="square" lIns="0" tIns="0" rIns="0" bIns="0" rtlCol="0" anchor="ctr"/>
            <a:lstStyle/>
            <a:p>
              <a:pPr marL="0" indent="0" algn="ctr">
                <a:buNone/>
              </a:pPr>
              <a:r>
                <a:rPr lang="en-US" sz="1400" b="1" dirty="0">
                  <a:solidFill>
                    <a:srgbClr val="E5B53A"/>
                  </a:solidFill>
                  <a:latin typeface="Arial" pitchFamily="34" charset="0"/>
                  <a:ea typeface="Arial" pitchFamily="34" charset="-122"/>
                  <a:cs typeface="Arial" pitchFamily="34" charset="-120"/>
                </a:rPr>
                <a:t>04</a:t>
              </a:r>
              <a:endParaRPr lang="en-US" sz="1400" dirty="0"/>
            </a:p>
          </p:txBody>
        </p:sp>
        <p:sp>
          <p:nvSpPr>
            <p:cNvPr id="26" name="Part 4"/>
            <p:cNvSpPr txBox="1"/>
            <p:nvPr/>
          </p:nvSpPr>
          <p:spPr>
            <a:xfrm>
              <a:off x="1463040" y="4270248"/>
              <a:ext cx="4754880" cy="329184"/>
            </a:xfrm>
            <a:prstGeom prst="rect">
              <a:avLst/>
            </a:prstGeom>
            <a:noFill/>
            <a:ln/>
          </p:spPr>
          <p:txBody>
            <a:bodyPr wrap="square" lIns="0" tIns="0" rIns="0" bIns="0" rtlCol="0" anchor="t"/>
            <a:lstStyle/>
            <a:p>
              <a:pPr marL="0" indent="0" algn="l">
                <a:buNone/>
              </a:pPr>
              <a:r>
                <a:rPr lang="en-US" sz="1800" b="1" dirty="0">
                  <a:solidFill>
                    <a:srgbClr val="0F2C59"/>
                  </a:solidFill>
                  <a:latin typeface="Arial" pitchFamily="34" charset="0"/>
                  <a:ea typeface="Arial" pitchFamily="34" charset="-122"/>
                  <a:cs typeface="Arial" pitchFamily="34" charset="-120"/>
                </a:rPr>
                <a:t>Kết quả hiện thực</a:t>
              </a:r>
              <a:endParaRPr lang="en-US" sz="1800" dirty="0"/>
            </a:p>
          </p:txBody>
        </p:sp>
        <p:sp>
          <p:nvSpPr>
            <p:cNvPr id="27" name="Part 5"/>
            <p:cNvSpPr txBox="1"/>
            <p:nvPr/>
          </p:nvSpPr>
          <p:spPr>
            <a:xfrm>
              <a:off x="1463040" y="4599432"/>
              <a:ext cx="4937760" cy="274320"/>
            </a:xfrm>
            <a:prstGeom prst="rect">
              <a:avLst/>
            </a:prstGeom>
            <a:noFill/>
            <a:ln/>
          </p:spPr>
          <p:txBody>
            <a:bodyPr wrap="square" lIns="0" tIns="0" rIns="0" bIns="0" rtlCol="0" anchor="t"/>
            <a:lstStyle/>
            <a:p>
              <a:pPr marL="0" indent="0" algn="l">
                <a:buNone/>
              </a:pPr>
              <a:r>
                <a:rPr lang="en-US" sz="1250" dirty="0">
                  <a:solidFill>
                    <a:srgbClr val="6B7280"/>
                  </a:solidFill>
                  <a:latin typeface="Arial" pitchFamily="34" charset="0"/>
                  <a:ea typeface="Arial" pitchFamily="34" charset="-122"/>
                  <a:cs typeface="Arial" pitchFamily="34" charset="-120"/>
                </a:rPr>
                <a:t>Giao diện công khai, đăng ký nhập học, quản trị</a:t>
              </a:r>
              <a:endParaRPr lang="en-US" sz="1250" dirty="0"/>
            </a:p>
          </p:txBody>
        </p:sp>
      </p:grpSp>
      <p:grpSp>
        <p:nvGrpSpPr>
          <p:cNvPr id="50" name="Group 11">
            <a:extLst>
              <a:ext uri="{FF2B5EF4-FFF2-40B4-BE49-F238E27FC236}">
                <a16:creationId xmlns:a16="http://schemas.microsoft.com/office/drawing/2014/main" id="{3146BFA1-790D-0C74-421D-59833E909640}"/>
              </a:ext>
            </a:extLst>
          </p:cNvPr>
          <p:cNvGrpSpPr/>
          <p:nvPr/>
        </p:nvGrpSpPr>
        <p:grpSpPr>
          <a:xfrm>
            <a:off x="685800" y="5166360"/>
            <a:ext cx="5715000" cy="603504"/>
            <a:chOff x="685800" y="5166360"/>
            <a:chExt cx="5715000" cy="603504"/>
          </a:xfrm>
        </p:grpSpPr>
        <p:sp>
          <p:nvSpPr>
            <p:cNvPr id="28" name="Part 1"/>
            <p:cNvSpPr/>
            <p:nvPr/>
          </p:nvSpPr>
          <p:spPr>
            <a:xfrm>
              <a:off x="685800" y="5184648"/>
              <a:ext cx="566928" cy="566928"/>
            </a:xfrm>
            <a:prstGeom prst="ellipse">
              <a:avLst/>
            </a:prstGeom>
            <a:solidFill>
              <a:srgbClr val="0F2C59"/>
            </a:solidFill>
            <a:ln/>
          </p:spPr>
        </p:sp>
        <p:sp>
          <p:nvSpPr>
            <p:cNvPr id="29" name="Part 2"/>
            <p:cNvSpPr txBox="1"/>
            <p:nvPr/>
          </p:nvSpPr>
          <p:spPr>
            <a:xfrm>
              <a:off x="685800" y="5184648"/>
              <a:ext cx="566928" cy="566928"/>
            </a:xfrm>
            <a:prstGeom prst="rect">
              <a:avLst/>
            </a:prstGeom>
            <a:noFill/>
            <a:ln/>
          </p:spPr>
          <p:txBody>
            <a:bodyPr wrap="square" lIns="0" tIns="0" rIns="0" bIns="0" rtlCol="0" anchor="ctr"/>
            <a:lstStyle/>
            <a:p>
              <a:pPr marL="0" indent="0" algn="ctr">
                <a:buNone/>
              </a:pPr>
              <a:r>
                <a:rPr lang="en-US" sz="1400" b="1" dirty="0">
                  <a:solidFill>
                    <a:srgbClr val="E5B53A"/>
                  </a:solidFill>
                  <a:latin typeface="Arial" pitchFamily="34" charset="0"/>
                  <a:ea typeface="Arial" pitchFamily="34" charset="-122"/>
                  <a:cs typeface="Arial" pitchFamily="34" charset="-120"/>
                </a:rPr>
                <a:t>05</a:t>
              </a:r>
              <a:endParaRPr lang="en-US" sz="1400" dirty="0"/>
            </a:p>
          </p:txBody>
        </p:sp>
        <p:sp>
          <p:nvSpPr>
            <p:cNvPr id="30" name="Part 3"/>
            <p:cNvSpPr txBox="1"/>
            <p:nvPr/>
          </p:nvSpPr>
          <p:spPr>
            <a:xfrm>
              <a:off x="1463040" y="5166360"/>
              <a:ext cx="4754880" cy="329184"/>
            </a:xfrm>
            <a:prstGeom prst="rect">
              <a:avLst/>
            </a:prstGeom>
            <a:noFill/>
            <a:ln/>
          </p:spPr>
          <p:txBody>
            <a:bodyPr wrap="square" lIns="0" tIns="0" rIns="0" bIns="0" rtlCol="0" anchor="t"/>
            <a:lstStyle/>
            <a:p>
              <a:pPr marL="0" indent="0" algn="l">
                <a:buNone/>
              </a:pPr>
              <a:r>
                <a:rPr lang="en-US" sz="1800" b="1" dirty="0">
                  <a:solidFill>
                    <a:srgbClr val="0F2C59"/>
                  </a:solidFill>
                  <a:latin typeface="Arial" pitchFamily="34" charset="0"/>
                  <a:ea typeface="Arial" pitchFamily="34" charset="-122"/>
                  <a:cs typeface="Arial" pitchFamily="34" charset="-120"/>
                </a:rPr>
                <a:t>Kiểm thử &amp; đánh giá</a:t>
              </a:r>
              <a:endParaRPr lang="en-US" sz="1800" dirty="0"/>
            </a:p>
          </p:txBody>
        </p:sp>
        <p:sp>
          <p:nvSpPr>
            <p:cNvPr id="31" name="Part 4"/>
            <p:cNvSpPr txBox="1"/>
            <p:nvPr/>
          </p:nvSpPr>
          <p:spPr>
            <a:xfrm>
              <a:off x="1463040" y="5495544"/>
              <a:ext cx="4937760" cy="274320"/>
            </a:xfrm>
            <a:prstGeom prst="rect">
              <a:avLst/>
            </a:prstGeom>
            <a:noFill/>
            <a:ln/>
          </p:spPr>
          <p:txBody>
            <a:bodyPr wrap="square" lIns="0" tIns="0" rIns="0" bIns="0" rtlCol="0" anchor="t"/>
            <a:lstStyle/>
            <a:p>
              <a:pPr marL="0" indent="0" algn="l">
                <a:buNone/>
              </a:pPr>
              <a:r>
                <a:rPr lang="en-US" sz="1250" dirty="0">
                  <a:solidFill>
                    <a:srgbClr val="6B7280"/>
                  </a:solidFill>
                  <a:latin typeface="Arial" pitchFamily="34" charset="0"/>
                  <a:ea typeface="Arial" pitchFamily="34" charset="-122"/>
                  <a:cs typeface="Arial" pitchFamily="34" charset="-120"/>
                </a:rPr>
                <a:t>16/16 ca đạt · hạn chế · hướng phát triển</a:t>
              </a:r>
              <a:endParaRPr lang="en-US" sz="1250" dirty="0"/>
            </a:p>
          </p:txBody>
        </p:sp>
      </p:grpSp>
      <p:grpSp>
        <p:nvGrpSpPr>
          <p:cNvPr id="51" name="Group 12">
            <a:extLst>
              <a:ext uri="{FF2B5EF4-FFF2-40B4-BE49-F238E27FC236}">
                <a16:creationId xmlns:a16="http://schemas.microsoft.com/office/drawing/2014/main" id="{8BB6BE7E-4454-B5C2-0258-60CC0C3D8AC8}"/>
              </a:ext>
            </a:extLst>
          </p:cNvPr>
          <p:cNvGrpSpPr/>
          <p:nvPr/>
        </p:nvGrpSpPr>
        <p:grpSpPr>
          <a:xfrm>
            <a:off x="6675120" y="1600200"/>
            <a:ext cx="4965192" cy="4206240"/>
            <a:chOff x="6675120" y="1600200"/>
            <a:chExt cx="4965192" cy="4206240"/>
          </a:xfrm>
        </p:grpSpPr>
        <p:sp>
          <p:nvSpPr>
            <p:cNvPr id="32" name="Part 1"/>
            <p:cNvSpPr/>
            <p:nvPr/>
          </p:nvSpPr>
          <p:spPr>
            <a:xfrm>
              <a:off x="6675120" y="1600200"/>
              <a:ext cx="4965192" cy="4206240"/>
            </a:xfrm>
            <a:prstGeom prst="roundRect">
              <a:avLst>
                <a:gd name="adj" fmla="val 2609"/>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3" name="Part 2"/>
            <p:cNvSpPr txBox="1"/>
            <p:nvPr/>
          </p:nvSpPr>
          <p:spPr>
            <a:xfrm>
              <a:off x="7040880" y="1828800"/>
              <a:ext cx="4206240" cy="411480"/>
            </a:xfrm>
            <a:prstGeom prst="rect">
              <a:avLst/>
            </a:prstGeom>
            <a:noFill/>
            <a:ln/>
          </p:spPr>
          <p:txBody>
            <a:bodyPr wrap="square" lIns="0" tIns="0" rIns="0" bIns="0" rtlCol="0" anchor="t"/>
            <a:lstStyle/>
            <a:p>
              <a:pPr marL="0" indent="0" algn="l">
                <a:buNone/>
              </a:pPr>
              <a:r>
                <a:rPr lang="en-US" sz="2000" b="1" dirty="0">
                  <a:solidFill>
                    <a:srgbClr val="0F2C59"/>
                  </a:solidFill>
                  <a:latin typeface="Arial" pitchFamily="34" charset="0"/>
                  <a:ea typeface="Arial" pitchFamily="34" charset="-122"/>
                  <a:cs typeface="Arial" pitchFamily="34" charset="-120"/>
                </a:rPr>
                <a:t>Sản phẩm bàn giao</a:t>
              </a:r>
              <a:endParaRPr lang="en-US" sz="2000" dirty="0"/>
            </a:p>
          </p:txBody>
        </p:sp>
      </p:grpSp>
      <p:grpSp>
        <p:nvGrpSpPr>
          <p:cNvPr id="52" name="Group 13">
            <a:extLst>
              <a:ext uri="{FF2B5EF4-FFF2-40B4-BE49-F238E27FC236}">
                <a16:creationId xmlns:a16="http://schemas.microsoft.com/office/drawing/2014/main" id="{F9E1E7A3-F15C-1A9F-5B41-B73AF1257048}"/>
              </a:ext>
            </a:extLst>
          </p:cNvPr>
          <p:cNvGrpSpPr/>
          <p:nvPr/>
        </p:nvGrpSpPr>
        <p:grpSpPr>
          <a:xfrm>
            <a:off x="7040880" y="2514600"/>
            <a:ext cx="4434840" cy="658368"/>
            <a:chOff x="7040880" y="2514600"/>
            <a:chExt cx="4434840" cy="658368"/>
          </a:xfrm>
        </p:grpSpPr>
        <p:sp>
          <p:nvSpPr>
            <p:cNvPr id="34" name="Part 1"/>
            <p:cNvSpPr/>
            <p:nvPr/>
          </p:nvSpPr>
          <p:spPr>
            <a:xfrm>
              <a:off x="7040880" y="2514600"/>
              <a:ext cx="658368" cy="658368"/>
            </a:xfrm>
            <a:prstGeom prst="ellipse">
              <a:avLst/>
            </a:prstGeom>
            <a:solidFill>
              <a:srgbClr val="E8EDF5"/>
            </a:solidFill>
            <a:ln/>
          </p:spPr>
        </p:sp>
        <p:pic>
          <p:nvPicPr>
            <p:cNvPr id="35" name="Part 2" descr="Biểu tượng"/>
            <p:cNvPicPr>
              <a:picLocks noChangeAspect="1"/>
            </p:cNvPicPr>
            <p:nvPr/>
          </p:nvPicPr>
          <p:blipFill>
            <a:blip r:embed="rId3"/>
            <a:stretch>
              <a:fillRect/>
            </a:stretch>
          </p:blipFill>
          <p:spPr>
            <a:xfrm>
              <a:off x="7205472" y="2679192"/>
              <a:ext cx="329184" cy="329184"/>
            </a:xfrm>
            <a:prstGeom prst="rect">
              <a:avLst/>
            </a:prstGeom>
          </p:spPr>
        </p:pic>
        <p:sp>
          <p:nvSpPr>
            <p:cNvPr id="36" name="Part 3"/>
            <p:cNvSpPr txBox="1"/>
            <p:nvPr/>
          </p:nvSpPr>
          <p:spPr>
            <a:xfrm>
              <a:off x="7909560" y="2532888"/>
              <a:ext cx="3474720" cy="329184"/>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Website PHP / MySQL</a:t>
              </a:r>
              <a:endParaRPr lang="en-US" sz="1600" dirty="0"/>
            </a:p>
          </p:txBody>
        </p:sp>
        <p:sp>
          <p:nvSpPr>
            <p:cNvPr id="37" name="Part 4"/>
            <p:cNvSpPr txBox="1"/>
            <p:nvPr/>
          </p:nvSpPr>
          <p:spPr>
            <a:xfrm>
              <a:off x="7909560" y="2880360"/>
              <a:ext cx="3566160" cy="292608"/>
            </a:xfrm>
            <a:prstGeom prst="rect">
              <a:avLst/>
            </a:prstGeom>
            <a:noFill/>
            <a:ln/>
          </p:spPr>
          <p:txBody>
            <a:bodyPr wrap="square" lIns="0" tIns="0" rIns="0" bIns="0" rtlCol="0" anchor="t"/>
            <a:lstStyle/>
            <a:p>
              <a:pPr marL="0" indent="0" algn="l">
                <a:buNone/>
              </a:pPr>
              <a:r>
                <a:rPr lang="en-US" sz="1250" dirty="0">
                  <a:solidFill>
                    <a:srgbClr val="6B7280"/>
                  </a:solidFill>
                  <a:latin typeface="Arial" pitchFamily="34" charset="0"/>
                  <a:ea typeface="Arial" pitchFamily="34" charset="-122"/>
                  <a:cs typeface="Arial" pitchFamily="34" charset="-120"/>
                </a:rPr>
                <a:t>Chạy bằng Docker hoặc XAMPP</a:t>
              </a:r>
              <a:endParaRPr lang="en-US" sz="1250" dirty="0"/>
            </a:p>
          </p:txBody>
        </p:sp>
      </p:grpSp>
      <p:grpSp>
        <p:nvGrpSpPr>
          <p:cNvPr id="53" name="Group 14">
            <a:extLst>
              <a:ext uri="{FF2B5EF4-FFF2-40B4-BE49-F238E27FC236}">
                <a16:creationId xmlns:a16="http://schemas.microsoft.com/office/drawing/2014/main" id="{2637C079-1FC3-ADE4-835A-2CBE00A066E7}"/>
              </a:ext>
            </a:extLst>
          </p:cNvPr>
          <p:cNvGrpSpPr/>
          <p:nvPr/>
        </p:nvGrpSpPr>
        <p:grpSpPr>
          <a:xfrm>
            <a:off x="7040880" y="3566160"/>
            <a:ext cx="4434840" cy="658368"/>
            <a:chOff x="7040880" y="3566160"/>
            <a:chExt cx="4434840" cy="658368"/>
          </a:xfrm>
        </p:grpSpPr>
        <p:sp>
          <p:nvSpPr>
            <p:cNvPr id="38" name="Part 1"/>
            <p:cNvSpPr/>
            <p:nvPr/>
          </p:nvSpPr>
          <p:spPr>
            <a:xfrm>
              <a:off x="7040880" y="3566160"/>
              <a:ext cx="658368" cy="658368"/>
            </a:xfrm>
            <a:prstGeom prst="ellipse">
              <a:avLst/>
            </a:prstGeom>
            <a:solidFill>
              <a:srgbClr val="E8EDF5"/>
            </a:solidFill>
            <a:ln/>
          </p:spPr>
        </p:sp>
        <p:pic>
          <p:nvPicPr>
            <p:cNvPr id="39" name="Part 2" descr="Biểu tượng"/>
            <p:cNvPicPr>
              <a:picLocks noChangeAspect="1"/>
            </p:cNvPicPr>
            <p:nvPr/>
          </p:nvPicPr>
          <p:blipFill>
            <a:blip r:embed="rId4"/>
            <a:stretch>
              <a:fillRect/>
            </a:stretch>
          </p:blipFill>
          <p:spPr>
            <a:xfrm>
              <a:off x="7205472" y="3730752"/>
              <a:ext cx="329184" cy="329184"/>
            </a:xfrm>
            <a:prstGeom prst="rect">
              <a:avLst/>
            </a:prstGeom>
          </p:spPr>
        </p:pic>
        <p:sp>
          <p:nvSpPr>
            <p:cNvPr id="40" name="Part 3"/>
            <p:cNvSpPr txBox="1"/>
            <p:nvPr/>
          </p:nvSpPr>
          <p:spPr>
            <a:xfrm>
              <a:off x="7909560" y="3584448"/>
              <a:ext cx="3474720" cy="329184"/>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Báo cáo đồ án</a:t>
              </a:r>
              <a:endParaRPr lang="en-US" sz="1600" dirty="0"/>
            </a:p>
          </p:txBody>
        </p:sp>
        <p:sp>
          <p:nvSpPr>
            <p:cNvPr id="41" name="Part 4"/>
            <p:cNvSpPr txBox="1"/>
            <p:nvPr/>
          </p:nvSpPr>
          <p:spPr>
            <a:xfrm>
              <a:off x="7909560" y="3931920"/>
              <a:ext cx="3566160" cy="292608"/>
            </a:xfrm>
            <a:prstGeom prst="rect">
              <a:avLst/>
            </a:prstGeom>
            <a:noFill/>
            <a:ln/>
          </p:spPr>
          <p:txBody>
            <a:bodyPr wrap="square" lIns="0" tIns="0" rIns="0" bIns="0" rtlCol="0" anchor="t"/>
            <a:lstStyle/>
            <a:p>
              <a:pPr marL="0" indent="0" algn="l">
                <a:buNone/>
              </a:pPr>
              <a:r>
                <a:rPr lang="en-US" sz="1250" dirty="0">
                  <a:solidFill>
                    <a:srgbClr val="6B7280"/>
                  </a:solidFill>
                  <a:latin typeface="Arial" pitchFamily="34" charset="0"/>
                  <a:ea typeface="Arial" pitchFamily="34" charset="-122"/>
                  <a:cs typeface="Arial" pitchFamily="34" charset="-120"/>
                </a:rPr>
                <a:t>5 chương theo mẫu của Trường KT&amp;CN</a:t>
              </a:r>
              <a:endParaRPr lang="en-US" sz="1250" dirty="0"/>
            </a:p>
          </p:txBody>
        </p:sp>
      </p:grpSp>
      <p:grpSp>
        <p:nvGrpSpPr>
          <p:cNvPr id="54" name="Group 15">
            <a:extLst>
              <a:ext uri="{FF2B5EF4-FFF2-40B4-BE49-F238E27FC236}">
                <a16:creationId xmlns:a16="http://schemas.microsoft.com/office/drawing/2014/main" id="{FB850B7B-A4A4-3B04-3041-8B98A999417E}"/>
              </a:ext>
            </a:extLst>
          </p:cNvPr>
          <p:cNvGrpSpPr/>
          <p:nvPr/>
        </p:nvGrpSpPr>
        <p:grpSpPr>
          <a:xfrm>
            <a:off x="7040880" y="4617720"/>
            <a:ext cx="4434840" cy="658368"/>
            <a:chOff x="7040880" y="4617720"/>
            <a:chExt cx="4434840" cy="658368"/>
          </a:xfrm>
        </p:grpSpPr>
        <p:sp>
          <p:nvSpPr>
            <p:cNvPr id="42" name="Part 1"/>
            <p:cNvSpPr/>
            <p:nvPr/>
          </p:nvSpPr>
          <p:spPr>
            <a:xfrm>
              <a:off x="7040880" y="4617720"/>
              <a:ext cx="658368" cy="658368"/>
            </a:xfrm>
            <a:prstGeom prst="ellipse">
              <a:avLst/>
            </a:prstGeom>
            <a:solidFill>
              <a:srgbClr val="E8EDF5"/>
            </a:solidFill>
            <a:ln/>
          </p:spPr>
        </p:sp>
        <p:pic>
          <p:nvPicPr>
            <p:cNvPr id="43" name="Part 2" descr="Biểu tượng"/>
            <p:cNvPicPr>
              <a:picLocks noChangeAspect="1"/>
            </p:cNvPicPr>
            <p:nvPr/>
          </p:nvPicPr>
          <p:blipFill>
            <a:blip r:embed="rId5"/>
            <a:stretch>
              <a:fillRect/>
            </a:stretch>
          </p:blipFill>
          <p:spPr>
            <a:xfrm>
              <a:off x="7205472" y="4782312"/>
              <a:ext cx="329184" cy="329184"/>
            </a:xfrm>
            <a:prstGeom prst="rect">
              <a:avLst/>
            </a:prstGeom>
          </p:spPr>
        </p:pic>
        <p:sp>
          <p:nvSpPr>
            <p:cNvPr id="44" name="Part 3"/>
            <p:cNvSpPr txBox="1"/>
            <p:nvPr/>
          </p:nvSpPr>
          <p:spPr>
            <a:xfrm>
              <a:off x="7909560" y="4636008"/>
              <a:ext cx="3474720" cy="329184"/>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Mã nguồn trên GitHub</a:t>
              </a:r>
              <a:endParaRPr lang="en-US" sz="1600" dirty="0"/>
            </a:p>
          </p:txBody>
        </p:sp>
        <p:sp>
          <p:nvSpPr>
            <p:cNvPr id="45" name="Part 4"/>
            <p:cNvSpPr txBox="1"/>
            <p:nvPr/>
          </p:nvSpPr>
          <p:spPr>
            <a:xfrm>
              <a:off x="7909560" y="4983480"/>
              <a:ext cx="3566160" cy="292608"/>
            </a:xfrm>
            <a:prstGeom prst="rect">
              <a:avLst/>
            </a:prstGeom>
            <a:noFill/>
            <a:ln/>
          </p:spPr>
          <p:txBody>
            <a:bodyPr wrap="square" lIns="0" tIns="0" rIns="0" bIns="0" rtlCol="0" anchor="t"/>
            <a:lstStyle/>
            <a:p>
              <a:pPr marL="0" indent="0" algn="l">
                <a:buNone/>
              </a:pPr>
              <a:r>
                <a:rPr lang="en-US" sz="1250" dirty="0">
                  <a:solidFill>
                    <a:srgbClr val="6B7280"/>
                  </a:solidFill>
                  <a:latin typeface="Arial" pitchFamily="34" charset="0"/>
                  <a:ea typeface="Arial" pitchFamily="34" charset="-122"/>
                  <a:cs typeface="Arial" pitchFamily="34" charset="-120"/>
                </a:rPr>
                <a:t>Mỗi module một nhánh, PR vào develop</a:t>
              </a:r>
              <a:endParaRPr lang="en-US" sz="125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50"/>
                                        <p:tgtEl>
                                          <p:spTgt spid="46"/>
                                        </p:tgtEl>
                                      </p:cBhvr>
                                    </p:animEffect>
                                    <p:anim calcmode="lin" valueType="num">
                                      <p:cBhvr>
                                        <p:cTn id="8" dur="550" fill="hold"/>
                                        <p:tgtEl>
                                          <p:spTgt spid="46"/>
                                        </p:tgtEl>
                                        <p:attrNameLst>
                                          <p:attrName>ppt_x</p:attrName>
                                        </p:attrNameLst>
                                      </p:cBhvr>
                                      <p:tavLst>
                                        <p:tav tm="0">
                                          <p:val>
                                            <p:strVal val="#ppt_x"/>
                                          </p:val>
                                        </p:tav>
                                        <p:tav tm="100000">
                                          <p:val>
                                            <p:strVal val="#ppt_x"/>
                                          </p:val>
                                        </p:tav>
                                      </p:tavLst>
                                    </p:anim>
                                    <p:anim calcmode="lin" valueType="num">
                                      <p:cBhvr>
                                        <p:cTn id="9" dur="550" fill="hold"/>
                                        <p:tgtEl>
                                          <p:spTgt spid="4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50"/>
                                        <p:tgtEl>
                                          <p:spTgt spid="47"/>
                                        </p:tgtEl>
                                      </p:cBhvr>
                                    </p:animEffect>
                                    <p:anim calcmode="lin" valueType="num">
                                      <p:cBhvr>
                                        <p:cTn id="13" dur="550" fill="hold"/>
                                        <p:tgtEl>
                                          <p:spTgt spid="47"/>
                                        </p:tgtEl>
                                        <p:attrNameLst>
                                          <p:attrName>ppt_x</p:attrName>
                                        </p:attrNameLst>
                                      </p:cBhvr>
                                      <p:tavLst>
                                        <p:tav tm="0">
                                          <p:val>
                                            <p:strVal val="#ppt_x"/>
                                          </p:val>
                                        </p:tav>
                                        <p:tav tm="100000">
                                          <p:val>
                                            <p:strVal val="#ppt_x"/>
                                          </p:val>
                                        </p:tav>
                                      </p:tavLst>
                                    </p:anim>
                                    <p:anim calcmode="lin" valueType="num">
                                      <p:cBhvr>
                                        <p:cTn id="14" dur="550" fill="hold"/>
                                        <p:tgtEl>
                                          <p:spTgt spid="4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4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550"/>
                                        <p:tgtEl>
                                          <p:spTgt spid="48"/>
                                        </p:tgtEl>
                                      </p:cBhvr>
                                    </p:animEffect>
                                    <p:anim calcmode="lin" valueType="num">
                                      <p:cBhvr>
                                        <p:cTn id="18" dur="550" fill="hold"/>
                                        <p:tgtEl>
                                          <p:spTgt spid="48"/>
                                        </p:tgtEl>
                                        <p:attrNameLst>
                                          <p:attrName>ppt_x</p:attrName>
                                        </p:attrNameLst>
                                      </p:cBhvr>
                                      <p:tavLst>
                                        <p:tav tm="0">
                                          <p:val>
                                            <p:strVal val="#ppt_x"/>
                                          </p:val>
                                        </p:tav>
                                        <p:tav tm="100000">
                                          <p:val>
                                            <p:strVal val="#ppt_x"/>
                                          </p:val>
                                        </p:tav>
                                      </p:tavLst>
                                    </p:anim>
                                    <p:anim calcmode="lin" valueType="num">
                                      <p:cBhvr>
                                        <p:cTn id="19" dur="550" fill="hold"/>
                                        <p:tgtEl>
                                          <p:spTgt spid="4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6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550"/>
                                        <p:tgtEl>
                                          <p:spTgt spid="49"/>
                                        </p:tgtEl>
                                      </p:cBhvr>
                                    </p:animEffect>
                                    <p:anim calcmode="lin" valueType="num">
                                      <p:cBhvr>
                                        <p:cTn id="23" dur="550" fill="hold"/>
                                        <p:tgtEl>
                                          <p:spTgt spid="49"/>
                                        </p:tgtEl>
                                        <p:attrNameLst>
                                          <p:attrName>ppt_x</p:attrName>
                                        </p:attrNameLst>
                                      </p:cBhvr>
                                      <p:tavLst>
                                        <p:tav tm="0">
                                          <p:val>
                                            <p:strVal val="#ppt_x"/>
                                          </p:val>
                                        </p:tav>
                                        <p:tav tm="100000">
                                          <p:val>
                                            <p:strVal val="#ppt_x"/>
                                          </p:val>
                                        </p:tav>
                                      </p:tavLst>
                                    </p:anim>
                                    <p:anim calcmode="lin" valueType="num">
                                      <p:cBhvr>
                                        <p:cTn id="24" dur="550" fill="hold"/>
                                        <p:tgtEl>
                                          <p:spTgt spid="4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8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50"/>
                                        <p:tgtEl>
                                          <p:spTgt spid="50"/>
                                        </p:tgtEl>
                                      </p:cBhvr>
                                    </p:animEffect>
                                    <p:anim calcmode="lin" valueType="num">
                                      <p:cBhvr>
                                        <p:cTn id="28" dur="550" fill="hold"/>
                                        <p:tgtEl>
                                          <p:spTgt spid="50"/>
                                        </p:tgtEl>
                                        <p:attrNameLst>
                                          <p:attrName>ppt_x</p:attrName>
                                        </p:attrNameLst>
                                      </p:cBhvr>
                                      <p:tavLst>
                                        <p:tav tm="0">
                                          <p:val>
                                            <p:strVal val="#ppt_x"/>
                                          </p:val>
                                        </p:tav>
                                        <p:tav tm="100000">
                                          <p:val>
                                            <p:strVal val="#ppt_x"/>
                                          </p:val>
                                        </p:tav>
                                      </p:tavLst>
                                    </p:anim>
                                    <p:anim calcmode="lin" valueType="num">
                                      <p:cBhvr>
                                        <p:cTn id="29" dur="550" fill="hold"/>
                                        <p:tgtEl>
                                          <p:spTgt spid="50"/>
                                        </p:tgtEl>
                                        <p:attrNameLst>
                                          <p:attrName>ppt_y</p:attrName>
                                        </p:attrNameLst>
                                      </p:cBhvr>
                                      <p:tavLst>
                                        <p:tav tm="0">
                                          <p:val>
                                            <p:strVal val="#ppt_y+.1"/>
                                          </p:val>
                                        </p:tav>
                                        <p:tav tm="100000">
                                          <p:val>
                                            <p:strVal val="#ppt_y"/>
                                          </p:val>
                                        </p:tav>
                                      </p:tavLst>
                                    </p:anim>
                                  </p:childTnLst>
                                </p:cTn>
                              </p:par>
                            </p:childTnLst>
                          </p:cTn>
                        </p:par>
                        <p:par>
                          <p:cTn id="30" fill="hold">
                            <p:stCondLst>
                              <p:cond delay="1030"/>
                            </p:stCondLst>
                            <p:childTnLst>
                              <p:par>
                                <p:cTn id="31" presetID="53" presetClass="entr" presetSubtype="16" fill="hold" nodeType="afterEffect">
                                  <p:stCondLst>
                                    <p:cond delay="0"/>
                                  </p:stCondLst>
                                  <p:childTnLst>
                                    <p:set>
                                      <p:cBhvr>
                                        <p:cTn id="32" dur="1" fill="hold">
                                          <p:stCondLst>
                                            <p:cond delay="0"/>
                                          </p:stCondLst>
                                        </p:cTn>
                                        <p:tgtEl>
                                          <p:spTgt spid="51"/>
                                        </p:tgtEl>
                                        <p:attrNameLst>
                                          <p:attrName>style.visibility</p:attrName>
                                        </p:attrNameLst>
                                      </p:cBhvr>
                                      <p:to>
                                        <p:strVal val="visible"/>
                                      </p:to>
                                    </p:set>
                                    <p:anim calcmode="lin" valueType="num">
                                      <p:cBhvr>
                                        <p:cTn id="33" dur="500" fill="hold"/>
                                        <p:tgtEl>
                                          <p:spTgt spid="51"/>
                                        </p:tgtEl>
                                        <p:attrNameLst>
                                          <p:attrName>ppt_w</p:attrName>
                                        </p:attrNameLst>
                                      </p:cBhvr>
                                      <p:tavLst>
                                        <p:tav tm="0">
                                          <p:val>
                                            <p:fltVal val="0"/>
                                          </p:val>
                                        </p:tav>
                                        <p:tav tm="100000">
                                          <p:val>
                                            <p:strVal val="#ppt_w"/>
                                          </p:val>
                                        </p:tav>
                                      </p:tavLst>
                                    </p:anim>
                                    <p:anim calcmode="lin" valueType="num">
                                      <p:cBhvr>
                                        <p:cTn id="34" dur="500" fill="hold"/>
                                        <p:tgtEl>
                                          <p:spTgt spid="51"/>
                                        </p:tgtEl>
                                        <p:attrNameLst>
                                          <p:attrName>ppt_h</p:attrName>
                                        </p:attrNameLst>
                                      </p:cBhvr>
                                      <p:tavLst>
                                        <p:tav tm="0">
                                          <p:val>
                                            <p:fltVal val="0"/>
                                          </p:val>
                                        </p:tav>
                                        <p:tav tm="100000">
                                          <p:val>
                                            <p:strVal val="#ppt_h"/>
                                          </p:val>
                                        </p:tav>
                                      </p:tavLst>
                                    </p:anim>
                                    <p:animEffect transition="in" filter="fade">
                                      <p:cBhvr>
                                        <p:cTn id="35" dur="500"/>
                                        <p:tgtEl>
                                          <p:spTgt spid="51"/>
                                        </p:tgtEl>
                                      </p:cBhvr>
                                    </p:animEffect>
                                  </p:childTnLst>
                                </p:cTn>
                              </p:par>
                            </p:childTnLst>
                          </p:cTn>
                        </p:par>
                        <p:par>
                          <p:cTn id="36" fill="hold">
                            <p:stCondLst>
                              <p:cond delay="1530"/>
                            </p:stCondLst>
                            <p:childTnLst>
                              <p:par>
                                <p:cTn id="37" presetID="10" presetClass="entr" presetSubtype="0" fill="hold" nodeType="after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fade">
                                      <p:cBhvr>
                                        <p:cTn id="39" dur="500"/>
                                        <p:tgtEl>
                                          <p:spTgt spid="52"/>
                                        </p:tgtEl>
                                      </p:cBhvr>
                                    </p:animEffect>
                                  </p:childTnLst>
                                </p:cTn>
                              </p:par>
                              <p:par>
                                <p:cTn id="40" presetID="10" presetClass="entr" presetSubtype="0" fill="hold" nodeType="withEffect">
                                  <p:stCondLst>
                                    <p:cond delay="12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500"/>
                                        <p:tgtEl>
                                          <p:spTgt spid="53"/>
                                        </p:tgtEl>
                                      </p:cBhvr>
                                    </p:animEffect>
                                  </p:childTnLst>
                                </p:cTn>
                              </p:par>
                              <p:par>
                                <p:cTn id="43" presetID="10" presetClass="entr" presetSubtype="0" fill="hold" nodeType="withEffect">
                                  <p:stCondLst>
                                    <p:cond delay="240"/>
                                  </p:stCondLst>
                                  <p:childTnLst>
                                    <p:set>
                                      <p:cBhvr>
                                        <p:cTn id="44" dur="1" fill="hold">
                                          <p:stCondLst>
                                            <p:cond delay="0"/>
                                          </p:stCondLst>
                                        </p:cTn>
                                        <p:tgtEl>
                                          <p:spTgt spid="54"/>
                                        </p:tgtEl>
                                        <p:attrNameLst>
                                          <p:attrName>style.visibility</p:attrName>
                                        </p:attrNameLst>
                                      </p:cBhvr>
                                      <p:to>
                                        <p:strVal val="visible"/>
                                      </p:to>
                                    </p:set>
                                    <p:animEffect transition="in" filter="fade">
                                      <p:cBhvr>
                                        <p:cTn id="45"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Bối cảnh và bài toán đặt ra</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Phụ huynh cần một kênh chính thức để tìm hiểu trường và đăng ký nhập học</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01 · TỔNG QUAN</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03 / 18</a:t>
            </a:r>
            <a:endParaRPr lang="en-US" sz="1000" dirty="0"/>
          </a:p>
        </p:txBody>
      </p:sp>
      <p:grpSp>
        <p:nvGrpSpPr>
          <p:cNvPr id="42" name="Group 7">
            <a:extLst>
              <a:ext uri="{FF2B5EF4-FFF2-40B4-BE49-F238E27FC236}">
                <a16:creationId xmlns:a16="http://schemas.microsoft.com/office/drawing/2014/main" id="{83003D71-94EA-26EB-94EA-9C441E179A14}"/>
              </a:ext>
            </a:extLst>
          </p:cNvPr>
          <p:cNvGrpSpPr/>
          <p:nvPr/>
        </p:nvGrpSpPr>
        <p:grpSpPr>
          <a:xfrm>
            <a:off x="548640" y="1600200"/>
            <a:ext cx="5074920" cy="4343400"/>
            <a:chOff x="548640" y="1600200"/>
            <a:chExt cx="5074920" cy="4343400"/>
          </a:xfrm>
        </p:grpSpPr>
        <p:sp>
          <p:nvSpPr>
            <p:cNvPr id="8" name="Part 1"/>
            <p:cNvSpPr/>
            <p:nvPr/>
          </p:nvSpPr>
          <p:spPr>
            <a:xfrm>
              <a:off x="548640" y="1600200"/>
              <a:ext cx="5074920" cy="4343400"/>
            </a:xfrm>
            <a:prstGeom prst="roundRect">
              <a:avLst>
                <a:gd name="adj" fmla="val 2526"/>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9" name="Part 2"/>
            <p:cNvSpPr/>
            <p:nvPr/>
          </p:nvSpPr>
          <p:spPr>
            <a:xfrm>
              <a:off x="822960" y="1828800"/>
              <a:ext cx="548640" cy="548640"/>
            </a:xfrm>
            <a:prstGeom prst="ellipse">
              <a:avLst/>
            </a:prstGeom>
            <a:solidFill>
              <a:srgbClr val="EEF0F3"/>
            </a:solidFill>
            <a:ln/>
          </p:spPr>
        </p:sp>
        <p:pic>
          <p:nvPicPr>
            <p:cNvPr id="10" name="Part 3" descr="Biểu tượng"/>
            <p:cNvPicPr>
              <a:picLocks noChangeAspect="1"/>
            </p:cNvPicPr>
            <p:nvPr/>
          </p:nvPicPr>
          <p:blipFill>
            <a:blip r:embed="rId3"/>
            <a:stretch>
              <a:fillRect/>
            </a:stretch>
          </p:blipFill>
          <p:spPr>
            <a:xfrm>
              <a:off x="960120" y="1965960"/>
              <a:ext cx="274320" cy="274320"/>
            </a:xfrm>
            <a:prstGeom prst="rect">
              <a:avLst/>
            </a:prstGeom>
          </p:spPr>
        </p:pic>
        <p:sp>
          <p:nvSpPr>
            <p:cNvPr id="11" name="Part 4"/>
            <p:cNvSpPr txBox="1"/>
            <p:nvPr/>
          </p:nvSpPr>
          <p:spPr>
            <a:xfrm>
              <a:off x="1508760" y="1874520"/>
              <a:ext cx="3657600" cy="457200"/>
            </a:xfrm>
            <a:prstGeom prst="rect">
              <a:avLst/>
            </a:prstGeom>
            <a:noFill/>
            <a:ln/>
          </p:spPr>
          <p:txBody>
            <a:bodyPr wrap="square" lIns="0" tIns="0" rIns="0" bIns="0" rtlCol="0" anchor="ctr"/>
            <a:lstStyle/>
            <a:p>
              <a:pPr marL="0" indent="0" algn="l">
                <a:buNone/>
              </a:pPr>
              <a:r>
                <a:rPr lang="en-US" sz="2000" b="1" dirty="0">
                  <a:solidFill>
                    <a:srgbClr val="1F2937"/>
                  </a:solidFill>
                  <a:latin typeface="Arial" pitchFamily="34" charset="0"/>
                  <a:ea typeface="Arial" pitchFamily="34" charset="-122"/>
                  <a:cs typeface="Arial" pitchFamily="34" charset="-120"/>
                </a:rPr>
                <a:t>Hiện trạng</a:t>
              </a:r>
              <a:endParaRPr lang="en-US" sz="2000" dirty="0"/>
            </a:p>
          </p:txBody>
        </p:sp>
      </p:grpSp>
      <p:grpSp>
        <p:nvGrpSpPr>
          <p:cNvPr id="43" name="Group 8">
            <a:extLst>
              <a:ext uri="{FF2B5EF4-FFF2-40B4-BE49-F238E27FC236}">
                <a16:creationId xmlns:a16="http://schemas.microsoft.com/office/drawing/2014/main" id="{6C7F9D04-EDBD-C065-069D-DBAC83295031}"/>
              </a:ext>
            </a:extLst>
          </p:cNvPr>
          <p:cNvGrpSpPr/>
          <p:nvPr/>
        </p:nvGrpSpPr>
        <p:grpSpPr>
          <a:xfrm>
            <a:off x="868680" y="2651760"/>
            <a:ext cx="4572000" cy="502920"/>
            <a:chOff x="868680" y="2651760"/>
            <a:chExt cx="4572000" cy="502920"/>
          </a:xfrm>
        </p:grpSpPr>
        <p:sp>
          <p:nvSpPr>
            <p:cNvPr id="12" name="Part 1"/>
            <p:cNvSpPr/>
            <p:nvPr/>
          </p:nvSpPr>
          <p:spPr>
            <a:xfrm>
              <a:off x="868680" y="2715768"/>
              <a:ext cx="384048" cy="384048"/>
            </a:xfrm>
            <a:prstGeom prst="ellipse">
              <a:avLst/>
            </a:prstGeom>
            <a:solidFill>
              <a:srgbClr val="EEF0F3"/>
            </a:solidFill>
            <a:ln/>
          </p:spPr>
        </p:sp>
        <p:pic>
          <p:nvPicPr>
            <p:cNvPr id="13" name="Part 2" descr="Biểu tượng"/>
            <p:cNvPicPr>
              <a:picLocks noChangeAspect="1"/>
            </p:cNvPicPr>
            <p:nvPr/>
          </p:nvPicPr>
          <p:blipFill>
            <a:blip r:embed="rId4"/>
            <a:stretch>
              <a:fillRect/>
            </a:stretch>
          </p:blipFill>
          <p:spPr>
            <a:xfrm>
              <a:off x="964692" y="2811780"/>
              <a:ext cx="192024" cy="192024"/>
            </a:xfrm>
            <a:prstGeom prst="rect">
              <a:avLst/>
            </a:prstGeom>
          </p:spPr>
        </p:pic>
        <p:sp>
          <p:nvSpPr>
            <p:cNvPr id="14" name="Part 3"/>
            <p:cNvSpPr txBox="1"/>
            <p:nvPr/>
          </p:nvSpPr>
          <p:spPr>
            <a:xfrm>
              <a:off x="1463040" y="2651760"/>
              <a:ext cx="3977640" cy="502920"/>
            </a:xfrm>
            <a:prstGeom prst="rect">
              <a:avLst/>
            </a:prstGeom>
            <a:noFill/>
            <a:ln/>
          </p:spPr>
          <p:txBody>
            <a:bodyPr wrap="square" lIns="0" tIns="0" rIns="0" bIns="0" rtlCol="0" anchor="ctr"/>
            <a:lstStyle/>
            <a:p>
              <a:pPr marL="0" indent="0" algn="l">
                <a:buNone/>
              </a:pPr>
              <a:r>
                <a:rPr lang="en-US" sz="1450" dirty="0">
                  <a:solidFill>
                    <a:srgbClr val="4B5563"/>
                  </a:solidFill>
                  <a:latin typeface="Arial" pitchFamily="34" charset="0"/>
                  <a:ea typeface="Arial" pitchFamily="34" charset="-122"/>
                  <a:cs typeface="Arial" pitchFamily="34" charset="-120"/>
                </a:rPr>
                <a:t>Thông tin trường rải rác trên mạng xã hội, tờ rơi</a:t>
              </a:r>
              <a:endParaRPr lang="en-US" sz="1450" dirty="0"/>
            </a:p>
          </p:txBody>
        </p:sp>
      </p:grpSp>
      <p:grpSp>
        <p:nvGrpSpPr>
          <p:cNvPr id="44" name="Group 9">
            <a:extLst>
              <a:ext uri="{FF2B5EF4-FFF2-40B4-BE49-F238E27FC236}">
                <a16:creationId xmlns:a16="http://schemas.microsoft.com/office/drawing/2014/main" id="{DACB8D4A-F9F3-064E-55E5-F2039D21C5A3}"/>
              </a:ext>
            </a:extLst>
          </p:cNvPr>
          <p:cNvGrpSpPr/>
          <p:nvPr/>
        </p:nvGrpSpPr>
        <p:grpSpPr>
          <a:xfrm>
            <a:off x="868680" y="3456432"/>
            <a:ext cx="4572000" cy="502920"/>
            <a:chOff x="868680" y="3456432"/>
            <a:chExt cx="4572000" cy="502920"/>
          </a:xfrm>
        </p:grpSpPr>
        <p:sp>
          <p:nvSpPr>
            <p:cNvPr id="15" name="Part 1"/>
            <p:cNvSpPr/>
            <p:nvPr/>
          </p:nvSpPr>
          <p:spPr>
            <a:xfrm>
              <a:off x="868680" y="3520440"/>
              <a:ext cx="384048" cy="384048"/>
            </a:xfrm>
            <a:prstGeom prst="ellipse">
              <a:avLst/>
            </a:prstGeom>
            <a:solidFill>
              <a:srgbClr val="EEF0F3"/>
            </a:solidFill>
            <a:ln/>
          </p:spPr>
        </p:sp>
        <p:pic>
          <p:nvPicPr>
            <p:cNvPr id="16" name="Part 2" descr="Biểu tượng"/>
            <p:cNvPicPr>
              <a:picLocks noChangeAspect="1"/>
            </p:cNvPicPr>
            <p:nvPr/>
          </p:nvPicPr>
          <p:blipFill>
            <a:blip r:embed="rId4"/>
            <a:stretch>
              <a:fillRect/>
            </a:stretch>
          </p:blipFill>
          <p:spPr>
            <a:xfrm>
              <a:off x="964692" y="3616452"/>
              <a:ext cx="192024" cy="192024"/>
            </a:xfrm>
            <a:prstGeom prst="rect">
              <a:avLst/>
            </a:prstGeom>
          </p:spPr>
        </p:pic>
        <p:sp>
          <p:nvSpPr>
            <p:cNvPr id="17" name="Part 3"/>
            <p:cNvSpPr txBox="1"/>
            <p:nvPr/>
          </p:nvSpPr>
          <p:spPr>
            <a:xfrm>
              <a:off x="1463040" y="3456432"/>
              <a:ext cx="3977640" cy="502920"/>
            </a:xfrm>
            <a:prstGeom prst="rect">
              <a:avLst/>
            </a:prstGeom>
            <a:noFill/>
            <a:ln/>
          </p:spPr>
          <p:txBody>
            <a:bodyPr wrap="square" lIns="0" tIns="0" rIns="0" bIns="0" rtlCol="0" anchor="ctr"/>
            <a:lstStyle/>
            <a:p>
              <a:pPr marL="0" indent="0" algn="l">
                <a:buNone/>
              </a:pPr>
              <a:r>
                <a:rPr lang="en-US" sz="1450" dirty="0">
                  <a:solidFill>
                    <a:srgbClr val="4B5563"/>
                  </a:solidFill>
                  <a:latin typeface="Arial" pitchFamily="34" charset="0"/>
                  <a:ea typeface="Arial" pitchFamily="34" charset="-122"/>
                  <a:cs typeface="Arial" pitchFamily="34" charset="-120"/>
                </a:rPr>
                <a:t>Khó tìm hiểu và so sánh các chương trình</a:t>
              </a:r>
              <a:endParaRPr lang="en-US" sz="1450" dirty="0"/>
            </a:p>
          </p:txBody>
        </p:sp>
      </p:grpSp>
      <p:grpSp>
        <p:nvGrpSpPr>
          <p:cNvPr id="45" name="Group 10">
            <a:extLst>
              <a:ext uri="{FF2B5EF4-FFF2-40B4-BE49-F238E27FC236}">
                <a16:creationId xmlns:a16="http://schemas.microsoft.com/office/drawing/2014/main" id="{7D1E92AE-1148-E17B-D393-4EB872BE0F14}"/>
              </a:ext>
            </a:extLst>
          </p:cNvPr>
          <p:cNvGrpSpPr/>
          <p:nvPr/>
        </p:nvGrpSpPr>
        <p:grpSpPr>
          <a:xfrm>
            <a:off x="868680" y="4261104"/>
            <a:ext cx="4572000" cy="502920"/>
            <a:chOff x="868680" y="4261104"/>
            <a:chExt cx="4572000" cy="502920"/>
          </a:xfrm>
        </p:grpSpPr>
        <p:sp>
          <p:nvSpPr>
            <p:cNvPr id="18" name="Part 1"/>
            <p:cNvSpPr/>
            <p:nvPr/>
          </p:nvSpPr>
          <p:spPr>
            <a:xfrm>
              <a:off x="868680" y="4325112"/>
              <a:ext cx="384048" cy="384048"/>
            </a:xfrm>
            <a:prstGeom prst="ellipse">
              <a:avLst/>
            </a:prstGeom>
            <a:solidFill>
              <a:srgbClr val="EEF0F3"/>
            </a:solidFill>
            <a:ln/>
          </p:spPr>
        </p:sp>
        <p:pic>
          <p:nvPicPr>
            <p:cNvPr id="19" name="Part 2" descr="Biểu tượng"/>
            <p:cNvPicPr>
              <a:picLocks noChangeAspect="1"/>
            </p:cNvPicPr>
            <p:nvPr/>
          </p:nvPicPr>
          <p:blipFill>
            <a:blip r:embed="rId4"/>
            <a:stretch>
              <a:fillRect/>
            </a:stretch>
          </p:blipFill>
          <p:spPr>
            <a:xfrm>
              <a:off x="964692" y="4421124"/>
              <a:ext cx="192024" cy="192024"/>
            </a:xfrm>
            <a:prstGeom prst="rect">
              <a:avLst/>
            </a:prstGeom>
          </p:spPr>
        </p:pic>
        <p:sp>
          <p:nvSpPr>
            <p:cNvPr id="20" name="Part 3"/>
            <p:cNvSpPr txBox="1"/>
            <p:nvPr/>
          </p:nvSpPr>
          <p:spPr>
            <a:xfrm>
              <a:off x="1463040" y="4261104"/>
              <a:ext cx="3977640" cy="502920"/>
            </a:xfrm>
            <a:prstGeom prst="rect">
              <a:avLst/>
            </a:prstGeom>
            <a:noFill/>
            <a:ln/>
          </p:spPr>
          <p:txBody>
            <a:bodyPr wrap="square" lIns="0" tIns="0" rIns="0" bIns="0" rtlCol="0" anchor="ctr"/>
            <a:lstStyle/>
            <a:p>
              <a:pPr marL="0" indent="0" algn="l">
                <a:buNone/>
              </a:pPr>
              <a:r>
                <a:rPr lang="en-US" sz="1450" dirty="0">
                  <a:solidFill>
                    <a:srgbClr val="4B5563"/>
                  </a:solidFill>
                  <a:latin typeface="Arial" pitchFamily="34" charset="0"/>
                  <a:ea typeface="Arial" pitchFamily="34" charset="-122"/>
                  <a:cs typeface="Arial" pitchFamily="34" charset="-120"/>
                </a:rPr>
                <a:t>Đăng ký nhập học qua giấy tờ, khó theo dõi</a:t>
              </a:r>
              <a:endParaRPr lang="en-US" sz="1450" dirty="0"/>
            </a:p>
          </p:txBody>
        </p:sp>
      </p:grpSp>
      <p:grpSp>
        <p:nvGrpSpPr>
          <p:cNvPr id="46" name="Group 11">
            <a:extLst>
              <a:ext uri="{FF2B5EF4-FFF2-40B4-BE49-F238E27FC236}">
                <a16:creationId xmlns:a16="http://schemas.microsoft.com/office/drawing/2014/main" id="{59A02E77-2535-AFF9-8FC2-EA4C91554A11}"/>
              </a:ext>
            </a:extLst>
          </p:cNvPr>
          <p:cNvGrpSpPr/>
          <p:nvPr/>
        </p:nvGrpSpPr>
        <p:grpSpPr>
          <a:xfrm>
            <a:off x="868680" y="5065776"/>
            <a:ext cx="4572000" cy="502920"/>
            <a:chOff x="868680" y="5065776"/>
            <a:chExt cx="4572000" cy="502920"/>
          </a:xfrm>
        </p:grpSpPr>
        <p:sp>
          <p:nvSpPr>
            <p:cNvPr id="21" name="Part 1"/>
            <p:cNvSpPr/>
            <p:nvPr/>
          </p:nvSpPr>
          <p:spPr>
            <a:xfrm>
              <a:off x="868680" y="5129784"/>
              <a:ext cx="384048" cy="384048"/>
            </a:xfrm>
            <a:prstGeom prst="ellipse">
              <a:avLst/>
            </a:prstGeom>
            <a:solidFill>
              <a:srgbClr val="EEF0F3"/>
            </a:solidFill>
            <a:ln/>
          </p:spPr>
        </p:sp>
        <p:pic>
          <p:nvPicPr>
            <p:cNvPr id="22" name="Part 2" descr="Biểu tượng"/>
            <p:cNvPicPr>
              <a:picLocks noChangeAspect="1"/>
            </p:cNvPicPr>
            <p:nvPr/>
          </p:nvPicPr>
          <p:blipFill>
            <a:blip r:embed="rId4"/>
            <a:stretch>
              <a:fillRect/>
            </a:stretch>
          </p:blipFill>
          <p:spPr>
            <a:xfrm>
              <a:off x="964692" y="5225796"/>
              <a:ext cx="192024" cy="192024"/>
            </a:xfrm>
            <a:prstGeom prst="rect">
              <a:avLst/>
            </a:prstGeom>
          </p:spPr>
        </p:pic>
        <p:sp>
          <p:nvSpPr>
            <p:cNvPr id="23" name="Part 3"/>
            <p:cNvSpPr txBox="1"/>
            <p:nvPr/>
          </p:nvSpPr>
          <p:spPr>
            <a:xfrm>
              <a:off x="1463040" y="5065776"/>
              <a:ext cx="3977640" cy="502920"/>
            </a:xfrm>
            <a:prstGeom prst="rect">
              <a:avLst/>
            </a:prstGeom>
            <a:noFill/>
            <a:ln/>
          </p:spPr>
          <p:txBody>
            <a:bodyPr wrap="square" lIns="0" tIns="0" rIns="0" bIns="0" rtlCol="0" anchor="ctr"/>
            <a:lstStyle/>
            <a:p>
              <a:pPr marL="0" indent="0" algn="l">
                <a:buNone/>
              </a:pPr>
              <a:r>
                <a:rPr lang="en-US" sz="1450" dirty="0">
                  <a:solidFill>
                    <a:srgbClr val="4B5563"/>
                  </a:solidFill>
                  <a:latin typeface="Arial" pitchFamily="34" charset="0"/>
                  <a:ea typeface="Arial" pitchFamily="34" charset="-122"/>
                  <a:cs typeface="Arial" pitchFamily="34" charset="-120"/>
                </a:rPr>
                <a:t>Cập nhật nội dung phải nhờ người biết code</a:t>
              </a:r>
              <a:endParaRPr lang="en-US" sz="1450" dirty="0"/>
            </a:p>
          </p:txBody>
        </p:sp>
      </p:grpSp>
      <p:grpSp>
        <p:nvGrpSpPr>
          <p:cNvPr id="47" name="Group 12">
            <a:extLst>
              <a:ext uri="{FF2B5EF4-FFF2-40B4-BE49-F238E27FC236}">
                <a16:creationId xmlns:a16="http://schemas.microsoft.com/office/drawing/2014/main" id="{B28EC370-4EA2-A237-170C-E270DC6589EB}"/>
              </a:ext>
            </a:extLst>
          </p:cNvPr>
          <p:cNvGrpSpPr/>
          <p:nvPr/>
        </p:nvGrpSpPr>
        <p:grpSpPr>
          <a:xfrm>
            <a:off x="5728716" y="3410712"/>
            <a:ext cx="731520" cy="731520"/>
            <a:chOff x="5728716" y="3410712"/>
            <a:chExt cx="731520" cy="731520"/>
          </a:xfrm>
        </p:grpSpPr>
        <p:sp>
          <p:nvSpPr>
            <p:cNvPr id="24" name="Part 1"/>
            <p:cNvSpPr/>
            <p:nvPr/>
          </p:nvSpPr>
          <p:spPr>
            <a:xfrm>
              <a:off x="5728716" y="3410712"/>
              <a:ext cx="731520" cy="731520"/>
            </a:xfrm>
            <a:prstGeom prst="ellipse">
              <a:avLst/>
            </a:prstGeom>
            <a:solidFill>
              <a:srgbClr val="E5B53A"/>
            </a:solidFill>
            <a:ln/>
          </p:spPr>
        </p:sp>
        <p:pic>
          <p:nvPicPr>
            <p:cNvPr id="25" name="Part 2" descr="Biểu tượng"/>
            <p:cNvPicPr>
              <a:picLocks noChangeAspect="1"/>
            </p:cNvPicPr>
            <p:nvPr/>
          </p:nvPicPr>
          <p:blipFill>
            <a:blip r:embed="rId5"/>
            <a:stretch>
              <a:fillRect/>
            </a:stretch>
          </p:blipFill>
          <p:spPr>
            <a:xfrm>
              <a:off x="5911596" y="3593592"/>
              <a:ext cx="365760" cy="365760"/>
            </a:xfrm>
            <a:prstGeom prst="rect">
              <a:avLst/>
            </a:prstGeom>
          </p:spPr>
        </p:pic>
      </p:grpSp>
      <p:grpSp>
        <p:nvGrpSpPr>
          <p:cNvPr id="48" name="Group 13">
            <a:extLst>
              <a:ext uri="{FF2B5EF4-FFF2-40B4-BE49-F238E27FC236}">
                <a16:creationId xmlns:a16="http://schemas.microsoft.com/office/drawing/2014/main" id="{9638EAC2-A8E1-3BC0-750F-AE82D8E83A0A}"/>
              </a:ext>
            </a:extLst>
          </p:cNvPr>
          <p:cNvGrpSpPr/>
          <p:nvPr/>
        </p:nvGrpSpPr>
        <p:grpSpPr>
          <a:xfrm>
            <a:off x="6565392" y="1600200"/>
            <a:ext cx="5074920" cy="4343400"/>
            <a:chOff x="6565392" y="1600200"/>
            <a:chExt cx="5074920" cy="4343400"/>
          </a:xfrm>
        </p:grpSpPr>
        <p:sp>
          <p:nvSpPr>
            <p:cNvPr id="26" name="Part 1"/>
            <p:cNvSpPr/>
            <p:nvPr/>
          </p:nvSpPr>
          <p:spPr>
            <a:xfrm>
              <a:off x="6565392" y="1600200"/>
              <a:ext cx="5074920" cy="4343400"/>
            </a:xfrm>
            <a:prstGeom prst="roundRect">
              <a:avLst>
                <a:gd name="adj" fmla="val 2526"/>
              </a:avLst>
            </a:prstGeom>
            <a:solidFill>
              <a:srgbClr val="0F2C59"/>
            </a:solidFill>
            <a:ln/>
            <a:effectLst>
              <a:outerShdw blurRad="127000" dist="38100" dir="5400000" algn="bl" rotWithShape="0">
                <a:srgbClr val="0F2C59">
                  <a:alpha val="12000"/>
                </a:srgbClr>
              </a:outerShdw>
            </a:effectLst>
          </p:spPr>
        </p:sp>
        <p:sp>
          <p:nvSpPr>
            <p:cNvPr id="27" name="Part 2"/>
            <p:cNvSpPr/>
            <p:nvPr/>
          </p:nvSpPr>
          <p:spPr>
            <a:xfrm>
              <a:off x="6839712" y="1828800"/>
              <a:ext cx="548640" cy="548640"/>
            </a:xfrm>
            <a:prstGeom prst="ellipse">
              <a:avLst/>
            </a:prstGeom>
            <a:solidFill>
              <a:srgbClr val="E5B53A"/>
            </a:solidFill>
            <a:ln/>
          </p:spPr>
        </p:sp>
        <p:pic>
          <p:nvPicPr>
            <p:cNvPr id="28" name="Part 3" descr="Biểu tượng"/>
            <p:cNvPicPr>
              <a:picLocks noChangeAspect="1"/>
            </p:cNvPicPr>
            <p:nvPr/>
          </p:nvPicPr>
          <p:blipFill>
            <a:blip r:embed="rId6"/>
            <a:stretch>
              <a:fillRect/>
            </a:stretch>
          </p:blipFill>
          <p:spPr>
            <a:xfrm>
              <a:off x="6976872" y="1965960"/>
              <a:ext cx="274320" cy="274320"/>
            </a:xfrm>
            <a:prstGeom prst="rect">
              <a:avLst/>
            </a:prstGeom>
          </p:spPr>
        </p:pic>
        <p:sp>
          <p:nvSpPr>
            <p:cNvPr id="29" name="Part 4"/>
            <p:cNvSpPr txBox="1"/>
            <p:nvPr/>
          </p:nvSpPr>
          <p:spPr>
            <a:xfrm>
              <a:off x="7525512" y="1874520"/>
              <a:ext cx="3931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Arial" pitchFamily="34" charset="0"/>
                  <a:ea typeface="Arial" pitchFamily="34" charset="-122"/>
                  <a:cs typeface="Arial" pitchFamily="34" charset="-120"/>
                </a:rPr>
                <a:t>Giải pháp: Website DNC</a:t>
              </a:r>
              <a:endParaRPr lang="en-US" sz="2000" dirty="0"/>
            </a:p>
          </p:txBody>
        </p:sp>
      </p:grpSp>
      <p:grpSp>
        <p:nvGrpSpPr>
          <p:cNvPr id="49" name="Group 14">
            <a:extLst>
              <a:ext uri="{FF2B5EF4-FFF2-40B4-BE49-F238E27FC236}">
                <a16:creationId xmlns:a16="http://schemas.microsoft.com/office/drawing/2014/main" id="{2A3DBBE0-DC99-6CED-5E5B-BBECAA1D2C5D}"/>
              </a:ext>
            </a:extLst>
          </p:cNvPr>
          <p:cNvGrpSpPr/>
          <p:nvPr/>
        </p:nvGrpSpPr>
        <p:grpSpPr>
          <a:xfrm>
            <a:off x="6885432" y="2651760"/>
            <a:ext cx="4572000" cy="502920"/>
            <a:chOff x="6885432" y="2651760"/>
            <a:chExt cx="4572000" cy="502920"/>
          </a:xfrm>
        </p:grpSpPr>
        <p:sp>
          <p:nvSpPr>
            <p:cNvPr id="30" name="Part 1"/>
            <p:cNvSpPr/>
            <p:nvPr/>
          </p:nvSpPr>
          <p:spPr>
            <a:xfrm>
              <a:off x="6885432" y="2715768"/>
              <a:ext cx="384048" cy="384048"/>
            </a:xfrm>
            <a:prstGeom prst="ellipse">
              <a:avLst/>
            </a:prstGeom>
            <a:solidFill>
              <a:srgbClr val="1B3E73"/>
            </a:solidFill>
            <a:ln/>
          </p:spPr>
        </p:sp>
        <p:pic>
          <p:nvPicPr>
            <p:cNvPr id="31" name="Part 2" descr="Biểu tượng"/>
            <p:cNvPicPr>
              <a:picLocks noChangeAspect="1"/>
            </p:cNvPicPr>
            <p:nvPr/>
          </p:nvPicPr>
          <p:blipFill>
            <a:blip r:embed="rId7"/>
            <a:stretch>
              <a:fillRect/>
            </a:stretch>
          </p:blipFill>
          <p:spPr>
            <a:xfrm>
              <a:off x="6971843" y="2802179"/>
              <a:ext cx="211226" cy="211226"/>
            </a:xfrm>
            <a:prstGeom prst="rect">
              <a:avLst/>
            </a:prstGeom>
          </p:spPr>
        </p:pic>
        <p:sp>
          <p:nvSpPr>
            <p:cNvPr id="32" name="Part 3"/>
            <p:cNvSpPr txBox="1"/>
            <p:nvPr/>
          </p:nvSpPr>
          <p:spPr>
            <a:xfrm>
              <a:off x="7479792" y="2651760"/>
              <a:ext cx="3977640" cy="502920"/>
            </a:xfrm>
            <a:prstGeom prst="rect">
              <a:avLst/>
            </a:prstGeom>
            <a:noFill/>
            <a:ln/>
          </p:spPr>
          <p:txBody>
            <a:bodyPr wrap="square" lIns="0" tIns="0" rIns="0" bIns="0" rtlCol="0" anchor="ctr"/>
            <a:lstStyle/>
            <a:p>
              <a:pPr marL="0" indent="0" algn="l">
                <a:buNone/>
              </a:pPr>
              <a:r>
                <a:rPr lang="en-US" sz="1450" dirty="0">
                  <a:solidFill>
                    <a:srgbClr val="FFFFFF"/>
                  </a:solidFill>
                  <a:latin typeface="Arial" pitchFamily="34" charset="0"/>
                  <a:ea typeface="Arial" pitchFamily="34" charset="-122"/>
                  <a:cs typeface="Arial" pitchFamily="34" charset="-120"/>
                </a:rPr>
                <a:t>Giới thiệu trường, chương trình đào tạo</a:t>
              </a:r>
              <a:endParaRPr lang="en-US" sz="1450" dirty="0"/>
            </a:p>
          </p:txBody>
        </p:sp>
      </p:grpSp>
      <p:grpSp>
        <p:nvGrpSpPr>
          <p:cNvPr id="50" name="Group 15">
            <a:extLst>
              <a:ext uri="{FF2B5EF4-FFF2-40B4-BE49-F238E27FC236}">
                <a16:creationId xmlns:a16="http://schemas.microsoft.com/office/drawing/2014/main" id="{036AAF1B-B642-17B8-3132-F83F9DF14CDD}"/>
              </a:ext>
            </a:extLst>
          </p:cNvPr>
          <p:cNvGrpSpPr/>
          <p:nvPr/>
        </p:nvGrpSpPr>
        <p:grpSpPr>
          <a:xfrm>
            <a:off x="6885432" y="3456432"/>
            <a:ext cx="4572000" cy="502920"/>
            <a:chOff x="6885432" y="3456432"/>
            <a:chExt cx="4572000" cy="502920"/>
          </a:xfrm>
        </p:grpSpPr>
        <p:sp>
          <p:nvSpPr>
            <p:cNvPr id="33" name="Part 1"/>
            <p:cNvSpPr/>
            <p:nvPr/>
          </p:nvSpPr>
          <p:spPr>
            <a:xfrm>
              <a:off x="6885432" y="3520440"/>
              <a:ext cx="384048" cy="384048"/>
            </a:xfrm>
            <a:prstGeom prst="ellipse">
              <a:avLst/>
            </a:prstGeom>
            <a:solidFill>
              <a:srgbClr val="1B3E73"/>
            </a:solidFill>
            <a:ln/>
          </p:spPr>
        </p:sp>
        <p:pic>
          <p:nvPicPr>
            <p:cNvPr id="34" name="Part 2" descr="Biểu tượng"/>
            <p:cNvPicPr>
              <a:picLocks noChangeAspect="1"/>
            </p:cNvPicPr>
            <p:nvPr/>
          </p:nvPicPr>
          <p:blipFill>
            <a:blip r:embed="rId7"/>
            <a:stretch>
              <a:fillRect/>
            </a:stretch>
          </p:blipFill>
          <p:spPr>
            <a:xfrm>
              <a:off x="6971843" y="3606851"/>
              <a:ext cx="211226" cy="211226"/>
            </a:xfrm>
            <a:prstGeom prst="rect">
              <a:avLst/>
            </a:prstGeom>
          </p:spPr>
        </p:pic>
        <p:sp>
          <p:nvSpPr>
            <p:cNvPr id="35" name="Part 3"/>
            <p:cNvSpPr txBox="1"/>
            <p:nvPr/>
          </p:nvSpPr>
          <p:spPr>
            <a:xfrm>
              <a:off x="7479792" y="3456432"/>
              <a:ext cx="3977640" cy="502920"/>
            </a:xfrm>
            <a:prstGeom prst="rect">
              <a:avLst/>
            </a:prstGeom>
            <a:noFill/>
            <a:ln/>
          </p:spPr>
          <p:txBody>
            <a:bodyPr wrap="square" lIns="0" tIns="0" rIns="0" bIns="0" rtlCol="0" anchor="ctr"/>
            <a:lstStyle/>
            <a:p>
              <a:pPr marL="0" indent="0" algn="l">
                <a:buNone/>
              </a:pPr>
              <a:r>
                <a:rPr lang="en-US" sz="1450" dirty="0">
                  <a:solidFill>
                    <a:srgbClr val="FFFFFF"/>
                  </a:solidFill>
                  <a:latin typeface="Arial" pitchFamily="34" charset="0"/>
                  <a:ea typeface="Arial" pitchFamily="34" charset="-122"/>
                  <a:cs typeface="Arial" pitchFamily="34" charset="-120"/>
                </a:rPr>
                <a:t>Tin tức – hoạt động, thư viện ảnh học sinh</a:t>
              </a:r>
              <a:endParaRPr lang="en-US" sz="1450" dirty="0"/>
            </a:p>
          </p:txBody>
        </p:sp>
      </p:grpSp>
      <p:grpSp>
        <p:nvGrpSpPr>
          <p:cNvPr id="51" name="Group 16">
            <a:extLst>
              <a:ext uri="{FF2B5EF4-FFF2-40B4-BE49-F238E27FC236}">
                <a16:creationId xmlns:a16="http://schemas.microsoft.com/office/drawing/2014/main" id="{7C0C4D3E-482B-7DBC-1300-C390C819E182}"/>
              </a:ext>
            </a:extLst>
          </p:cNvPr>
          <p:cNvGrpSpPr/>
          <p:nvPr/>
        </p:nvGrpSpPr>
        <p:grpSpPr>
          <a:xfrm>
            <a:off x="6885432" y="4261104"/>
            <a:ext cx="4572000" cy="502920"/>
            <a:chOff x="6885432" y="4261104"/>
            <a:chExt cx="4572000" cy="502920"/>
          </a:xfrm>
        </p:grpSpPr>
        <p:sp>
          <p:nvSpPr>
            <p:cNvPr id="36" name="Part 1"/>
            <p:cNvSpPr/>
            <p:nvPr/>
          </p:nvSpPr>
          <p:spPr>
            <a:xfrm>
              <a:off x="6885432" y="4325112"/>
              <a:ext cx="384048" cy="384048"/>
            </a:xfrm>
            <a:prstGeom prst="ellipse">
              <a:avLst/>
            </a:prstGeom>
            <a:solidFill>
              <a:srgbClr val="1B3E73"/>
            </a:solidFill>
            <a:ln/>
          </p:spPr>
        </p:sp>
        <p:pic>
          <p:nvPicPr>
            <p:cNvPr id="37" name="Part 2" descr="Biểu tượng"/>
            <p:cNvPicPr>
              <a:picLocks noChangeAspect="1"/>
            </p:cNvPicPr>
            <p:nvPr/>
          </p:nvPicPr>
          <p:blipFill>
            <a:blip r:embed="rId7"/>
            <a:stretch>
              <a:fillRect/>
            </a:stretch>
          </p:blipFill>
          <p:spPr>
            <a:xfrm>
              <a:off x="6971843" y="4411523"/>
              <a:ext cx="211226" cy="211226"/>
            </a:xfrm>
            <a:prstGeom prst="rect">
              <a:avLst/>
            </a:prstGeom>
          </p:spPr>
        </p:pic>
        <p:sp>
          <p:nvSpPr>
            <p:cNvPr id="38" name="Part 3"/>
            <p:cNvSpPr txBox="1"/>
            <p:nvPr/>
          </p:nvSpPr>
          <p:spPr>
            <a:xfrm>
              <a:off x="7479792" y="4261104"/>
              <a:ext cx="3977640" cy="502920"/>
            </a:xfrm>
            <a:prstGeom prst="rect">
              <a:avLst/>
            </a:prstGeom>
            <a:noFill/>
            <a:ln/>
          </p:spPr>
          <p:txBody>
            <a:bodyPr wrap="square" lIns="0" tIns="0" rIns="0" bIns="0" rtlCol="0" anchor="ctr"/>
            <a:lstStyle/>
            <a:p>
              <a:pPr marL="0" indent="0" algn="l">
                <a:buNone/>
              </a:pPr>
              <a:r>
                <a:rPr lang="en-US" sz="1450" dirty="0">
                  <a:solidFill>
                    <a:srgbClr val="FFFFFF"/>
                  </a:solidFill>
                  <a:latin typeface="Arial" pitchFamily="34" charset="0"/>
                  <a:ea typeface="Arial" pitchFamily="34" charset="-122"/>
                  <a:cs typeface="Arial" pitchFamily="34" charset="-120"/>
                </a:rPr>
                <a:t>Đăng ký nhập học trực tuyến có kiểm tra</a:t>
              </a:r>
              <a:endParaRPr lang="en-US" sz="1450" dirty="0"/>
            </a:p>
          </p:txBody>
        </p:sp>
      </p:grpSp>
      <p:grpSp>
        <p:nvGrpSpPr>
          <p:cNvPr id="52" name="Group 17">
            <a:extLst>
              <a:ext uri="{FF2B5EF4-FFF2-40B4-BE49-F238E27FC236}">
                <a16:creationId xmlns:a16="http://schemas.microsoft.com/office/drawing/2014/main" id="{61B0E01E-1662-DAB7-D610-41BE74A8A258}"/>
              </a:ext>
            </a:extLst>
          </p:cNvPr>
          <p:cNvGrpSpPr/>
          <p:nvPr/>
        </p:nvGrpSpPr>
        <p:grpSpPr>
          <a:xfrm>
            <a:off x="6885432" y="5065776"/>
            <a:ext cx="4572000" cy="502920"/>
            <a:chOff x="6885432" y="5065776"/>
            <a:chExt cx="4572000" cy="502920"/>
          </a:xfrm>
        </p:grpSpPr>
        <p:sp>
          <p:nvSpPr>
            <p:cNvPr id="39" name="Part 1"/>
            <p:cNvSpPr/>
            <p:nvPr/>
          </p:nvSpPr>
          <p:spPr>
            <a:xfrm>
              <a:off x="6885432" y="5129784"/>
              <a:ext cx="384048" cy="384048"/>
            </a:xfrm>
            <a:prstGeom prst="ellipse">
              <a:avLst/>
            </a:prstGeom>
            <a:solidFill>
              <a:srgbClr val="1B3E73"/>
            </a:solidFill>
            <a:ln/>
          </p:spPr>
        </p:sp>
        <p:pic>
          <p:nvPicPr>
            <p:cNvPr id="40" name="Part 2" descr="Biểu tượng"/>
            <p:cNvPicPr>
              <a:picLocks noChangeAspect="1"/>
            </p:cNvPicPr>
            <p:nvPr/>
          </p:nvPicPr>
          <p:blipFill>
            <a:blip r:embed="rId7"/>
            <a:stretch>
              <a:fillRect/>
            </a:stretch>
          </p:blipFill>
          <p:spPr>
            <a:xfrm>
              <a:off x="6971843" y="5216195"/>
              <a:ext cx="211226" cy="211226"/>
            </a:xfrm>
            <a:prstGeom prst="rect">
              <a:avLst/>
            </a:prstGeom>
          </p:spPr>
        </p:pic>
        <p:sp>
          <p:nvSpPr>
            <p:cNvPr id="41" name="Part 3"/>
            <p:cNvSpPr txBox="1"/>
            <p:nvPr/>
          </p:nvSpPr>
          <p:spPr>
            <a:xfrm>
              <a:off x="7479792" y="5065776"/>
              <a:ext cx="3977640" cy="502920"/>
            </a:xfrm>
            <a:prstGeom prst="rect">
              <a:avLst/>
            </a:prstGeom>
            <a:noFill/>
            <a:ln/>
          </p:spPr>
          <p:txBody>
            <a:bodyPr wrap="square" lIns="0" tIns="0" rIns="0" bIns="0" rtlCol="0" anchor="ctr"/>
            <a:lstStyle/>
            <a:p>
              <a:pPr marL="0" indent="0" algn="l">
                <a:buNone/>
              </a:pPr>
              <a:r>
                <a:rPr lang="en-US" sz="1450" dirty="0">
                  <a:solidFill>
                    <a:srgbClr val="FFFFFF"/>
                  </a:solidFill>
                  <a:latin typeface="Arial" pitchFamily="34" charset="0"/>
                  <a:ea typeface="Arial" pitchFamily="34" charset="-122"/>
                  <a:cs typeface="Arial" pitchFamily="34" charset="-120"/>
                </a:rPr>
                <a:t>Trang quản trị cập nhật nội dung, xử lý hồ sơ</a:t>
              </a:r>
              <a:endParaRPr lang="en-US" sz="145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550"/>
                                        <p:tgtEl>
                                          <p:spTgt spid="43"/>
                                        </p:tgtEl>
                                      </p:cBhvr>
                                    </p:animEffect>
                                    <p:anim calcmode="lin" valueType="num">
                                      <p:cBhvr>
                                        <p:cTn id="12" dur="550" fill="hold"/>
                                        <p:tgtEl>
                                          <p:spTgt spid="43"/>
                                        </p:tgtEl>
                                        <p:attrNameLst>
                                          <p:attrName>ppt_x</p:attrName>
                                        </p:attrNameLst>
                                      </p:cBhvr>
                                      <p:tavLst>
                                        <p:tav tm="0">
                                          <p:val>
                                            <p:strVal val="#ppt_x"/>
                                          </p:val>
                                        </p:tav>
                                        <p:tav tm="100000">
                                          <p:val>
                                            <p:strVal val="#ppt_x"/>
                                          </p:val>
                                        </p:tav>
                                      </p:tavLst>
                                    </p:anim>
                                    <p:anim calcmode="lin" valueType="num">
                                      <p:cBhvr>
                                        <p:cTn id="13" dur="550" fill="hold"/>
                                        <p:tgtEl>
                                          <p:spTgt spid="43"/>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12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550"/>
                                        <p:tgtEl>
                                          <p:spTgt spid="44"/>
                                        </p:tgtEl>
                                      </p:cBhvr>
                                    </p:animEffect>
                                    <p:anim calcmode="lin" valueType="num">
                                      <p:cBhvr>
                                        <p:cTn id="17" dur="550" fill="hold"/>
                                        <p:tgtEl>
                                          <p:spTgt spid="44"/>
                                        </p:tgtEl>
                                        <p:attrNameLst>
                                          <p:attrName>ppt_x</p:attrName>
                                        </p:attrNameLst>
                                      </p:cBhvr>
                                      <p:tavLst>
                                        <p:tav tm="0">
                                          <p:val>
                                            <p:strVal val="#ppt_x"/>
                                          </p:val>
                                        </p:tav>
                                        <p:tav tm="100000">
                                          <p:val>
                                            <p:strVal val="#ppt_x"/>
                                          </p:val>
                                        </p:tav>
                                      </p:tavLst>
                                    </p:anim>
                                    <p:anim calcmode="lin" valueType="num">
                                      <p:cBhvr>
                                        <p:cTn id="18" dur="550" fill="hold"/>
                                        <p:tgtEl>
                                          <p:spTgt spid="44"/>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240"/>
                                  </p:stCondLst>
                                  <p:childTnLst>
                                    <p:set>
                                      <p:cBhvr>
                                        <p:cTn id="20" dur="1" fill="hold">
                                          <p:stCondLst>
                                            <p:cond delay="0"/>
                                          </p:stCondLst>
                                        </p:cTn>
                                        <p:tgtEl>
                                          <p:spTgt spid="45"/>
                                        </p:tgtEl>
                                        <p:attrNameLst>
                                          <p:attrName>style.visibility</p:attrName>
                                        </p:attrNameLst>
                                      </p:cBhvr>
                                      <p:to>
                                        <p:strVal val="visible"/>
                                      </p:to>
                                    </p:set>
                                    <p:animEffect transition="in" filter="fade">
                                      <p:cBhvr>
                                        <p:cTn id="21" dur="550"/>
                                        <p:tgtEl>
                                          <p:spTgt spid="45"/>
                                        </p:tgtEl>
                                      </p:cBhvr>
                                    </p:animEffect>
                                    <p:anim calcmode="lin" valueType="num">
                                      <p:cBhvr>
                                        <p:cTn id="22" dur="550" fill="hold"/>
                                        <p:tgtEl>
                                          <p:spTgt spid="45"/>
                                        </p:tgtEl>
                                        <p:attrNameLst>
                                          <p:attrName>ppt_x</p:attrName>
                                        </p:attrNameLst>
                                      </p:cBhvr>
                                      <p:tavLst>
                                        <p:tav tm="0">
                                          <p:val>
                                            <p:strVal val="#ppt_x"/>
                                          </p:val>
                                        </p:tav>
                                        <p:tav tm="100000">
                                          <p:val>
                                            <p:strVal val="#ppt_x"/>
                                          </p:val>
                                        </p:tav>
                                      </p:tavLst>
                                    </p:anim>
                                    <p:anim calcmode="lin" valueType="num">
                                      <p:cBhvr>
                                        <p:cTn id="23" dur="550" fill="hold"/>
                                        <p:tgtEl>
                                          <p:spTgt spid="45"/>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360"/>
                                  </p:stCondLst>
                                  <p:childTnLst>
                                    <p:set>
                                      <p:cBhvr>
                                        <p:cTn id="25" dur="1" fill="hold">
                                          <p:stCondLst>
                                            <p:cond delay="0"/>
                                          </p:stCondLst>
                                        </p:cTn>
                                        <p:tgtEl>
                                          <p:spTgt spid="46"/>
                                        </p:tgtEl>
                                        <p:attrNameLst>
                                          <p:attrName>style.visibility</p:attrName>
                                        </p:attrNameLst>
                                      </p:cBhvr>
                                      <p:to>
                                        <p:strVal val="visible"/>
                                      </p:to>
                                    </p:set>
                                    <p:animEffect transition="in" filter="fade">
                                      <p:cBhvr>
                                        <p:cTn id="26" dur="550"/>
                                        <p:tgtEl>
                                          <p:spTgt spid="46"/>
                                        </p:tgtEl>
                                      </p:cBhvr>
                                    </p:animEffect>
                                    <p:anim calcmode="lin" valueType="num">
                                      <p:cBhvr>
                                        <p:cTn id="27" dur="550" fill="hold"/>
                                        <p:tgtEl>
                                          <p:spTgt spid="46"/>
                                        </p:tgtEl>
                                        <p:attrNameLst>
                                          <p:attrName>ppt_x</p:attrName>
                                        </p:attrNameLst>
                                      </p:cBhvr>
                                      <p:tavLst>
                                        <p:tav tm="0">
                                          <p:val>
                                            <p:strVal val="#ppt_x"/>
                                          </p:val>
                                        </p:tav>
                                        <p:tav tm="100000">
                                          <p:val>
                                            <p:strVal val="#ppt_x"/>
                                          </p:val>
                                        </p:tav>
                                      </p:tavLst>
                                    </p:anim>
                                    <p:anim calcmode="lin" valueType="num">
                                      <p:cBhvr>
                                        <p:cTn id="28" dur="550" fill="hold"/>
                                        <p:tgtEl>
                                          <p:spTgt spid="46"/>
                                        </p:tgtEl>
                                        <p:attrNameLst>
                                          <p:attrName>ppt_y</p:attrName>
                                        </p:attrNameLst>
                                      </p:cBhvr>
                                      <p:tavLst>
                                        <p:tav tm="0">
                                          <p:val>
                                            <p:strVal val="#ppt_y+.1"/>
                                          </p:val>
                                        </p:tav>
                                        <p:tav tm="100000">
                                          <p:val>
                                            <p:strVal val="#ppt_y"/>
                                          </p:val>
                                        </p:tav>
                                      </p:tavLst>
                                    </p:anim>
                                  </p:childTnLst>
                                </p:cTn>
                              </p:par>
                            </p:childTnLst>
                          </p:cTn>
                        </p:par>
                        <p:par>
                          <p:cTn id="29" fill="hold">
                            <p:stCondLst>
                              <p:cond delay="1410"/>
                            </p:stCondLst>
                            <p:childTnLst>
                              <p:par>
                                <p:cTn id="30" presetID="53" presetClass="entr" presetSubtype="16" fill="hold" nodeType="afterEffect">
                                  <p:stCondLst>
                                    <p:cond delay="0"/>
                                  </p:stCondLst>
                                  <p:childTnLst>
                                    <p:set>
                                      <p:cBhvr>
                                        <p:cTn id="31" dur="1" fill="hold">
                                          <p:stCondLst>
                                            <p:cond delay="0"/>
                                          </p:stCondLst>
                                        </p:cTn>
                                        <p:tgtEl>
                                          <p:spTgt spid="47"/>
                                        </p:tgtEl>
                                        <p:attrNameLst>
                                          <p:attrName>style.visibility</p:attrName>
                                        </p:attrNameLst>
                                      </p:cBhvr>
                                      <p:to>
                                        <p:strVal val="visible"/>
                                      </p:to>
                                    </p:set>
                                    <p:anim calcmode="lin" valueType="num">
                                      <p:cBhvr>
                                        <p:cTn id="32" dur="500" fill="hold"/>
                                        <p:tgtEl>
                                          <p:spTgt spid="47"/>
                                        </p:tgtEl>
                                        <p:attrNameLst>
                                          <p:attrName>ppt_w</p:attrName>
                                        </p:attrNameLst>
                                      </p:cBhvr>
                                      <p:tavLst>
                                        <p:tav tm="0">
                                          <p:val>
                                            <p:fltVal val="0"/>
                                          </p:val>
                                        </p:tav>
                                        <p:tav tm="100000">
                                          <p:val>
                                            <p:strVal val="#ppt_w"/>
                                          </p:val>
                                        </p:tav>
                                      </p:tavLst>
                                    </p:anim>
                                    <p:anim calcmode="lin" valueType="num">
                                      <p:cBhvr>
                                        <p:cTn id="33" dur="500" fill="hold"/>
                                        <p:tgtEl>
                                          <p:spTgt spid="47"/>
                                        </p:tgtEl>
                                        <p:attrNameLst>
                                          <p:attrName>ppt_h</p:attrName>
                                        </p:attrNameLst>
                                      </p:cBhvr>
                                      <p:tavLst>
                                        <p:tav tm="0">
                                          <p:val>
                                            <p:fltVal val="0"/>
                                          </p:val>
                                        </p:tav>
                                        <p:tav tm="100000">
                                          <p:val>
                                            <p:strVal val="#ppt_h"/>
                                          </p:val>
                                        </p:tav>
                                      </p:tavLst>
                                    </p:anim>
                                    <p:animEffect transition="in" filter="fade">
                                      <p:cBhvr>
                                        <p:cTn id="34" dur="500"/>
                                        <p:tgtEl>
                                          <p:spTgt spid="47"/>
                                        </p:tgtEl>
                                      </p:cBhvr>
                                    </p:animEffect>
                                  </p:childTnLst>
                                </p:cTn>
                              </p:par>
                            </p:childTnLst>
                          </p:cTn>
                        </p:par>
                        <p:par>
                          <p:cTn id="35" fill="hold">
                            <p:stCondLst>
                              <p:cond delay="1910"/>
                            </p:stCondLst>
                            <p:childTnLst>
                              <p:par>
                                <p:cTn id="36" presetID="10" presetClass="entr" presetSubtype="0" fill="hold" nodeType="after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fade">
                                      <p:cBhvr>
                                        <p:cTn id="38" dur="500"/>
                                        <p:tgtEl>
                                          <p:spTgt spid="48"/>
                                        </p:tgtEl>
                                      </p:cBhvr>
                                    </p:animEffect>
                                  </p:childTnLst>
                                </p:cTn>
                              </p:par>
                            </p:childTnLst>
                          </p:cTn>
                        </p:par>
                        <p:par>
                          <p:cTn id="39" fill="hold">
                            <p:stCondLst>
                              <p:cond delay="2410"/>
                            </p:stCondLst>
                            <p:childTnLst>
                              <p:par>
                                <p:cTn id="40" presetID="42" presetClass="entr" presetSubtype="0" fill="hold" nodeType="after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fade">
                                      <p:cBhvr>
                                        <p:cTn id="42" dur="550"/>
                                        <p:tgtEl>
                                          <p:spTgt spid="49"/>
                                        </p:tgtEl>
                                      </p:cBhvr>
                                    </p:animEffect>
                                    <p:anim calcmode="lin" valueType="num">
                                      <p:cBhvr>
                                        <p:cTn id="43" dur="550" fill="hold"/>
                                        <p:tgtEl>
                                          <p:spTgt spid="49"/>
                                        </p:tgtEl>
                                        <p:attrNameLst>
                                          <p:attrName>ppt_x</p:attrName>
                                        </p:attrNameLst>
                                      </p:cBhvr>
                                      <p:tavLst>
                                        <p:tav tm="0">
                                          <p:val>
                                            <p:strVal val="#ppt_x"/>
                                          </p:val>
                                        </p:tav>
                                        <p:tav tm="100000">
                                          <p:val>
                                            <p:strVal val="#ppt_x"/>
                                          </p:val>
                                        </p:tav>
                                      </p:tavLst>
                                    </p:anim>
                                    <p:anim calcmode="lin" valueType="num">
                                      <p:cBhvr>
                                        <p:cTn id="44" dur="550" fill="hold"/>
                                        <p:tgtEl>
                                          <p:spTgt spid="4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2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550"/>
                                        <p:tgtEl>
                                          <p:spTgt spid="50"/>
                                        </p:tgtEl>
                                      </p:cBhvr>
                                    </p:animEffect>
                                    <p:anim calcmode="lin" valueType="num">
                                      <p:cBhvr>
                                        <p:cTn id="48" dur="550" fill="hold"/>
                                        <p:tgtEl>
                                          <p:spTgt spid="50"/>
                                        </p:tgtEl>
                                        <p:attrNameLst>
                                          <p:attrName>ppt_x</p:attrName>
                                        </p:attrNameLst>
                                      </p:cBhvr>
                                      <p:tavLst>
                                        <p:tav tm="0">
                                          <p:val>
                                            <p:strVal val="#ppt_x"/>
                                          </p:val>
                                        </p:tav>
                                        <p:tav tm="100000">
                                          <p:val>
                                            <p:strVal val="#ppt_x"/>
                                          </p:val>
                                        </p:tav>
                                      </p:tavLst>
                                    </p:anim>
                                    <p:anim calcmode="lin" valueType="num">
                                      <p:cBhvr>
                                        <p:cTn id="49" dur="550" fill="hold"/>
                                        <p:tgtEl>
                                          <p:spTgt spid="5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24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50"/>
                                        <p:tgtEl>
                                          <p:spTgt spid="51"/>
                                        </p:tgtEl>
                                      </p:cBhvr>
                                    </p:animEffect>
                                    <p:anim calcmode="lin" valueType="num">
                                      <p:cBhvr>
                                        <p:cTn id="53" dur="550" fill="hold"/>
                                        <p:tgtEl>
                                          <p:spTgt spid="51"/>
                                        </p:tgtEl>
                                        <p:attrNameLst>
                                          <p:attrName>ppt_x</p:attrName>
                                        </p:attrNameLst>
                                      </p:cBhvr>
                                      <p:tavLst>
                                        <p:tav tm="0">
                                          <p:val>
                                            <p:strVal val="#ppt_x"/>
                                          </p:val>
                                        </p:tav>
                                        <p:tav tm="100000">
                                          <p:val>
                                            <p:strVal val="#ppt_x"/>
                                          </p:val>
                                        </p:tav>
                                      </p:tavLst>
                                    </p:anim>
                                    <p:anim calcmode="lin" valueType="num">
                                      <p:cBhvr>
                                        <p:cTn id="54" dur="550" fill="hold"/>
                                        <p:tgtEl>
                                          <p:spTgt spid="5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36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550"/>
                                        <p:tgtEl>
                                          <p:spTgt spid="52"/>
                                        </p:tgtEl>
                                      </p:cBhvr>
                                    </p:animEffect>
                                    <p:anim calcmode="lin" valueType="num">
                                      <p:cBhvr>
                                        <p:cTn id="58" dur="550" fill="hold"/>
                                        <p:tgtEl>
                                          <p:spTgt spid="52"/>
                                        </p:tgtEl>
                                        <p:attrNameLst>
                                          <p:attrName>ppt_x</p:attrName>
                                        </p:attrNameLst>
                                      </p:cBhvr>
                                      <p:tavLst>
                                        <p:tav tm="0">
                                          <p:val>
                                            <p:strVal val="#ppt_x"/>
                                          </p:val>
                                        </p:tav>
                                        <p:tav tm="100000">
                                          <p:val>
                                            <p:strVal val="#ppt_x"/>
                                          </p:val>
                                        </p:tav>
                                      </p:tavLst>
                                    </p:anim>
                                    <p:anim calcmode="lin" valueType="num">
                                      <p:cBhvr>
                                        <p:cTn id="59" dur="550" fill="hold"/>
                                        <p:tgtEl>
                                          <p:spTgt spid="52"/>
                                        </p:tgtEl>
                                        <p:attrNameLst>
                                          <p:attrName>ppt_y</p:attrName>
                                        </p:attrNameLst>
                                      </p:cBhvr>
                                      <p:tavLst>
                                        <p:tav tm="0">
                                          <p:val>
                                            <p:strVal val="#ppt_y+.1"/>
                                          </p:val>
                                        </p:tav>
                                        <p:tav tm="100000">
                                          <p:val>
                                            <p:strVal val="#ppt_y"/>
                                          </p:val>
                                        </p:tav>
                                      </p:tavLst>
                                    </p:anim>
                                  </p:childTnLst>
                                </p:cTn>
                              </p:par>
                            </p:childTnLst>
                          </p:cTn>
                        </p:par>
                        <p:par>
                          <p:cTn id="60" fill="hold">
                            <p:stCondLst>
                              <p:cond delay="3320"/>
                            </p:stCondLst>
                            <p:childTnLst>
                              <p:par>
                                <p:cTn id="61" presetID="6" presetClass="emph" presetSubtype="0" autoRev="1" fill="hold" nodeType="afterEffect">
                                  <p:stCondLst>
                                    <p:cond delay="0"/>
                                  </p:stCondLst>
                                  <p:childTnLst>
                                    <p:animScale>
                                      <p:cBhvr>
                                        <p:cTn id="62" dur="400" fill="hold"/>
                                        <p:tgtEl>
                                          <p:spTgt spid="47"/>
                                        </p:tgtEl>
                                      </p:cBhvr>
                                      <p:by x="150000" y="15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Mục tiêu và đối tượng sử dụng</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Website giới thiệu – quảng bá – tuyển sinh, kèm khu vực quản trị nội dung</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01 · TỔNG QUAN</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04 / 18</a:t>
            </a:r>
            <a:endParaRPr lang="en-US" sz="1000" dirty="0"/>
          </a:p>
        </p:txBody>
      </p:sp>
      <p:grpSp>
        <p:nvGrpSpPr>
          <p:cNvPr id="38" name="Group 7">
            <a:extLst>
              <a:ext uri="{FF2B5EF4-FFF2-40B4-BE49-F238E27FC236}">
                <a16:creationId xmlns:a16="http://schemas.microsoft.com/office/drawing/2014/main" id="{F475066C-F39A-1880-B7A7-967CAD9F4038}"/>
              </a:ext>
            </a:extLst>
          </p:cNvPr>
          <p:cNvGrpSpPr/>
          <p:nvPr/>
        </p:nvGrpSpPr>
        <p:grpSpPr>
          <a:xfrm>
            <a:off x="548640" y="1600200"/>
            <a:ext cx="3520440" cy="1097280"/>
            <a:chOff x="548640" y="1600200"/>
            <a:chExt cx="3520440" cy="1097280"/>
          </a:xfrm>
        </p:grpSpPr>
        <p:sp>
          <p:nvSpPr>
            <p:cNvPr id="8" name="Part 1"/>
            <p:cNvSpPr/>
            <p:nvPr/>
          </p:nvSpPr>
          <p:spPr>
            <a:xfrm>
              <a:off x="548640" y="1600200"/>
              <a:ext cx="3520440" cy="1097280"/>
            </a:xfrm>
            <a:prstGeom prst="roundRect">
              <a:avLst>
                <a:gd name="adj" fmla="val 10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9" name="Part 2"/>
            <p:cNvSpPr/>
            <p:nvPr/>
          </p:nvSpPr>
          <p:spPr>
            <a:xfrm>
              <a:off x="804672" y="1865376"/>
              <a:ext cx="566928" cy="566928"/>
            </a:xfrm>
            <a:prstGeom prst="ellipse">
              <a:avLst/>
            </a:prstGeom>
            <a:solidFill>
              <a:srgbClr val="E5B53A"/>
            </a:solidFill>
            <a:ln/>
          </p:spPr>
        </p:sp>
        <p:pic>
          <p:nvPicPr>
            <p:cNvPr id="10" name="Part 3" descr="Biểu tượng"/>
            <p:cNvPicPr>
              <a:picLocks noChangeAspect="1"/>
            </p:cNvPicPr>
            <p:nvPr/>
          </p:nvPicPr>
          <p:blipFill>
            <a:blip r:embed="rId3"/>
            <a:stretch>
              <a:fillRect/>
            </a:stretch>
          </p:blipFill>
          <p:spPr>
            <a:xfrm>
              <a:off x="940735" y="2001439"/>
              <a:ext cx="294803" cy="294803"/>
            </a:xfrm>
            <a:prstGeom prst="rect">
              <a:avLst/>
            </a:prstGeom>
          </p:spPr>
        </p:pic>
        <p:sp>
          <p:nvSpPr>
            <p:cNvPr id="11" name="Part 4"/>
            <p:cNvSpPr txBox="1"/>
            <p:nvPr/>
          </p:nvSpPr>
          <p:spPr>
            <a:xfrm>
              <a:off x="1536192" y="1783080"/>
              <a:ext cx="246888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Giới thiệu &amp; quảng bá</a:t>
              </a:r>
              <a:endParaRPr lang="en-US" sz="1500" dirty="0"/>
            </a:p>
          </p:txBody>
        </p:sp>
        <p:sp>
          <p:nvSpPr>
            <p:cNvPr id="12" name="Part 5"/>
            <p:cNvSpPr txBox="1"/>
            <p:nvPr/>
          </p:nvSpPr>
          <p:spPr>
            <a:xfrm>
              <a:off x="1536192" y="2121408"/>
              <a:ext cx="2468880" cy="457200"/>
            </a:xfrm>
            <a:prstGeom prst="rect">
              <a:avLst/>
            </a:prstGeom>
            <a:noFill/>
            <a:ln/>
          </p:spPr>
          <p:txBody>
            <a:bodyPr wrap="square" lIns="0" tIns="0" rIns="0" bIns="0" rtlCol="0" anchor="t"/>
            <a:lstStyle/>
            <a:p>
              <a:pPr marL="0" indent="0" algn="l">
                <a:buNone/>
              </a:pPr>
              <a:r>
                <a:rPr lang="en-US" sz="1200" dirty="0">
                  <a:solidFill>
                    <a:srgbClr val="6B7280"/>
                  </a:solidFill>
                  <a:latin typeface="Arial" pitchFamily="34" charset="0"/>
                  <a:ea typeface="Arial" pitchFamily="34" charset="-122"/>
                  <a:cs typeface="Arial" pitchFamily="34" charset="-120"/>
                </a:rPr>
                <a:t>Hình ảnh trường, chương trình học</a:t>
              </a:r>
              <a:endParaRPr lang="en-US" sz="1200" dirty="0"/>
            </a:p>
          </p:txBody>
        </p:sp>
      </p:grpSp>
      <p:grpSp>
        <p:nvGrpSpPr>
          <p:cNvPr id="39" name="Group 8">
            <a:extLst>
              <a:ext uri="{FF2B5EF4-FFF2-40B4-BE49-F238E27FC236}">
                <a16:creationId xmlns:a16="http://schemas.microsoft.com/office/drawing/2014/main" id="{ACC7CE61-202A-7EC1-74E9-591409BFC3B6}"/>
              </a:ext>
            </a:extLst>
          </p:cNvPr>
          <p:cNvGrpSpPr/>
          <p:nvPr/>
        </p:nvGrpSpPr>
        <p:grpSpPr>
          <a:xfrm>
            <a:off x="4334256" y="1600200"/>
            <a:ext cx="3520440" cy="1097280"/>
            <a:chOff x="4334256" y="1600200"/>
            <a:chExt cx="3520440" cy="1097280"/>
          </a:xfrm>
        </p:grpSpPr>
        <p:sp>
          <p:nvSpPr>
            <p:cNvPr id="13" name="Part 1"/>
            <p:cNvSpPr/>
            <p:nvPr/>
          </p:nvSpPr>
          <p:spPr>
            <a:xfrm>
              <a:off x="4334256" y="1600200"/>
              <a:ext cx="3520440" cy="1097280"/>
            </a:xfrm>
            <a:prstGeom prst="roundRect">
              <a:avLst>
                <a:gd name="adj" fmla="val 10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14" name="Part 2"/>
            <p:cNvSpPr/>
            <p:nvPr/>
          </p:nvSpPr>
          <p:spPr>
            <a:xfrm>
              <a:off x="4590288" y="1865376"/>
              <a:ext cx="566928" cy="566928"/>
            </a:xfrm>
            <a:prstGeom prst="ellipse">
              <a:avLst/>
            </a:prstGeom>
            <a:solidFill>
              <a:srgbClr val="E5B53A"/>
            </a:solidFill>
            <a:ln/>
          </p:spPr>
        </p:sp>
        <p:pic>
          <p:nvPicPr>
            <p:cNvPr id="15" name="Part 3" descr="Biểu tượng"/>
            <p:cNvPicPr>
              <a:picLocks noChangeAspect="1"/>
            </p:cNvPicPr>
            <p:nvPr/>
          </p:nvPicPr>
          <p:blipFill>
            <a:blip r:embed="rId4"/>
            <a:stretch>
              <a:fillRect/>
            </a:stretch>
          </p:blipFill>
          <p:spPr>
            <a:xfrm>
              <a:off x="4726351" y="2001439"/>
              <a:ext cx="294803" cy="294803"/>
            </a:xfrm>
            <a:prstGeom prst="rect">
              <a:avLst/>
            </a:prstGeom>
          </p:spPr>
        </p:pic>
        <p:sp>
          <p:nvSpPr>
            <p:cNvPr id="16" name="Part 4"/>
            <p:cNvSpPr txBox="1"/>
            <p:nvPr/>
          </p:nvSpPr>
          <p:spPr>
            <a:xfrm>
              <a:off x="5321808" y="1783080"/>
              <a:ext cx="246888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Cập nhật thông tin</a:t>
              </a:r>
              <a:endParaRPr lang="en-US" sz="1500" dirty="0"/>
            </a:p>
          </p:txBody>
        </p:sp>
        <p:sp>
          <p:nvSpPr>
            <p:cNvPr id="17" name="Part 5"/>
            <p:cNvSpPr txBox="1"/>
            <p:nvPr/>
          </p:nvSpPr>
          <p:spPr>
            <a:xfrm>
              <a:off x="5321808" y="2121408"/>
              <a:ext cx="2468880" cy="457200"/>
            </a:xfrm>
            <a:prstGeom prst="rect">
              <a:avLst/>
            </a:prstGeom>
            <a:noFill/>
            <a:ln/>
          </p:spPr>
          <p:txBody>
            <a:bodyPr wrap="square" lIns="0" tIns="0" rIns="0" bIns="0" rtlCol="0" anchor="t"/>
            <a:lstStyle/>
            <a:p>
              <a:pPr marL="0" indent="0" algn="l">
                <a:buNone/>
              </a:pPr>
              <a:r>
                <a:rPr lang="en-US" sz="1200" dirty="0">
                  <a:solidFill>
                    <a:srgbClr val="6B7280"/>
                  </a:solidFill>
                  <a:latin typeface="Arial" pitchFamily="34" charset="0"/>
                  <a:ea typeface="Arial" pitchFamily="34" charset="-122"/>
                  <a:cs typeface="Arial" pitchFamily="34" charset="-120"/>
                </a:rPr>
                <a:t>Tin tức – hoạt động, thư viện ảnh</a:t>
              </a:r>
              <a:endParaRPr lang="en-US" sz="1200" dirty="0"/>
            </a:p>
          </p:txBody>
        </p:sp>
      </p:grpSp>
      <p:grpSp>
        <p:nvGrpSpPr>
          <p:cNvPr id="40" name="Group 9">
            <a:extLst>
              <a:ext uri="{FF2B5EF4-FFF2-40B4-BE49-F238E27FC236}">
                <a16:creationId xmlns:a16="http://schemas.microsoft.com/office/drawing/2014/main" id="{3442DB9C-5F18-7241-D4B2-8F68B9B8E531}"/>
              </a:ext>
            </a:extLst>
          </p:cNvPr>
          <p:cNvGrpSpPr/>
          <p:nvPr/>
        </p:nvGrpSpPr>
        <p:grpSpPr>
          <a:xfrm>
            <a:off x="8119872" y="1600200"/>
            <a:ext cx="3520440" cy="1097280"/>
            <a:chOff x="8119872" y="1600200"/>
            <a:chExt cx="3520440" cy="1097280"/>
          </a:xfrm>
        </p:grpSpPr>
        <p:sp>
          <p:nvSpPr>
            <p:cNvPr id="18" name="Part 1"/>
            <p:cNvSpPr/>
            <p:nvPr/>
          </p:nvSpPr>
          <p:spPr>
            <a:xfrm>
              <a:off x="8119872" y="1600200"/>
              <a:ext cx="3520440" cy="1097280"/>
            </a:xfrm>
            <a:prstGeom prst="roundRect">
              <a:avLst>
                <a:gd name="adj" fmla="val 10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19" name="Part 2"/>
            <p:cNvSpPr/>
            <p:nvPr/>
          </p:nvSpPr>
          <p:spPr>
            <a:xfrm>
              <a:off x="8375904" y="1865376"/>
              <a:ext cx="566928" cy="566928"/>
            </a:xfrm>
            <a:prstGeom prst="ellipse">
              <a:avLst/>
            </a:prstGeom>
            <a:solidFill>
              <a:srgbClr val="E5B53A"/>
            </a:solidFill>
            <a:ln/>
          </p:spPr>
        </p:sp>
        <p:pic>
          <p:nvPicPr>
            <p:cNvPr id="20" name="Part 3" descr="Biểu tượng"/>
            <p:cNvPicPr>
              <a:picLocks noChangeAspect="1"/>
            </p:cNvPicPr>
            <p:nvPr/>
          </p:nvPicPr>
          <p:blipFill>
            <a:blip r:embed="rId5"/>
            <a:stretch>
              <a:fillRect/>
            </a:stretch>
          </p:blipFill>
          <p:spPr>
            <a:xfrm>
              <a:off x="8511967" y="2001439"/>
              <a:ext cx="294803" cy="294803"/>
            </a:xfrm>
            <a:prstGeom prst="rect">
              <a:avLst/>
            </a:prstGeom>
          </p:spPr>
        </p:pic>
        <p:sp>
          <p:nvSpPr>
            <p:cNvPr id="21" name="Part 4"/>
            <p:cNvSpPr txBox="1"/>
            <p:nvPr/>
          </p:nvSpPr>
          <p:spPr>
            <a:xfrm>
              <a:off x="9107424" y="1783080"/>
              <a:ext cx="246888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Tuyển sinh trực tuyến</a:t>
              </a:r>
              <a:endParaRPr lang="en-US" sz="1500" dirty="0"/>
            </a:p>
          </p:txBody>
        </p:sp>
        <p:sp>
          <p:nvSpPr>
            <p:cNvPr id="22" name="Part 5"/>
            <p:cNvSpPr txBox="1"/>
            <p:nvPr/>
          </p:nvSpPr>
          <p:spPr>
            <a:xfrm>
              <a:off x="9107424" y="2121408"/>
              <a:ext cx="2468880" cy="457200"/>
            </a:xfrm>
            <a:prstGeom prst="rect">
              <a:avLst/>
            </a:prstGeom>
            <a:noFill/>
            <a:ln/>
          </p:spPr>
          <p:txBody>
            <a:bodyPr wrap="square" lIns="0" tIns="0" rIns="0" bIns="0" rtlCol="0" anchor="t"/>
            <a:lstStyle/>
            <a:p>
              <a:pPr marL="0" indent="0" algn="l">
                <a:buNone/>
              </a:pPr>
              <a:r>
                <a:rPr lang="en-US" sz="1200" dirty="0">
                  <a:solidFill>
                    <a:srgbClr val="6B7280"/>
                  </a:solidFill>
                  <a:latin typeface="Arial" pitchFamily="34" charset="0"/>
                  <a:ea typeface="Arial" pitchFamily="34" charset="-122"/>
                  <a:cs typeface="Arial" pitchFamily="34" charset="-120"/>
                </a:rPr>
                <a:t>Nhận và xử lý hồ sơ nhập học</a:t>
              </a:r>
              <a:endParaRPr lang="en-US" sz="1200" dirty="0"/>
            </a:p>
          </p:txBody>
        </p:sp>
      </p:grpSp>
      <p:grpSp>
        <p:nvGrpSpPr>
          <p:cNvPr id="41" name="Group 10">
            <a:extLst>
              <a:ext uri="{FF2B5EF4-FFF2-40B4-BE49-F238E27FC236}">
                <a16:creationId xmlns:a16="http://schemas.microsoft.com/office/drawing/2014/main" id="{B13D0FC2-0653-4B63-A7BD-75C18B9DCAA6}"/>
              </a:ext>
            </a:extLst>
          </p:cNvPr>
          <p:cNvGrpSpPr/>
          <p:nvPr/>
        </p:nvGrpSpPr>
        <p:grpSpPr>
          <a:xfrm>
            <a:off x="548640" y="2926080"/>
            <a:ext cx="5468112" cy="2606040"/>
            <a:chOff x="548640" y="2926080"/>
            <a:chExt cx="5468112" cy="2606040"/>
          </a:xfrm>
        </p:grpSpPr>
        <p:sp>
          <p:nvSpPr>
            <p:cNvPr id="23" name="Part 1"/>
            <p:cNvSpPr/>
            <p:nvPr/>
          </p:nvSpPr>
          <p:spPr>
            <a:xfrm>
              <a:off x="548640" y="2926080"/>
              <a:ext cx="5468112" cy="2606040"/>
            </a:xfrm>
            <a:prstGeom prst="roundRect">
              <a:avLst>
                <a:gd name="adj" fmla="val 4211"/>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4" name="Part 2"/>
            <p:cNvSpPr/>
            <p:nvPr/>
          </p:nvSpPr>
          <p:spPr>
            <a:xfrm>
              <a:off x="822960" y="3182112"/>
              <a:ext cx="603504" cy="603504"/>
            </a:xfrm>
            <a:prstGeom prst="ellipse">
              <a:avLst/>
            </a:prstGeom>
            <a:solidFill>
              <a:srgbClr val="E8EDF5"/>
            </a:solidFill>
            <a:ln/>
          </p:spPr>
        </p:sp>
        <p:pic>
          <p:nvPicPr>
            <p:cNvPr id="25" name="Part 3" descr="Biểu tượng"/>
            <p:cNvPicPr>
              <a:picLocks noChangeAspect="1"/>
            </p:cNvPicPr>
            <p:nvPr/>
          </p:nvPicPr>
          <p:blipFill>
            <a:blip r:embed="rId6"/>
            <a:stretch>
              <a:fillRect/>
            </a:stretch>
          </p:blipFill>
          <p:spPr>
            <a:xfrm>
              <a:off x="973836" y="3332988"/>
              <a:ext cx="301752" cy="301752"/>
            </a:xfrm>
            <a:prstGeom prst="rect">
              <a:avLst/>
            </a:prstGeom>
          </p:spPr>
        </p:pic>
        <p:sp>
          <p:nvSpPr>
            <p:cNvPr id="26" name="Part 4"/>
            <p:cNvSpPr txBox="1"/>
            <p:nvPr/>
          </p:nvSpPr>
          <p:spPr>
            <a:xfrm>
              <a:off x="1600200" y="3154680"/>
              <a:ext cx="4114800" cy="347472"/>
            </a:xfrm>
            <a:prstGeom prst="rect">
              <a:avLst/>
            </a:prstGeom>
            <a:noFill/>
            <a:ln/>
          </p:spPr>
          <p:txBody>
            <a:bodyPr wrap="square" lIns="0" tIns="0" rIns="0" bIns="0" rtlCol="0" anchor="t"/>
            <a:lstStyle/>
            <a:p>
              <a:pPr marL="0" indent="0" algn="l">
                <a:buNone/>
              </a:pPr>
              <a:r>
                <a:rPr lang="en-US" sz="1800" b="1" dirty="0">
                  <a:solidFill>
                    <a:srgbClr val="0F2C59"/>
                  </a:solidFill>
                  <a:latin typeface="Arial" pitchFamily="34" charset="0"/>
                  <a:ea typeface="Arial" pitchFamily="34" charset="-122"/>
                  <a:cs typeface="Arial" pitchFamily="34" charset="-120"/>
                </a:rPr>
                <a:t>Phụ huynh / Học sinh</a:t>
              </a:r>
              <a:endParaRPr lang="en-US" sz="1800" dirty="0"/>
            </a:p>
          </p:txBody>
        </p:sp>
        <p:sp>
          <p:nvSpPr>
            <p:cNvPr id="27" name="Part 5"/>
            <p:cNvSpPr txBox="1"/>
            <p:nvPr/>
          </p:nvSpPr>
          <p:spPr>
            <a:xfrm>
              <a:off x="1600200" y="3502152"/>
              <a:ext cx="4206240" cy="274320"/>
            </a:xfrm>
            <a:prstGeom prst="rect">
              <a:avLst/>
            </a:prstGeom>
            <a:noFill/>
            <a:ln/>
          </p:spPr>
          <p:txBody>
            <a:bodyPr wrap="square" lIns="0" tIns="0" rIns="0" bIns="0" rtlCol="0" anchor="t"/>
            <a:lstStyle/>
            <a:p>
              <a:pPr marL="0" indent="0" algn="l">
                <a:buNone/>
              </a:pPr>
              <a:r>
                <a:rPr lang="en-US" sz="1200" b="1" dirty="0">
                  <a:solidFill>
                    <a:srgbClr val="8A6510"/>
                  </a:solidFill>
                  <a:latin typeface="Arial" pitchFamily="34" charset="0"/>
                  <a:ea typeface="Arial" pitchFamily="34" charset="-122"/>
                  <a:cs typeface="Arial" pitchFamily="34" charset="-120"/>
                </a:rPr>
                <a:t>Khách truy cập – không cần đăng nhập</a:t>
              </a:r>
              <a:endParaRPr lang="en-US" sz="1200" dirty="0"/>
            </a:p>
          </p:txBody>
        </p:sp>
        <p:sp>
          <p:nvSpPr>
            <p:cNvPr id="28" name="Part 6"/>
            <p:cNvSpPr txBox="1"/>
            <p:nvPr/>
          </p:nvSpPr>
          <p:spPr>
            <a:xfrm>
              <a:off x="868680" y="4023360"/>
              <a:ext cx="4892040" cy="1417320"/>
            </a:xfrm>
            <a:prstGeom prst="rect">
              <a:avLst/>
            </a:prstGeom>
            <a:noFill/>
            <a:ln/>
          </p:spPr>
          <p:txBody>
            <a:bodyPr wrap="square" lIns="0" tIns="0" rIns="0" bIns="0" rtlCol="0" anchor="t"/>
            <a:lstStyle/>
            <a:p>
              <a:pPr marL="203200" indent="-203200">
                <a:spcAft>
                  <a:spcPts val="1200"/>
                </a:spcAft>
                <a:buSzPct val="100000"/>
                <a:buChar char="•"/>
              </a:pPr>
              <a:r>
                <a:rPr lang="en-US" sz="1450" dirty="0">
                  <a:solidFill>
                    <a:srgbClr val="374151"/>
                  </a:solidFill>
                  <a:latin typeface="Arial" pitchFamily="34" charset="0"/>
                  <a:ea typeface="Arial" pitchFamily="34" charset="-122"/>
                  <a:cs typeface="Arial" pitchFamily="34" charset="-120"/>
                </a:rPr>
                <a:t>Xem giới thiệu trường, chương trình đào tạo</a:t>
              </a:r>
              <a:endParaRPr lang="en-US" sz="1450" dirty="0"/>
            </a:p>
            <a:p>
              <a:pPr marL="203200" indent="-203200">
                <a:spcAft>
                  <a:spcPts val="1200"/>
                </a:spcAft>
                <a:buSzPct val="100000"/>
                <a:buChar char="•"/>
              </a:pPr>
              <a:r>
                <a:rPr lang="en-US" sz="1450" dirty="0">
                  <a:solidFill>
                    <a:srgbClr val="374151"/>
                  </a:solidFill>
                  <a:latin typeface="Arial" pitchFamily="34" charset="0"/>
                  <a:ea typeface="Arial" pitchFamily="34" charset="-122"/>
                  <a:cs typeface="Arial" pitchFamily="34" charset="-120"/>
                </a:rPr>
                <a:t>Đọc tin tức – sự kiện, xem thư viện ảnh</a:t>
              </a:r>
              <a:endParaRPr lang="en-US" sz="1450" dirty="0"/>
            </a:p>
            <a:p>
              <a:pPr marL="203200" indent="-203200">
                <a:spcAft>
                  <a:spcPts val="1200"/>
                </a:spcAft>
                <a:buSzPct val="100000"/>
                <a:buChar char="•"/>
              </a:pPr>
              <a:r>
                <a:rPr lang="en-US" sz="1450" dirty="0">
                  <a:solidFill>
                    <a:srgbClr val="374151"/>
                  </a:solidFill>
                  <a:latin typeface="Arial" pitchFamily="34" charset="0"/>
                  <a:ea typeface="Arial" pitchFamily="34" charset="-122"/>
                  <a:cs typeface="Arial" pitchFamily="34" charset="-120"/>
                </a:rPr>
                <a:t>Gửi hồ sơ đăng ký nhập học kèm học bạ</a:t>
              </a:r>
              <a:endParaRPr lang="en-US" sz="1450" dirty="0"/>
            </a:p>
          </p:txBody>
        </p:sp>
      </p:grpSp>
      <p:grpSp>
        <p:nvGrpSpPr>
          <p:cNvPr id="42" name="Group 11">
            <a:extLst>
              <a:ext uri="{FF2B5EF4-FFF2-40B4-BE49-F238E27FC236}">
                <a16:creationId xmlns:a16="http://schemas.microsoft.com/office/drawing/2014/main" id="{570E94E4-16E2-05FC-A8C3-59347C0BCD19}"/>
              </a:ext>
            </a:extLst>
          </p:cNvPr>
          <p:cNvGrpSpPr/>
          <p:nvPr/>
        </p:nvGrpSpPr>
        <p:grpSpPr>
          <a:xfrm>
            <a:off x="6172200" y="2926080"/>
            <a:ext cx="5468112" cy="2606040"/>
            <a:chOff x="6172200" y="2926080"/>
            <a:chExt cx="5468112" cy="2606040"/>
          </a:xfrm>
        </p:grpSpPr>
        <p:sp>
          <p:nvSpPr>
            <p:cNvPr id="29" name="Part 1"/>
            <p:cNvSpPr/>
            <p:nvPr/>
          </p:nvSpPr>
          <p:spPr>
            <a:xfrm>
              <a:off x="6172200" y="2926080"/>
              <a:ext cx="5468112" cy="2606040"/>
            </a:xfrm>
            <a:prstGeom prst="roundRect">
              <a:avLst>
                <a:gd name="adj" fmla="val 4211"/>
              </a:avLst>
            </a:prstGeom>
            <a:solidFill>
              <a:srgbClr val="0F2C59"/>
            </a:solidFill>
            <a:ln/>
            <a:effectLst>
              <a:outerShdw blurRad="127000" dist="38100" dir="5400000" algn="bl" rotWithShape="0">
                <a:srgbClr val="0F2C59">
                  <a:alpha val="12000"/>
                </a:srgbClr>
              </a:outerShdw>
            </a:effectLst>
          </p:spPr>
        </p:sp>
        <p:sp>
          <p:nvSpPr>
            <p:cNvPr id="30" name="Part 2"/>
            <p:cNvSpPr/>
            <p:nvPr/>
          </p:nvSpPr>
          <p:spPr>
            <a:xfrm>
              <a:off x="6446520" y="3182112"/>
              <a:ext cx="603504" cy="603504"/>
            </a:xfrm>
            <a:prstGeom prst="ellipse">
              <a:avLst/>
            </a:prstGeom>
            <a:solidFill>
              <a:srgbClr val="1B3E73"/>
            </a:solidFill>
            <a:ln/>
          </p:spPr>
        </p:sp>
        <p:pic>
          <p:nvPicPr>
            <p:cNvPr id="31" name="Part 3" descr="Biểu tượng"/>
            <p:cNvPicPr>
              <a:picLocks noChangeAspect="1"/>
            </p:cNvPicPr>
            <p:nvPr/>
          </p:nvPicPr>
          <p:blipFill>
            <a:blip r:embed="rId7"/>
            <a:stretch>
              <a:fillRect/>
            </a:stretch>
          </p:blipFill>
          <p:spPr>
            <a:xfrm>
              <a:off x="6597396" y="3332988"/>
              <a:ext cx="301752" cy="301752"/>
            </a:xfrm>
            <a:prstGeom prst="rect">
              <a:avLst/>
            </a:prstGeom>
          </p:spPr>
        </p:pic>
        <p:sp>
          <p:nvSpPr>
            <p:cNvPr id="32" name="Part 4"/>
            <p:cNvSpPr txBox="1"/>
            <p:nvPr/>
          </p:nvSpPr>
          <p:spPr>
            <a:xfrm>
              <a:off x="7223760" y="3154680"/>
              <a:ext cx="4114800" cy="347472"/>
            </a:xfrm>
            <a:prstGeom prst="rect">
              <a:avLst/>
            </a:prstGeom>
            <a:noFill/>
            <a:ln/>
          </p:spPr>
          <p:txBody>
            <a:bodyPr wrap="square" lIns="0" tIns="0" rIns="0" bIns="0" rtlCol="0" anchor="t"/>
            <a:lstStyle/>
            <a:p>
              <a:pPr marL="0" indent="0" algn="l">
                <a:buNone/>
              </a:pPr>
              <a:r>
                <a:rPr lang="en-US" sz="1800" b="1" dirty="0">
                  <a:solidFill>
                    <a:srgbClr val="FFFFFF"/>
                  </a:solidFill>
                  <a:latin typeface="Arial" pitchFamily="34" charset="0"/>
                  <a:ea typeface="Arial" pitchFamily="34" charset="-122"/>
                  <a:cs typeface="Arial" pitchFamily="34" charset="-120"/>
                </a:rPr>
                <a:t>Quản trị viên</a:t>
              </a:r>
              <a:endParaRPr lang="en-US" sz="1800" dirty="0"/>
            </a:p>
          </p:txBody>
        </p:sp>
        <p:sp>
          <p:nvSpPr>
            <p:cNvPr id="33" name="Part 5"/>
            <p:cNvSpPr txBox="1"/>
            <p:nvPr/>
          </p:nvSpPr>
          <p:spPr>
            <a:xfrm>
              <a:off x="7223760" y="3502152"/>
              <a:ext cx="4206240" cy="274320"/>
            </a:xfrm>
            <a:prstGeom prst="rect">
              <a:avLst/>
            </a:prstGeom>
            <a:noFill/>
            <a:ln/>
          </p:spPr>
          <p:txBody>
            <a:bodyPr wrap="square" lIns="0" tIns="0" rIns="0" bIns="0" rtlCol="0" anchor="t"/>
            <a:lstStyle/>
            <a:p>
              <a:pPr marL="0" indent="0" algn="l">
                <a:buNone/>
              </a:pPr>
              <a:r>
                <a:rPr lang="en-US" sz="1200" b="1" dirty="0">
                  <a:solidFill>
                    <a:srgbClr val="E5B53A"/>
                  </a:solidFill>
                  <a:latin typeface="Arial" pitchFamily="34" charset="0"/>
                  <a:ea typeface="Arial" pitchFamily="34" charset="-122"/>
                  <a:cs typeface="Arial" pitchFamily="34" charset="-120"/>
                </a:rPr>
                <a:t>Đăng nhập – 2 vai trò: admin, bien_tap</a:t>
              </a:r>
              <a:endParaRPr lang="en-US" sz="1200" dirty="0"/>
            </a:p>
          </p:txBody>
        </p:sp>
        <p:sp>
          <p:nvSpPr>
            <p:cNvPr id="34" name="Part 6"/>
            <p:cNvSpPr txBox="1"/>
            <p:nvPr/>
          </p:nvSpPr>
          <p:spPr>
            <a:xfrm>
              <a:off x="6492240" y="4023360"/>
              <a:ext cx="4937760" cy="1417320"/>
            </a:xfrm>
            <a:prstGeom prst="rect">
              <a:avLst/>
            </a:prstGeom>
            <a:noFill/>
            <a:ln/>
          </p:spPr>
          <p:txBody>
            <a:bodyPr wrap="square" lIns="0" tIns="0" rIns="0" bIns="0" rtlCol="0" anchor="t"/>
            <a:lstStyle/>
            <a:p>
              <a:pPr marL="203200" indent="-203200">
                <a:spcAft>
                  <a:spcPts val="1200"/>
                </a:spcAft>
                <a:buSzPct val="100000"/>
                <a:buChar char="•"/>
              </a:pPr>
              <a:r>
                <a:rPr lang="en-US" sz="1450" dirty="0">
                  <a:solidFill>
                    <a:srgbClr val="DCE4F2"/>
                  </a:solidFill>
                  <a:latin typeface="Arial" pitchFamily="34" charset="0"/>
                  <a:ea typeface="Arial" pitchFamily="34" charset="-122"/>
                  <a:cs typeface="Arial" pitchFamily="34" charset="-120"/>
                </a:rPr>
                <a:t>Quản lý tin tức, chương trình, hình ảnh</a:t>
              </a:r>
              <a:endParaRPr lang="en-US" sz="1450" dirty="0"/>
            </a:p>
            <a:p>
              <a:pPr marL="203200" indent="-203200">
                <a:spcAft>
                  <a:spcPts val="1200"/>
                </a:spcAft>
                <a:buSzPct val="100000"/>
                <a:buChar char="•"/>
              </a:pPr>
              <a:r>
                <a:rPr lang="en-US" sz="1450" dirty="0">
                  <a:solidFill>
                    <a:srgbClr val="DCE4F2"/>
                  </a:solidFill>
                  <a:latin typeface="Arial" pitchFamily="34" charset="0"/>
                  <a:ea typeface="Arial" pitchFamily="34" charset="-122"/>
                  <a:cs typeface="Arial" pitchFamily="34" charset="-120"/>
                </a:rPr>
                <a:t>Xử lý hồ sơ: mới → đang xử lý → đã liên hệ / từ chối</a:t>
              </a:r>
              <a:endParaRPr lang="en-US" sz="1450" dirty="0"/>
            </a:p>
            <a:p>
              <a:pPr marL="203200" indent="-203200">
                <a:spcAft>
                  <a:spcPts val="1200"/>
                </a:spcAft>
                <a:buSzPct val="100000"/>
                <a:buChar char="•"/>
              </a:pPr>
              <a:r>
                <a:rPr lang="en-US" sz="1450" dirty="0">
                  <a:solidFill>
                    <a:srgbClr val="DCE4F2"/>
                  </a:solidFill>
                  <a:latin typeface="Arial" pitchFamily="34" charset="0"/>
                  <a:ea typeface="Arial" pitchFamily="34" charset="-122"/>
                  <a:cs typeface="Arial" pitchFamily="34" charset="-120"/>
                </a:rPr>
                <a:t>admin: thêm quyền quản lý tài khoản và cài đặt</a:t>
              </a:r>
              <a:endParaRPr lang="en-US" sz="1450" dirty="0"/>
            </a:p>
          </p:txBody>
        </p:sp>
      </p:grpSp>
      <p:grpSp>
        <p:nvGrpSpPr>
          <p:cNvPr id="43" name="Group 12">
            <a:extLst>
              <a:ext uri="{FF2B5EF4-FFF2-40B4-BE49-F238E27FC236}">
                <a16:creationId xmlns:a16="http://schemas.microsoft.com/office/drawing/2014/main" id="{4BE27D41-D866-CBC2-DE8D-A685B5BDFF3B}"/>
              </a:ext>
            </a:extLst>
          </p:cNvPr>
          <p:cNvGrpSpPr/>
          <p:nvPr/>
        </p:nvGrpSpPr>
        <p:grpSpPr>
          <a:xfrm>
            <a:off x="548640" y="5715000"/>
            <a:ext cx="11091672" cy="457200"/>
            <a:chOff x="548640" y="5715000"/>
            <a:chExt cx="11091672" cy="457200"/>
          </a:xfrm>
        </p:grpSpPr>
        <p:sp>
          <p:nvSpPr>
            <p:cNvPr id="35" name="Part 1"/>
            <p:cNvSpPr/>
            <p:nvPr/>
          </p:nvSpPr>
          <p:spPr>
            <a:xfrm>
              <a:off x="548640" y="5715000"/>
              <a:ext cx="11091672" cy="457200"/>
            </a:xfrm>
            <a:prstGeom prst="roundRect">
              <a:avLst>
                <a:gd name="adj" fmla="val 50000"/>
              </a:avLst>
            </a:prstGeom>
            <a:solidFill>
              <a:srgbClr val="EEF0F3"/>
            </a:solidFill>
            <a:ln/>
          </p:spPr>
        </p:sp>
        <p:pic>
          <p:nvPicPr>
            <p:cNvPr id="36" name="Part 2" descr="Biểu tượng"/>
            <p:cNvPicPr>
              <a:picLocks noChangeAspect="1"/>
            </p:cNvPicPr>
            <p:nvPr/>
          </p:nvPicPr>
          <p:blipFill>
            <a:blip r:embed="rId8"/>
            <a:stretch>
              <a:fillRect/>
            </a:stretch>
          </p:blipFill>
          <p:spPr>
            <a:xfrm>
              <a:off x="749808" y="5788152"/>
              <a:ext cx="310896" cy="310896"/>
            </a:xfrm>
            <a:prstGeom prst="rect">
              <a:avLst/>
            </a:prstGeom>
          </p:spPr>
        </p:pic>
        <p:sp>
          <p:nvSpPr>
            <p:cNvPr id="37" name="Part 3"/>
            <p:cNvSpPr txBox="1"/>
            <p:nvPr/>
          </p:nvSpPr>
          <p:spPr>
            <a:xfrm>
              <a:off x="1188720" y="5715000"/>
              <a:ext cx="10241280" cy="457200"/>
            </a:xfrm>
            <a:prstGeom prst="rect">
              <a:avLst/>
            </a:prstGeom>
            <a:noFill/>
            <a:ln/>
          </p:spPr>
          <p:txBody>
            <a:bodyPr wrap="square" lIns="0" tIns="0" rIns="0" bIns="0" rtlCol="0" anchor="ctr"/>
            <a:lstStyle/>
            <a:p>
              <a:pPr marL="0" indent="0" algn="l">
                <a:buNone/>
              </a:pPr>
              <a:r>
                <a:rPr lang="en-US" sz="1250" b="1" dirty="0">
                  <a:solidFill>
                    <a:srgbClr val="374151"/>
                  </a:solidFill>
                  <a:latin typeface="Arial" pitchFamily="34" charset="0"/>
                  <a:ea typeface="Arial" pitchFamily="34" charset="-122"/>
                  <a:cs typeface="Arial" pitchFamily="34" charset="-120"/>
                </a:rPr>
                <a:t>Ngoài phạm vi: </a:t>
              </a:r>
              <a:r>
                <a:rPr lang="en-US" sz="1250" dirty="0">
                  <a:solidFill>
                    <a:srgbClr val="6B7280"/>
                  </a:solidFill>
                  <a:latin typeface="Arial" pitchFamily="34" charset="0"/>
                  <a:ea typeface="Arial" pitchFamily="34" charset="-122"/>
                  <a:cs typeface="Arial" pitchFamily="34" charset="-120"/>
                </a:rPr>
                <a:t>điểm danh · điểm số · thời khóa biểu · học phí · thanh toán · đa ngôn ngữ · gửi email thật</a:t>
              </a:r>
              <a:endParaRPr lang="en-US" sz="125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50"/>
                                        <p:tgtEl>
                                          <p:spTgt spid="38"/>
                                        </p:tgtEl>
                                      </p:cBhvr>
                                    </p:animEffect>
                                    <p:anim calcmode="lin" valueType="num">
                                      <p:cBhvr>
                                        <p:cTn id="8" dur="550" fill="hold"/>
                                        <p:tgtEl>
                                          <p:spTgt spid="38"/>
                                        </p:tgtEl>
                                        <p:attrNameLst>
                                          <p:attrName>ppt_x</p:attrName>
                                        </p:attrNameLst>
                                      </p:cBhvr>
                                      <p:tavLst>
                                        <p:tav tm="0">
                                          <p:val>
                                            <p:strVal val="#ppt_x"/>
                                          </p:val>
                                        </p:tav>
                                        <p:tav tm="100000">
                                          <p:val>
                                            <p:strVal val="#ppt_x"/>
                                          </p:val>
                                        </p:tav>
                                      </p:tavLst>
                                    </p:anim>
                                    <p:anim calcmode="lin" valueType="num">
                                      <p:cBhvr>
                                        <p:cTn id="9" dur="550" fill="hold"/>
                                        <p:tgtEl>
                                          <p:spTgt spid="3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50"/>
                                        <p:tgtEl>
                                          <p:spTgt spid="39"/>
                                        </p:tgtEl>
                                      </p:cBhvr>
                                    </p:animEffect>
                                    <p:anim calcmode="lin" valueType="num">
                                      <p:cBhvr>
                                        <p:cTn id="13" dur="550" fill="hold"/>
                                        <p:tgtEl>
                                          <p:spTgt spid="39"/>
                                        </p:tgtEl>
                                        <p:attrNameLst>
                                          <p:attrName>ppt_x</p:attrName>
                                        </p:attrNameLst>
                                      </p:cBhvr>
                                      <p:tavLst>
                                        <p:tav tm="0">
                                          <p:val>
                                            <p:strVal val="#ppt_x"/>
                                          </p:val>
                                        </p:tav>
                                        <p:tav tm="100000">
                                          <p:val>
                                            <p:strVal val="#ppt_x"/>
                                          </p:val>
                                        </p:tav>
                                      </p:tavLst>
                                    </p:anim>
                                    <p:anim calcmode="lin" valueType="num">
                                      <p:cBhvr>
                                        <p:cTn id="14" dur="550" fill="hold"/>
                                        <p:tgtEl>
                                          <p:spTgt spid="3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4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50"/>
                                        <p:tgtEl>
                                          <p:spTgt spid="40"/>
                                        </p:tgtEl>
                                      </p:cBhvr>
                                    </p:animEffect>
                                    <p:anim calcmode="lin" valueType="num">
                                      <p:cBhvr>
                                        <p:cTn id="18" dur="550" fill="hold"/>
                                        <p:tgtEl>
                                          <p:spTgt spid="40"/>
                                        </p:tgtEl>
                                        <p:attrNameLst>
                                          <p:attrName>ppt_x</p:attrName>
                                        </p:attrNameLst>
                                      </p:cBhvr>
                                      <p:tavLst>
                                        <p:tav tm="0">
                                          <p:val>
                                            <p:strVal val="#ppt_x"/>
                                          </p:val>
                                        </p:tav>
                                        <p:tav tm="100000">
                                          <p:val>
                                            <p:strVal val="#ppt_x"/>
                                          </p:val>
                                        </p:tav>
                                      </p:tavLst>
                                    </p:anim>
                                    <p:anim calcmode="lin" valueType="num">
                                      <p:cBhvr>
                                        <p:cTn id="19" dur="550" fill="hold"/>
                                        <p:tgtEl>
                                          <p:spTgt spid="40"/>
                                        </p:tgtEl>
                                        <p:attrNameLst>
                                          <p:attrName>ppt_y</p:attrName>
                                        </p:attrNameLst>
                                      </p:cBhvr>
                                      <p:tavLst>
                                        <p:tav tm="0">
                                          <p:val>
                                            <p:strVal val="#ppt_y+.1"/>
                                          </p:val>
                                        </p:tav>
                                        <p:tav tm="100000">
                                          <p:val>
                                            <p:strVal val="#ppt_y"/>
                                          </p:val>
                                        </p:tav>
                                      </p:tavLst>
                                    </p:anim>
                                  </p:childTnLst>
                                </p:cTn>
                              </p:par>
                            </p:childTnLst>
                          </p:cTn>
                        </p:par>
                        <p:par>
                          <p:cTn id="20" fill="hold">
                            <p:stCondLst>
                              <p:cond delay="790"/>
                            </p:stCondLst>
                            <p:childTnLst>
                              <p:par>
                                <p:cTn id="21" presetID="10" presetClass="entr" presetSubtype="0"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500"/>
                                        <p:tgtEl>
                                          <p:spTgt spid="41"/>
                                        </p:tgtEl>
                                      </p:cBhvr>
                                    </p:animEffect>
                                  </p:childTnLst>
                                </p:cTn>
                              </p:par>
                              <p:par>
                                <p:cTn id="24" presetID="10" presetClass="entr" presetSubtype="0" fill="hold" nodeType="withEffect">
                                  <p:stCondLst>
                                    <p:cond delay="24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childTnLst>
                          </p:cTn>
                        </p:par>
                        <p:par>
                          <p:cTn id="27" fill="hold">
                            <p:stCondLst>
                              <p:cond delay="1530"/>
                            </p:stCondLst>
                            <p:childTnLst>
                              <p:par>
                                <p:cTn id="28" presetID="10" presetClass="entr" presetSubtype="0" fill="hold" nodeType="after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Công nghệ và môi trường thực hiện</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Stack PHP/MySQL thuần theo đề cương – không framework, không bước build</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02 · CÔNG NGHỆ</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05 / 18</a:t>
            </a:r>
            <a:endParaRPr lang="en-US" sz="1000" dirty="0"/>
          </a:p>
        </p:txBody>
      </p:sp>
      <p:grpSp>
        <p:nvGrpSpPr>
          <p:cNvPr id="44" name="Group 7">
            <a:extLst>
              <a:ext uri="{FF2B5EF4-FFF2-40B4-BE49-F238E27FC236}">
                <a16:creationId xmlns:a16="http://schemas.microsoft.com/office/drawing/2014/main" id="{7C1AA2B9-1BB9-ADB1-E12B-69153132F64B}"/>
              </a:ext>
            </a:extLst>
          </p:cNvPr>
          <p:cNvGrpSpPr/>
          <p:nvPr/>
        </p:nvGrpSpPr>
        <p:grpSpPr>
          <a:xfrm>
            <a:off x="548640" y="1600200"/>
            <a:ext cx="3520440" cy="2011680"/>
            <a:chOff x="548640" y="1600200"/>
            <a:chExt cx="3520440" cy="2011680"/>
          </a:xfrm>
        </p:grpSpPr>
        <p:sp>
          <p:nvSpPr>
            <p:cNvPr id="8" name="Part 1"/>
            <p:cNvSpPr/>
            <p:nvPr/>
          </p:nvSpPr>
          <p:spPr>
            <a:xfrm>
              <a:off x="548640" y="1600200"/>
              <a:ext cx="3520440" cy="2011680"/>
            </a:xfrm>
            <a:prstGeom prst="roundRect">
              <a:avLst>
                <a:gd name="adj" fmla="val 5455"/>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9" name="Part 2"/>
            <p:cNvSpPr/>
            <p:nvPr/>
          </p:nvSpPr>
          <p:spPr>
            <a:xfrm>
              <a:off x="804672" y="1856232"/>
              <a:ext cx="658368" cy="658368"/>
            </a:xfrm>
            <a:prstGeom prst="ellipse">
              <a:avLst/>
            </a:prstGeom>
            <a:solidFill>
              <a:srgbClr val="FFFFFF"/>
            </a:solidFill>
            <a:ln w="12700">
              <a:solidFill>
                <a:srgbClr val="E5E7EB"/>
              </a:solidFill>
              <a:prstDash val="solid"/>
            </a:ln>
          </p:spPr>
        </p:sp>
        <p:pic>
          <p:nvPicPr>
            <p:cNvPr id="10" name="Part 3" descr="Biểu tượng"/>
            <p:cNvPicPr>
              <a:picLocks noChangeAspect="1"/>
            </p:cNvPicPr>
            <p:nvPr/>
          </p:nvPicPr>
          <p:blipFill>
            <a:blip r:embed="rId3"/>
            <a:stretch>
              <a:fillRect/>
            </a:stretch>
          </p:blipFill>
          <p:spPr>
            <a:xfrm>
              <a:off x="929762" y="1981322"/>
              <a:ext cx="408188" cy="408188"/>
            </a:xfrm>
            <a:prstGeom prst="rect">
              <a:avLst/>
            </a:prstGeom>
          </p:spPr>
        </p:pic>
        <p:sp>
          <p:nvSpPr>
            <p:cNvPr id="11" name="Part 4"/>
            <p:cNvSpPr txBox="1"/>
            <p:nvPr/>
          </p:nvSpPr>
          <p:spPr>
            <a:xfrm>
              <a:off x="1600200" y="1874520"/>
              <a:ext cx="2377440" cy="347472"/>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PHP 8.2</a:t>
              </a:r>
              <a:endParaRPr lang="en-US" sz="1600" dirty="0"/>
            </a:p>
          </p:txBody>
        </p:sp>
        <p:sp>
          <p:nvSpPr>
            <p:cNvPr id="12" name="Part 5"/>
            <p:cNvSpPr txBox="1"/>
            <p:nvPr/>
          </p:nvSpPr>
          <p:spPr>
            <a:xfrm>
              <a:off x="1600200" y="2221992"/>
              <a:ext cx="2377440" cy="256032"/>
            </a:xfrm>
            <a:prstGeom prst="rect">
              <a:avLst/>
            </a:prstGeom>
            <a:noFill/>
            <a:ln/>
          </p:spPr>
          <p:txBody>
            <a:bodyPr wrap="square" lIns="0" tIns="0" rIns="0" bIns="0" rtlCol="0" anchor="t"/>
            <a:lstStyle/>
            <a:p>
              <a:pPr marL="0" indent="0" algn="l">
                <a:buNone/>
              </a:pPr>
              <a:r>
                <a:rPr lang="en-US" sz="1050" b="1" kern="0" spc="100" dirty="0">
                  <a:solidFill>
                    <a:srgbClr val="8A6510"/>
                  </a:solidFill>
                  <a:latin typeface="Arial" pitchFamily="34" charset="0"/>
                  <a:ea typeface="Arial" pitchFamily="34" charset="-122"/>
                  <a:cs typeface="Arial" pitchFamily="34" charset="-120"/>
                </a:rPr>
                <a:t>BACKEND</a:t>
              </a:r>
              <a:endParaRPr lang="en-US" sz="1050" dirty="0"/>
            </a:p>
          </p:txBody>
        </p:sp>
        <p:sp>
          <p:nvSpPr>
            <p:cNvPr id="13" name="Part 6"/>
            <p:cNvSpPr txBox="1"/>
            <p:nvPr/>
          </p:nvSpPr>
          <p:spPr>
            <a:xfrm>
              <a:off x="822960" y="2697480"/>
              <a:ext cx="3017520" cy="777240"/>
            </a:xfrm>
            <a:prstGeom prst="rect">
              <a:avLst/>
            </a:prstGeom>
            <a:noFill/>
            <a:ln/>
          </p:spPr>
          <p:txBody>
            <a:bodyPr wrap="square" lIns="0" tIns="0" rIns="0" bIns="0" rtlCol="0" anchor="t"/>
            <a:lstStyle/>
            <a:p>
              <a:pPr marL="0" indent="0" algn="l">
                <a:buNone/>
              </a:pPr>
              <a:r>
                <a:rPr lang="en-US" sz="1250" dirty="0">
                  <a:solidFill>
                    <a:srgbClr val="374151"/>
                  </a:solidFill>
                  <a:latin typeface="Arial" pitchFamily="34" charset="0"/>
                  <a:ea typeface="Arial" pitchFamily="34" charset="-122"/>
                  <a:cs typeface="Arial" pitchFamily="34" charset="-120"/>
                </a:rPr>
                <a:t>MVC tự xây: Router, Controller, Model, View – không dùng framework</a:t>
              </a:r>
              <a:endParaRPr lang="en-US" sz="1250" dirty="0"/>
            </a:p>
          </p:txBody>
        </p:sp>
      </p:grpSp>
      <p:grpSp>
        <p:nvGrpSpPr>
          <p:cNvPr id="45" name="Group 8">
            <a:extLst>
              <a:ext uri="{FF2B5EF4-FFF2-40B4-BE49-F238E27FC236}">
                <a16:creationId xmlns:a16="http://schemas.microsoft.com/office/drawing/2014/main" id="{62F5B48C-6432-CE77-5B73-3F6F4891E1DE}"/>
              </a:ext>
            </a:extLst>
          </p:cNvPr>
          <p:cNvGrpSpPr/>
          <p:nvPr/>
        </p:nvGrpSpPr>
        <p:grpSpPr>
          <a:xfrm>
            <a:off x="4334256" y="1600200"/>
            <a:ext cx="3520440" cy="2011680"/>
            <a:chOff x="4334256" y="1600200"/>
            <a:chExt cx="3520440" cy="2011680"/>
          </a:xfrm>
        </p:grpSpPr>
        <p:sp>
          <p:nvSpPr>
            <p:cNvPr id="14" name="Part 1"/>
            <p:cNvSpPr/>
            <p:nvPr/>
          </p:nvSpPr>
          <p:spPr>
            <a:xfrm>
              <a:off x="4334256" y="1600200"/>
              <a:ext cx="3520440" cy="2011680"/>
            </a:xfrm>
            <a:prstGeom prst="roundRect">
              <a:avLst>
                <a:gd name="adj" fmla="val 5455"/>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15" name="Part 2"/>
            <p:cNvSpPr/>
            <p:nvPr/>
          </p:nvSpPr>
          <p:spPr>
            <a:xfrm>
              <a:off x="4590288" y="1856232"/>
              <a:ext cx="658368" cy="658368"/>
            </a:xfrm>
            <a:prstGeom prst="ellipse">
              <a:avLst/>
            </a:prstGeom>
            <a:solidFill>
              <a:srgbClr val="FFFFFF"/>
            </a:solidFill>
            <a:ln w="12700">
              <a:solidFill>
                <a:srgbClr val="E5E7EB"/>
              </a:solidFill>
              <a:prstDash val="solid"/>
            </a:ln>
          </p:spPr>
        </p:sp>
        <p:pic>
          <p:nvPicPr>
            <p:cNvPr id="16" name="Part 3" descr="Biểu tượng"/>
            <p:cNvPicPr>
              <a:picLocks noChangeAspect="1"/>
            </p:cNvPicPr>
            <p:nvPr/>
          </p:nvPicPr>
          <p:blipFill>
            <a:blip r:embed="rId4"/>
            <a:stretch>
              <a:fillRect/>
            </a:stretch>
          </p:blipFill>
          <p:spPr>
            <a:xfrm>
              <a:off x="4715378" y="1981322"/>
              <a:ext cx="408188" cy="408188"/>
            </a:xfrm>
            <a:prstGeom prst="rect">
              <a:avLst/>
            </a:prstGeom>
          </p:spPr>
        </p:pic>
        <p:sp>
          <p:nvSpPr>
            <p:cNvPr id="17" name="Part 4"/>
            <p:cNvSpPr txBox="1"/>
            <p:nvPr/>
          </p:nvSpPr>
          <p:spPr>
            <a:xfrm>
              <a:off x="5385816" y="1874520"/>
              <a:ext cx="2377440" cy="347472"/>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MySQL 8.0 + PDO</a:t>
              </a:r>
              <a:endParaRPr lang="en-US" sz="1600" dirty="0"/>
            </a:p>
          </p:txBody>
        </p:sp>
        <p:sp>
          <p:nvSpPr>
            <p:cNvPr id="18" name="Part 5"/>
            <p:cNvSpPr txBox="1"/>
            <p:nvPr/>
          </p:nvSpPr>
          <p:spPr>
            <a:xfrm>
              <a:off x="5385816" y="2221992"/>
              <a:ext cx="2377440" cy="256032"/>
            </a:xfrm>
            <a:prstGeom prst="rect">
              <a:avLst/>
            </a:prstGeom>
            <a:noFill/>
            <a:ln/>
          </p:spPr>
          <p:txBody>
            <a:bodyPr wrap="square" lIns="0" tIns="0" rIns="0" bIns="0" rtlCol="0" anchor="t"/>
            <a:lstStyle/>
            <a:p>
              <a:pPr marL="0" indent="0" algn="l">
                <a:buNone/>
              </a:pPr>
              <a:r>
                <a:rPr lang="en-US" sz="1050" b="1" kern="0" spc="100" dirty="0">
                  <a:solidFill>
                    <a:srgbClr val="8A6510"/>
                  </a:solidFill>
                  <a:latin typeface="Arial" pitchFamily="34" charset="0"/>
                  <a:ea typeface="Arial" pitchFamily="34" charset="-122"/>
                  <a:cs typeface="Arial" pitchFamily="34" charset="-120"/>
                </a:rPr>
                <a:t>CƠ SỞ DỮ LIỆU</a:t>
              </a:r>
              <a:endParaRPr lang="en-US" sz="1050" dirty="0"/>
            </a:p>
          </p:txBody>
        </p:sp>
        <p:sp>
          <p:nvSpPr>
            <p:cNvPr id="19" name="Part 6"/>
            <p:cNvSpPr txBox="1"/>
            <p:nvPr/>
          </p:nvSpPr>
          <p:spPr>
            <a:xfrm>
              <a:off x="4608576" y="2697480"/>
              <a:ext cx="3017520" cy="777240"/>
            </a:xfrm>
            <a:prstGeom prst="rect">
              <a:avLst/>
            </a:prstGeom>
            <a:noFill/>
            <a:ln/>
          </p:spPr>
          <p:txBody>
            <a:bodyPr wrap="square" lIns="0" tIns="0" rIns="0" bIns="0" rtlCol="0" anchor="t"/>
            <a:lstStyle/>
            <a:p>
              <a:pPr marL="0" indent="0" algn="l">
                <a:buNone/>
              </a:pPr>
              <a:r>
                <a:rPr lang="en-US" sz="1250" dirty="0">
                  <a:solidFill>
                    <a:srgbClr val="374151"/>
                  </a:solidFill>
                  <a:latin typeface="Arial" pitchFamily="34" charset="0"/>
                  <a:ea typeface="Arial" pitchFamily="34" charset="-122"/>
                  <a:cs typeface="Arial" pitchFamily="34" charset="-120"/>
                </a:rPr>
                <a:t>6 bảng utf8mb4, khóa ngoại, prepared statement cho mọi truy vấn</a:t>
              </a:r>
              <a:endParaRPr lang="en-US" sz="1250" dirty="0"/>
            </a:p>
          </p:txBody>
        </p:sp>
      </p:grpSp>
      <p:grpSp>
        <p:nvGrpSpPr>
          <p:cNvPr id="46" name="Group 9">
            <a:extLst>
              <a:ext uri="{FF2B5EF4-FFF2-40B4-BE49-F238E27FC236}">
                <a16:creationId xmlns:a16="http://schemas.microsoft.com/office/drawing/2014/main" id="{5A3349E7-B386-8DD3-0CAF-E90268671C98}"/>
              </a:ext>
            </a:extLst>
          </p:cNvPr>
          <p:cNvGrpSpPr/>
          <p:nvPr/>
        </p:nvGrpSpPr>
        <p:grpSpPr>
          <a:xfrm>
            <a:off x="8119872" y="1600200"/>
            <a:ext cx="3520440" cy="2011680"/>
            <a:chOff x="8119872" y="1600200"/>
            <a:chExt cx="3520440" cy="2011680"/>
          </a:xfrm>
        </p:grpSpPr>
        <p:sp>
          <p:nvSpPr>
            <p:cNvPr id="20" name="Part 1"/>
            <p:cNvSpPr/>
            <p:nvPr/>
          </p:nvSpPr>
          <p:spPr>
            <a:xfrm>
              <a:off x="8119872" y="1600200"/>
              <a:ext cx="3520440" cy="2011680"/>
            </a:xfrm>
            <a:prstGeom prst="roundRect">
              <a:avLst>
                <a:gd name="adj" fmla="val 5455"/>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1" name="Part 2"/>
            <p:cNvSpPr/>
            <p:nvPr/>
          </p:nvSpPr>
          <p:spPr>
            <a:xfrm>
              <a:off x="8375904" y="1856232"/>
              <a:ext cx="658368" cy="658368"/>
            </a:xfrm>
            <a:prstGeom prst="ellipse">
              <a:avLst/>
            </a:prstGeom>
            <a:solidFill>
              <a:srgbClr val="FFFFFF"/>
            </a:solidFill>
            <a:ln w="12700">
              <a:solidFill>
                <a:srgbClr val="E5E7EB"/>
              </a:solidFill>
              <a:prstDash val="solid"/>
            </a:ln>
          </p:spPr>
        </p:sp>
        <p:pic>
          <p:nvPicPr>
            <p:cNvPr id="22" name="Part 3" descr="Biểu tượng"/>
            <p:cNvPicPr>
              <a:picLocks noChangeAspect="1"/>
            </p:cNvPicPr>
            <p:nvPr/>
          </p:nvPicPr>
          <p:blipFill>
            <a:blip r:embed="rId5"/>
            <a:stretch>
              <a:fillRect/>
            </a:stretch>
          </p:blipFill>
          <p:spPr>
            <a:xfrm>
              <a:off x="8500994" y="1981322"/>
              <a:ext cx="408188" cy="408188"/>
            </a:xfrm>
            <a:prstGeom prst="rect">
              <a:avLst/>
            </a:prstGeom>
          </p:spPr>
        </p:pic>
        <p:sp>
          <p:nvSpPr>
            <p:cNvPr id="23" name="Part 4"/>
            <p:cNvSpPr txBox="1"/>
            <p:nvPr/>
          </p:nvSpPr>
          <p:spPr>
            <a:xfrm>
              <a:off x="9171432" y="1874520"/>
              <a:ext cx="2377440" cy="347472"/>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HTML · CSS · JS</a:t>
              </a:r>
              <a:endParaRPr lang="en-US" sz="1600" dirty="0"/>
            </a:p>
          </p:txBody>
        </p:sp>
        <p:sp>
          <p:nvSpPr>
            <p:cNvPr id="24" name="Part 5"/>
            <p:cNvSpPr txBox="1"/>
            <p:nvPr/>
          </p:nvSpPr>
          <p:spPr>
            <a:xfrm>
              <a:off x="9171432" y="2221992"/>
              <a:ext cx="2377440" cy="256032"/>
            </a:xfrm>
            <a:prstGeom prst="rect">
              <a:avLst/>
            </a:prstGeom>
            <a:noFill/>
            <a:ln/>
          </p:spPr>
          <p:txBody>
            <a:bodyPr wrap="square" lIns="0" tIns="0" rIns="0" bIns="0" rtlCol="0" anchor="t"/>
            <a:lstStyle/>
            <a:p>
              <a:pPr marL="0" indent="0" algn="l">
                <a:buNone/>
              </a:pPr>
              <a:r>
                <a:rPr lang="en-US" sz="1050" b="1" kern="0" spc="100" dirty="0">
                  <a:solidFill>
                    <a:srgbClr val="8A6510"/>
                  </a:solidFill>
                  <a:latin typeface="Arial" pitchFamily="34" charset="0"/>
                  <a:ea typeface="Arial" pitchFamily="34" charset="-122"/>
                  <a:cs typeface="Arial" pitchFamily="34" charset="-120"/>
                </a:rPr>
                <a:t>GIAO DIỆN</a:t>
              </a:r>
              <a:endParaRPr lang="en-US" sz="1050" dirty="0"/>
            </a:p>
          </p:txBody>
        </p:sp>
        <p:sp>
          <p:nvSpPr>
            <p:cNvPr id="25" name="Part 6"/>
            <p:cNvSpPr txBox="1"/>
            <p:nvPr/>
          </p:nvSpPr>
          <p:spPr>
            <a:xfrm>
              <a:off x="8394192" y="2697480"/>
              <a:ext cx="3017520" cy="777240"/>
            </a:xfrm>
            <a:prstGeom prst="rect">
              <a:avLst/>
            </a:prstGeom>
            <a:noFill/>
            <a:ln/>
          </p:spPr>
          <p:txBody>
            <a:bodyPr wrap="square" lIns="0" tIns="0" rIns="0" bIns="0" rtlCol="0" anchor="t"/>
            <a:lstStyle/>
            <a:p>
              <a:pPr marL="0" indent="0" algn="l">
                <a:buNone/>
              </a:pPr>
              <a:r>
                <a:rPr lang="en-US" sz="1250" dirty="0">
                  <a:solidFill>
                    <a:srgbClr val="374151"/>
                  </a:solidFill>
                  <a:latin typeface="Arial" pitchFamily="34" charset="0"/>
                  <a:ea typeface="Arial" pitchFamily="34" charset="-122"/>
                  <a:cs typeface="Arial" pitchFamily="34" charset="-120"/>
                </a:rPr>
                <a:t>CSS thuần tông navy – gold, responsive; JS: menu, lightbox, xem trước ảnh</a:t>
              </a:r>
              <a:endParaRPr lang="en-US" sz="1250" dirty="0"/>
            </a:p>
          </p:txBody>
        </p:sp>
      </p:grpSp>
      <p:grpSp>
        <p:nvGrpSpPr>
          <p:cNvPr id="47" name="Group 10">
            <a:extLst>
              <a:ext uri="{FF2B5EF4-FFF2-40B4-BE49-F238E27FC236}">
                <a16:creationId xmlns:a16="http://schemas.microsoft.com/office/drawing/2014/main" id="{C2052E8A-CF7F-CA1B-A192-76E20E2F0AB2}"/>
              </a:ext>
            </a:extLst>
          </p:cNvPr>
          <p:cNvGrpSpPr/>
          <p:nvPr/>
        </p:nvGrpSpPr>
        <p:grpSpPr>
          <a:xfrm>
            <a:off x="548640" y="3840480"/>
            <a:ext cx="3520440" cy="2011680"/>
            <a:chOff x="548640" y="3840480"/>
            <a:chExt cx="3520440" cy="2011680"/>
          </a:xfrm>
        </p:grpSpPr>
        <p:sp>
          <p:nvSpPr>
            <p:cNvPr id="26" name="Part 1"/>
            <p:cNvSpPr/>
            <p:nvPr/>
          </p:nvSpPr>
          <p:spPr>
            <a:xfrm>
              <a:off x="548640" y="3840480"/>
              <a:ext cx="3520440" cy="2011680"/>
            </a:xfrm>
            <a:prstGeom prst="roundRect">
              <a:avLst>
                <a:gd name="adj" fmla="val 5455"/>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7" name="Part 2"/>
            <p:cNvSpPr/>
            <p:nvPr/>
          </p:nvSpPr>
          <p:spPr>
            <a:xfrm>
              <a:off x="804672" y="4096512"/>
              <a:ext cx="658368" cy="658368"/>
            </a:xfrm>
            <a:prstGeom prst="ellipse">
              <a:avLst/>
            </a:prstGeom>
            <a:solidFill>
              <a:srgbClr val="FFFFFF"/>
            </a:solidFill>
            <a:ln w="12700">
              <a:solidFill>
                <a:srgbClr val="E5E7EB"/>
              </a:solidFill>
              <a:prstDash val="solid"/>
            </a:ln>
          </p:spPr>
        </p:sp>
        <p:pic>
          <p:nvPicPr>
            <p:cNvPr id="28" name="Part 3" descr="Biểu tượng"/>
            <p:cNvPicPr>
              <a:picLocks noChangeAspect="1"/>
            </p:cNvPicPr>
            <p:nvPr/>
          </p:nvPicPr>
          <p:blipFill>
            <a:blip r:embed="rId6"/>
            <a:stretch>
              <a:fillRect/>
            </a:stretch>
          </p:blipFill>
          <p:spPr>
            <a:xfrm>
              <a:off x="929762" y="4221602"/>
              <a:ext cx="408188" cy="408188"/>
            </a:xfrm>
            <a:prstGeom prst="rect">
              <a:avLst/>
            </a:prstGeom>
          </p:spPr>
        </p:pic>
        <p:sp>
          <p:nvSpPr>
            <p:cNvPr id="29" name="Part 4"/>
            <p:cNvSpPr txBox="1"/>
            <p:nvPr/>
          </p:nvSpPr>
          <p:spPr>
            <a:xfrm>
              <a:off x="1600200" y="4114800"/>
              <a:ext cx="2377440" cy="347472"/>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Apache + mod_rewrite</a:t>
              </a:r>
              <a:endParaRPr lang="en-US" sz="1600" dirty="0"/>
            </a:p>
          </p:txBody>
        </p:sp>
        <p:sp>
          <p:nvSpPr>
            <p:cNvPr id="30" name="Part 5"/>
            <p:cNvSpPr txBox="1"/>
            <p:nvPr/>
          </p:nvSpPr>
          <p:spPr>
            <a:xfrm>
              <a:off x="1600200" y="4462272"/>
              <a:ext cx="2377440" cy="256032"/>
            </a:xfrm>
            <a:prstGeom prst="rect">
              <a:avLst/>
            </a:prstGeom>
            <a:noFill/>
            <a:ln/>
          </p:spPr>
          <p:txBody>
            <a:bodyPr wrap="square" lIns="0" tIns="0" rIns="0" bIns="0" rtlCol="0" anchor="t"/>
            <a:lstStyle/>
            <a:p>
              <a:pPr marL="0" indent="0" algn="l">
                <a:buNone/>
              </a:pPr>
              <a:r>
                <a:rPr lang="en-US" sz="1050" b="1" kern="0" spc="100" dirty="0">
                  <a:solidFill>
                    <a:srgbClr val="8A6510"/>
                  </a:solidFill>
                  <a:latin typeface="Arial" pitchFamily="34" charset="0"/>
                  <a:ea typeface="Arial" pitchFamily="34" charset="-122"/>
                  <a:cs typeface="Arial" pitchFamily="34" charset="-120"/>
                </a:rPr>
                <a:t>WEB SERVER</a:t>
              </a:r>
              <a:endParaRPr lang="en-US" sz="1050" dirty="0"/>
            </a:p>
          </p:txBody>
        </p:sp>
        <p:sp>
          <p:nvSpPr>
            <p:cNvPr id="31" name="Part 6"/>
            <p:cNvSpPr txBox="1"/>
            <p:nvPr/>
          </p:nvSpPr>
          <p:spPr>
            <a:xfrm>
              <a:off x="822960" y="4937760"/>
              <a:ext cx="3017520" cy="777240"/>
            </a:xfrm>
            <a:prstGeom prst="rect">
              <a:avLst/>
            </a:prstGeom>
            <a:noFill/>
            <a:ln/>
          </p:spPr>
          <p:txBody>
            <a:bodyPr wrap="square" lIns="0" tIns="0" rIns="0" bIns="0" rtlCol="0" anchor="t"/>
            <a:lstStyle/>
            <a:p>
              <a:pPr marL="0" indent="0" algn="l">
                <a:buNone/>
              </a:pPr>
              <a:r>
                <a:rPr lang="en-US" sz="1250" dirty="0">
                  <a:solidFill>
                    <a:srgbClr val="374151"/>
                  </a:solidFill>
                  <a:latin typeface="Arial" pitchFamily="34" charset="0"/>
                  <a:ea typeface="Arial" pitchFamily="34" charset="-122"/>
                  <a:cs typeface="Arial" pitchFamily="34" charset="-120"/>
                </a:rPr>
                <a:t>Mọi request đi qua public/index.php (front controller)</a:t>
              </a:r>
              <a:endParaRPr lang="en-US" sz="1250" dirty="0"/>
            </a:p>
          </p:txBody>
        </p:sp>
      </p:grpSp>
      <p:grpSp>
        <p:nvGrpSpPr>
          <p:cNvPr id="48" name="Group 11">
            <a:extLst>
              <a:ext uri="{FF2B5EF4-FFF2-40B4-BE49-F238E27FC236}">
                <a16:creationId xmlns:a16="http://schemas.microsoft.com/office/drawing/2014/main" id="{6A073A2D-0863-D782-DC5B-FC07337DFED7}"/>
              </a:ext>
            </a:extLst>
          </p:cNvPr>
          <p:cNvGrpSpPr/>
          <p:nvPr/>
        </p:nvGrpSpPr>
        <p:grpSpPr>
          <a:xfrm>
            <a:off x="4334256" y="3840480"/>
            <a:ext cx="3520440" cy="2011680"/>
            <a:chOff x="4334256" y="3840480"/>
            <a:chExt cx="3520440" cy="2011680"/>
          </a:xfrm>
        </p:grpSpPr>
        <p:sp>
          <p:nvSpPr>
            <p:cNvPr id="32" name="Part 1"/>
            <p:cNvSpPr/>
            <p:nvPr/>
          </p:nvSpPr>
          <p:spPr>
            <a:xfrm>
              <a:off x="4334256" y="3840480"/>
              <a:ext cx="3520440" cy="2011680"/>
            </a:xfrm>
            <a:prstGeom prst="roundRect">
              <a:avLst>
                <a:gd name="adj" fmla="val 5455"/>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3" name="Part 2"/>
            <p:cNvSpPr/>
            <p:nvPr/>
          </p:nvSpPr>
          <p:spPr>
            <a:xfrm>
              <a:off x="4590288" y="4096512"/>
              <a:ext cx="658368" cy="658368"/>
            </a:xfrm>
            <a:prstGeom prst="ellipse">
              <a:avLst/>
            </a:prstGeom>
            <a:solidFill>
              <a:srgbClr val="FFFFFF"/>
            </a:solidFill>
            <a:ln w="12700">
              <a:solidFill>
                <a:srgbClr val="E5E7EB"/>
              </a:solidFill>
              <a:prstDash val="solid"/>
            </a:ln>
          </p:spPr>
        </p:sp>
        <p:pic>
          <p:nvPicPr>
            <p:cNvPr id="34" name="Part 3" descr="Biểu tượng"/>
            <p:cNvPicPr>
              <a:picLocks noChangeAspect="1"/>
            </p:cNvPicPr>
            <p:nvPr/>
          </p:nvPicPr>
          <p:blipFill>
            <a:blip r:embed="rId7"/>
            <a:stretch>
              <a:fillRect/>
            </a:stretch>
          </p:blipFill>
          <p:spPr>
            <a:xfrm>
              <a:off x="4715378" y="4221602"/>
              <a:ext cx="408188" cy="408188"/>
            </a:xfrm>
            <a:prstGeom prst="rect">
              <a:avLst/>
            </a:prstGeom>
          </p:spPr>
        </p:pic>
        <p:sp>
          <p:nvSpPr>
            <p:cNvPr id="35" name="Part 4"/>
            <p:cNvSpPr txBox="1"/>
            <p:nvPr/>
          </p:nvSpPr>
          <p:spPr>
            <a:xfrm>
              <a:off x="5385816" y="4114800"/>
              <a:ext cx="2377440" cy="347472"/>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Docker Compose</a:t>
              </a:r>
              <a:endParaRPr lang="en-US" sz="1600" dirty="0"/>
            </a:p>
          </p:txBody>
        </p:sp>
        <p:sp>
          <p:nvSpPr>
            <p:cNvPr id="36" name="Part 5"/>
            <p:cNvSpPr txBox="1"/>
            <p:nvPr/>
          </p:nvSpPr>
          <p:spPr>
            <a:xfrm>
              <a:off x="5385816" y="4462272"/>
              <a:ext cx="2377440" cy="256032"/>
            </a:xfrm>
            <a:prstGeom prst="rect">
              <a:avLst/>
            </a:prstGeom>
            <a:noFill/>
            <a:ln/>
          </p:spPr>
          <p:txBody>
            <a:bodyPr wrap="square" lIns="0" tIns="0" rIns="0" bIns="0" rtlCol="0" anchor="t"/>
            <a:lstStyle/>
            <a:p>
              <a:pPr marL="0" indent="0" algn="l">
                <a:buNone/>
              </a:pPr>
              <a:r>
                <a:rPr lang="en-US" sz="1050" b="1" kern="0" spc="100" dirty="0">
                  <a:solidFill>
                    <a:srgbClr val="8A6510"/>
                  </a:solidFill>
                  <a:latin typeface="Arial" pitchFamily="34" charset="0"/>
                  <a:ea typeface="Arial" pitchFamily="34" charset="-122"/>
                  <a:cs typeface="Arial" pitchFamily="34" charset="-120"/>
                </a:rPr>
                <a:t>MÔI TRƯỜNG</a:t>
              </a:r>
              <a:endParaRPr lang="en-US" sz="1050" dirty="0"/>
            </a:p>
          </p:txBody>
        </p:sp>
        <p:sp>
          <p:nvSpPr>
            <p:cNvPr id="37" name="Part 6"/>
            <p:cNvSpPr txBox="1"/>
            <p:nvPr/>
          </p:nvSpPr>
          <p:spPr>
            <a:xfrm>
              <a:off x="4608576" y="4937760"/>
              <a:ext cx="3017520" cy="777240"/>
            </a:xfrm>
            <a:prstGeom prst="rect">
              <a:avLst/>
            </a:prstGeom>
            <a:noFill/>
            <a:ln/>
          </p:spPr>
          <p:txBody>
            <a:bodyPr wrap="square" lIns="0" tIns="0" rIns="0" bIns="0" rtlCol="0" anchor="t"/>
            <a:lstStyle/>
            <a:p>
              <a:pPr marL="0" indent="0" algn="l">
                <a:buNone/>
              </a:pPr>
              <a:r>
                <a:rPr lang="en-US" sz="1250" dirty="0">
                  <a:solidFill>
                    <a:srgbClr val="374151"/>
                  </a:solidFill>
                  <a:latin typeface="Arial" pitchFamily="34" charset="0"/>
                  <a:ea typeface="Arial" pitchFamily="34" charset="-122"/>
                  <a:cs typeface="Arial" pitchFamily="34" charset="-120"/>
                </a:rPr>
                <a:t>3 dịch vụ: web (php:8.2-apache), db (MySQL 8.0), phpMyAdmin</a:t>
              </a:r>
              <a:endParaRPr lang="en-US" sz="1250" dirty="0"/>
            </a:p>
          </p:txBody>
        </p:sp>
      </p:grpSp>
      <p:grpSp>
        <p:nvGrpSpPr>
          <p:cNvPr id="49" name="Group 12">
            <a:extLst>
              <a:ext uri="{FF2B5EF4-FFF2-40B4-BE49-F238E27FC236}">
                <a16:creationId xmlns:a16="http://schemas.microsoft.com/office/drawing/2014/main" id="{C49BDBA5-E9DB-D9E5-CE9E-AAE8762BF742}"/>
              </a:ext>
            </a:extLst>
          </p:cNvPr>
          <p:cNvGrpSpPr/>
          <p:nvPr/>
        </p:nvGrpSpPr>
        <p:grpSpPr>
          <a:xfrm>
            <a:off x="8119872" y="3840480"/>
            <a:ext cx="3520440" cy="2011680"/>
            <a:chOff x="8119872" y="3840480"/>
            <a:chExt cx="3520440" cy="2011680"/>
          </a:xfrm>
        </p:grpSpPr>
        <p:sp>
          <p:nvSpPr>
            <p:cNvPr id="38" name="Part 1"/>
            <p:cNvSpPr/>
            <p:nvPr/>
          </p:nvSpPr>
          <p:spPr>
            <a:xfrm>
              <a:off x="8119872" y="3840480"/>
              <a:ext cx="3520440" cy="2011680"/>
            </a:xfrm>
            <a:prstGeom prst="roundRect">
              <a:avLst>
                <a:gd name="adj" fmla="val 5455"/>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9" name="Part 2"/>
            <p:cNvSpPr/>
            <p:nvPr/>
          </p:nvSpPr>
          <p:spPr>
            <a:xfrm>
              <a:off x="8375904" y="4096512"/>
              <a:ext cx="658368" cy="658368"/>
            </a:xfrm>
            <a:prstGeom prst="ellipse">
              <a:avLst/>
            </a:prstGeom>
            <a:solidFill>
              <a:srgbClr val="FFFFFF"/>
            </a:solidFill>
            <a:ln w="12700">
              <a:solidFill>
                <a:srgbClr val="E5E7EB"/>
              </a:solidFill>
              <a:prstDash val="solid"/>
            </a:ln>
          </p:spPr>
        </p:sp>
        <p:pic>
          <p:nvPicPr>
            <p:cNvPr id="40" name="Part 3" descr="Biểu tượng"/>
            <p:cNvPicPr>
              <a:picLocks noChangeAspect="1"/>
            </p:cNvPicPr>
            <p:nvPr/>
          </p:nvPicPr>
          <p:blipFill>
            <a:blip r:embed="rId8"/>
            <a:stretch>
              <a:fillRect/>
            </a:stretch>
          </p:blipFill>
          <p:spPr>
            <a:xfrm>
              <a:off x="8500994" y="4221602"/>
              <a:ext cx="408188" cy="408188"/>
            </a:xfrm>
            <a:prstGeom prst="rect">
              <a:avLst/>
            </a:prstGeom>
          </p:spPr>
        </p:pic>
        <p:sp>
          <p:nvSpPr>
            <p:cNvPr id="41" name="Part 4"/>
            <p:cNvSpPr txBox="1"/>
            <p:nvPr/>
          </p:nvSpPr>
          <p:spPr>
            <a:xfrm>
              <a:off x="9171432" y="4114800"/>
              <a:ext cx="2377440" cy="347472"/>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Git + GitHub</a:t>
              </a:r>
              <a:endParaRPr lang="en-US" sz="1600" dirty="0"/>
            </a:p>
          </p:txBody>
        </p:sp>
        <p:sp>
          <p:nvSpPr>
            <p:cNvPr id="42" name="Part 5"/>
            <p:cNvSpPr txBox="1"/>
            <p:nvPr/>
          </p:nvSpPr>
          <p:spPr>
            <a:xfrm>
              <a:off x="9171432" y="4462272"/>
              <a:ext cx="2377440" cy="256032"/>
            </a:xfrm>
            <a:prstGeom prst="rect">
              <a:avLst/>
            </a:prstGeom>
            <a:noFill/>
            <a:ln/>
          </p:spPr>
          <p:txBody>
            <a:bodyPr wrap="square" lIns="0" tIns="0" rIns="0" bIns="0" rtlCol="0" anchor="t"/>
            <a:lstStyle/>
            <a:p>
              <a:pPr marL="0" indent="0" algn="l">
                <a:buNone/>
              </a:pPr>
              <a:r>
                <a:rPr lang="en-US" sz="1050" b="1" kern="0" spc="100" dirty="0">
                  <a:solidFill>
                    <a:srgbClr val="8A6510"/>
                  </a:solidFill>
                  <a:latin typeface="Arial" pitchFamily="34" charset="0"/>
                  <a:ea typeface="Arial" pitchFamily="34" charset="-122"/>
                  <a:cs typeface="Arial" pitchFamily="34" charset="-120"/>
                </a:rPr>
                <a:t>QUẢN LÝ MÃ NGUỒN</a:t>
              </a:r>
              <a:endParaRPr lang="en-US" sz="1050" dirty="0"/>
            </a:p>
          </p:txBody>
        </p:sp>
        <p:sp>
          <p:nvSpPr>
            <p:cNvPr id="43" name="Part 6"/>
            <p:cNvSpPr txBox="1"/>
            <p:nvPr/>
          </p:nvSpPr>
          <p:spPr>
            <a:xfrm>
              <a:off x="8394192" y="4937760"/>
              <a:ext cx="3017520" cy="777240"/>
            </a:xfrm>
            <a:prstGeom prst="rect">
              <a:avLst/>
            </a:prstGeom>
            <a:noFill/>
            <a:ln/>
          </p:spPr>
          <p:txBody>
            <a:bodyPr wrap="square" lIns="0" tIns="0" rIns="0" bIns="0" rtlCol="0" anchor="t"/>
            <a:lstStyle/>
            <a:p>
              <a:pPr marL="0" indent="0" algn="l">
                <a:buNone/>
              </a:pPr>
              <a:r>
                <a:rPr lang="en-US" sz="1250" dirty="0">
                  <a:solidFill>
                    <a:srgbClr val="374151"/>
                  </a:solidFill>
                  <a:latin typeface="Arial" pitchFamily="34" charset="0"/>
                  <a:ea typeface="Arial" pitchFamily="34" charset="-122"/>
                  <a:cs typeface="Arial" pitchFamily="34" charset="-120"/>
                </a:rPr>
                <a:t>Nhánh feature theo module, Pull Request vào develop</a:t>
              </a:r>
              <a:endParaRPr lang="en-US" sz="125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animEffect transition="in" filter="fade">
                                      <p:cBhvr>
                                        <p:cTn id="9" dur="500"/>
                                        <p:tgtEl>
                                          <p:spTgt spid="44"/>
                                        </p:tgtEl>
                                      </p:cBhvr>
                                    </p:animEffect>
                                  </p:childTnLst>
                                </p:cTn>
                              </p:par>
                              <p:par>
                                <p:cTn id="10" presetID="53" presetClass="entr" presetSubtype="16" fill="hold" nodeType="withEffect">
                                  <p:stCondLst>
                                    <p:cond delay="120"/>
                                  </p:stCondLst>
                                  <p:childTnLst>
                                    <p:set>
                                      <p:cBhvr>
                                        <p:cTn id="11" dur="1" fill="hold">
                                          <p:stCondLst>
                                            <p:cond delay="0"/>
                                          </p:stCondLst>
                                        </p:cTn>
                                        <p:tgtEl>
                                          <p:spTgt spid="45"/>
                                        </p:tgtEl>
                                        <p:attrNameLst>
                                          <p:attrName>style.visibility</p:attrName>
                                        </p:attrNameLst>
                                      </p:cBhvr>
                                      <p:to>
                                        <p:strVal val="visible"/>
                                      </p:to>
                                    </p:set>
                                    <p:anim calcmode="lin" valueType="num">
                                      <p:cBhvr>
                                        <p:cTn id="12" dur="500" fill="hold"/>
                                        <p:tgtEl>
                                          <p:spTgt spid="45"/>
                                        </p:tgtEl>
                                        <p:attrNameLst>
                                          <p:attrName>ppt_w</p:attrName>
                                        </p:attrNameLst>
                                      </p:cBhvr>
                                      <p:tavLst>
                                        <p:tav tm="0">
                                          <p:val>
                                            <p:fltVal val="0"/>
                                          </p:val>
                                        </p:tav>
                                        <p:tav tm="100000">
                                          <p:val>
                                            <p:strVal val="#ppt_w"/>
                                          </p:val>
                                        </p:tav>
                                      </p:tavLst>
                                    </p:anim>
                                    <p:anim calcmode="lin" valueType="num">
                                      <p:cBhvr>
                                        <p:cTn id="13" dur="500" fill="hold"/>
                                        <p:tgtEl>
                                          <p:spTgt spid="45"/>
                                        </p:tgtEl>
                                        <p:attrNameLst>
                                          <p:attrName>ppt_h</p:attrName>
                                        </p:attrNameLst>
                                      </p:cBhvr>
                                      <p:tavLst>
                                        <p:tav tm="0">
                                          <p:val>
                                            <p:fltVal val="0"/>
                                          </p:val>
                                        </p:tav>
                                        <p:tav tm="100000">
                                          <p:val>
                                            <p:strVal val="#ppt_h"/>
                                          </p:val>
                                        </p:tav>
                                      </p:tavLst>
                                    </p:anim>
                                    <p:animEffect transition="in" filter="fade">
                                      <p:cBhvr>
                                        <p:cTn id="14" dur="500"/>
                                        <p:tgtEl>
                                          <p:spTgt spid="45"/>
                                        </p:tgtEl>
                                      </p:cBhvr>
                                    </p:animEffect>
                                  </p:childTnLst>
                                </p:cTn>
                              </p:par>
                              <p:par>
                                <p:cTn id="15" presetID="53" presetClass="entr" presetSubtype="16" fill="hold" nodeType="withEffect">
                                  <p:stCondLst>
                                    <p:cond delay="240"/>
                                  </p:stCondLst>
                                  <p:childTnLst>
                                    <p:set>
                                      <p:cBhvr>
                                        <p:cTn id="16" dur="1" fill="hold">
                                          <p:stCondLst>
                                            <p:cond delay="0"/>
                                          </p:stCondLst>
                                        </p:cTn>
                                        <p:tgtEl>
                                          <p:spTgt spid="46"/>
                                        </p:tgtEl>
                                        <p:attrNameLst>
                                          <p:attrName>style.visibility</p:attrName>
                                        </p:attrNameLst>
                                      </p:cBhvr>
                                      <p:to>
                                        <p:strVal val="visible"/>
                                      </p:to>
                                    </p:set>
                                    <p:anim calcmode="lin" valueType="num">
                                      <p:cBhvr>
                                        <p:cTn id="17" dur="500" fill="hold"/>
                                        <p:tgtEl>
                                          <p:spTgt spid="46"/>
                                        </p:tgtEl>
                                        <p:attrNameLst>
                                          <p:attrName>ppt_w</p:attrName>
                                        </p:attrNameLst>
                                      </p:cBhvr>
                                      <p:tavLst>
                                        <p:tav tm="0">
                                          <p:val>
                                            <p:fltVal val="0"/>
                                          </p:val>
                                        </p:tav>
                                        <p:tav tm="100000">
                                          <p:val>
                                            <p:strVal val="#ppt_w"/>
                                          </p:val>
                                        </p:tav>
                                      </p:tavLst>
                                    </p:anim>
                                    <p:anim calcmode="lin" valueType="num">
                                      <p:cBhvr>
                                        <p:cTn id="18" dur="500" fill="hold"/>
                                        <p:tgtEl>
                                          <p:spTgt spid="46"/>
                                        </p:tgtEl>
                                        <p:attrNameLst>
                                          <p:attrName>ppt_h</p:attrName>
                                        </p:attrNameLst>
                                      </p:cBhvr>
                                      <p:tavLst>
                                        <p:tav tm="0">
                                          <p:val>
                                            <p:fltVal val="0"/>
                                          </p:val>
                                        </p:tav>
                                        <p:tav tm="100000">
                                          <p:val>
                                            <p:strVal val="#ppt_h"/>
                                          </p:val>
                                        </p:tav>
                                      </p:tavLst>
                                    </p:anim>
                                    <p:animEffect transition="in" filter="fade">
                                      <p:cBhvr>
                                        <p:cTn id="19" dur="500"/>
                                        <p:tgtEl>
                                          <p:spTgt spid="46"/>
                                        </p:tgtEl>
                                      </p:cBhvr>
                                    </p:animEffect>
                                  </p:childTnLst>
                                </p:cTn>
                              </p:par>
                              <p:par>
                                <p:cTn id="20" presetID="53" presetClass="entr" presetSubtype="16" fill="hold" nodeType="withEffect">
                                  <p:stCondLst>
                                    <p:cond delay="360"/>
                                  </p:stCondLst>
                                  <p:childTnLst>
                                    <p:set>
                                      <p:cBhvr>
                                        <p:cTn id="21" dur="1" fill="hold">
                                          <p:stCondLst>
                                            <p:cond delay="0"/>
                                          </p:stCondLst>
                                        </p:cTn>
                                        <p:tgtEl>
                                          <p:spTgt spid="47"/>
                                        </p:tgtEl>
                                        <p:attrNameLst>
                                          <p:attrName>style.visibility</p:attrName>
                                        </p:attrNameLst>
                                      </p:cBhvr>
                                      <p:to>
                                        <p:strVal val="visible"/>
                                      </p:to>
                                    </p:set>
                                    <p:anim calcmode="lin" valueType="num">
                                      <p:cBhvr>
                                        <p:cTn id="22" dur="500" fill="hold"/>
                                        <p:tgtEl>
                                          <p:spTgt spid="47"/>
                                        </p:tgtEl>
                                        <p:attrNameLst>
                                          <p:attrName>ppt_w</p:attrName>
                                        </p:attrNameLst>
                                      </p:cBhvr>
                                      <p:tavLst>
                                        <p:tav tm="0">
                                          <p:val>
                                            <p:fltVal val="0"/>
                                          </p:val>
                                        </p:tav>
                                        <p:tav tm="100000">
                                          <p:val>
                                            <p:strVal val="#ppt_w"/>
                                          </p:val>
                                        </p:tav>
                                      </p:tavLst>
                                    </p:anim>
                                    <p:anim calcmode="lin" valueType="num">
                                      <p:cBhvr>
                                        <p:cTn id="23" dur="500" fill="hold"/>
                                        <p:tgtEl>
                                          <p:spTgt spid="47"/>
                                        </p:tgtEl>
                                        <p:attrNameLst>
                                          <p:attrName>ppt_h</p:attrName>
                                        </p:attrNameLst>
                                      </p:cBhvr>
                                      <p:tavLst>
                                        <p:tav tm="0">
                                          <p:val>
                                            <p:fltVal val="0"/>
                                          </p:val>
                                        </p:tav>
                                        <p:tav tm="100000">
                                          <p:val>
                                            <p:strVal val="#ppt_h"/>
                                          </p:val>
                                        </p:tav>
                                      </p:tavLst>
                                    </p:anim>
                                    <p:animEffect transition="in" filter="fade">
                                      <p:cBhvr>
                                        <p:cTn id="24" dur="500"/>
                                        <p:tgtEl>
                                          <p:spTgt spid="47"/>
                                        </p:tgtEl>
                                      </p:cBhvr>
                                    </p:animEffect>
                                  </p:childTnLst>
                                </p:cTn>
                              </p:par>
                              <p:par>
                                <p:cTn id="25" presetID="53" presetClass="entr" presetSubtype="16" fill="hold" nodeType="withEffect">
                                  <p:stCondLst>
                                    <p:cond delay="480"/>
                                  </p:stCondLst>
                                  <p:childTnLst>
                                    <p:set>
                                      <p:cBhvr>
                                        <p:cTn id="26" dur="1" fill="hold">
                                          <p:stCondLst>
                                            <p:cond delay="0"/>
                                          </p:stCondLst>
                                        </p:cTn>
                                        <p:tgtEl>
                                          <p:spTgt spid="48"/>
                                        </p:tgtEl>
                                        <p:attrNameLst>
                                          <p:attrName>style.visibility</p:attrName>
                                        </p:attrNameLst>
                                      </p:cBhvr>
                                      <p:to>
                                        <p:strVal val="visible"/>
                                      </p:to>
                                    </p:set>
                                    <p:anim calcmode="lin" valueType="num">
                                      <p:cBhvr>
                                        <p:cTn id="27" dur="500" fill="hold"/>
                                        <p:tgtEl>
                                          <p:spTgt spid="48"/>
                                        </p:tgtEl>
                                        <p:attrNameLst>
                                          <p:attrName>ppt_w</p:attrName>
                                        </p:attrNameLst>
                                      </p:cBhvr>
                                      <p:tavLst>
                                        <p:tav tm="0">
                                          <p:val>
                                            <p:fltVal val="0"/>
                                          </p:val>
                                        </p:tav>
                                        <p:tav tm="100000">
                                          <p:val>
                                            <p:strVal val="#ppt_w"/>
                                          </p:val>
                                        </p:tav>
                                      </p:tavLst>
                                    </p:anim>
                                    <p:anim calcmode="lin" valueType="num">
                                      <p:cBhvr>
                                        <p:cTn id="28" dur="500" fill="hold"/>
                                        <p:tgtEl>
                                          <p:spTgt spid="48"/>
                                        </p:tgtEl>
                                        <p:attrNameLst>
                                          <p:attrName>ppt_h</p:attrName>
                                        </p:attrNameLst>
                                      </p:cBhvr>
                                      <p:tavLst>
                                        <p:tav tm="0">
                                          <p:val>
                                            <p:fltVal val="0"/>
                                          </p:val>
                                        </p:tav>
                                        <p:tav tm="100000">
                                          <p:val>
                                            <p:strVal val="#ppt_h"/>
                                          </p:val>
                                        </p:tav>
                                      </p:tavLst>
                                    </p:anim>
                                    <p:animEffect transition="in" filter="fade">
                                      <p:cBhvr>
                                        <p:cTn id="29" dur="500"/>
                                        <p:tgtEl>
                                          <p:spTgt spid="48"/>
                                        </p:tgtEl>
                                      </p:cBhvr>
                                    </p:animEffect>
                                  </p:childTnLst>
                                </p:cTn>
                              </p:par>
                              <p:par>
                                <p:cTn id="30" presetID="53" presetClass="entr" presetSubtype="16" fill="hold" nodeType="withEffect">
                                  <p:stCondLst>
                                    <p:cond delay="600"/>
                                  </p:stCondLst>
                                  <p:childTnLst>
                                    <p:set>
                                      <p:cBhvr>
                                        <p:cTn id="31" dur="1" fill="hold">
                                          <p:stCondLst>
                                            <p:cond delay="0"/>
                                          </p:stCondLst>
                                        </p:cTn>
                                        <p:tgtEl>
                                          <p:spTgt spid="49"/>
                                        </p:tgtEl>
                                        <p:attrNameLst>
                                          <p:attrName>style.visibility</p:attrName>
                                        </p:attrNameLst>
                                      </p:cBhvr>
                                      <p:to>
                                        <p:strVal val="visible"/>
                                      </p:to>
                                    </p:set>
                                    <p:anim calcmode="lin" valueType="num">
                                      <p:cBhvr>
                                        <p:cTn id="32" dur="500" fill="hold"/>
                                        <p:tgtEl>
                                          <p:spTgt spid="49"/>
                                        </p:tgtEl>
                                        <p:attrNameLst>
                                          <p:attrName>ppt_w</p:attrName>
                                        </p:attrNameLst>
                                      </p:cBhvr>
                                      <p:tavLst>
                                        <p:tav tm="0">
                                          <p:val>
                                            <p:fltVal val="0"/>
                                          </p:val>
                                        </p:tav>
                                        <p:tav tm="100000">
                                          <p:val>
                                            <p:strVal val="#ppt_w"/>
                                          </p:val>
                                        </p:tav>
                                      </p:tavLst>
                                    </p:anim>
                                    <p:anim calcmode="lin" valueType="num">
                                      <p:cBhvr>
                                        <p:cTn id="33" dur="500" fill="hold"/>
                                        <p:tgtEl>
                                          <p:spTgt spid="49"/>
                                        </p:tgtEl>
                                        <p:attrNameLst>
                                          <p:attrName>ppt_h</p:attrName>
                                        </p:attrNameLst>
                                      </p:cBhvr>
                                      <p:tavLst>
                                        <p:tav tm="0">
                                          <p:val>
                                            <p:fltVal val="0"/>
                                          </p:val>
                                        </p:tav>
                                        <p:tav tm="100000">
                                          <p:val>
                                            <p:strVal val="#ppt_h"/>
                                          </p:val>
                                        </p:tav>
                                      </p:tavLst>
                                    </p:anim>
                                    <p:animEffect transition="in" filter="fade">
                                      <p:cBhvr>
                                        <p:cTn id="3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Sáu nhóm chức năng của hệ thống</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Mã F01–F06 dùng thống nhất trong mã nguồn, commit và báo cáo</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02 · CHỨC NĂNG</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06 / 18</a:t>
            </a:r>
            <a:endParaRPr lang="en-US" sz="1000" dirty="0"/>
          </a:p>
        </p:txBody>
      </p:sp>
      <p:grpSp>
        <p:nvGrpSpPr>
          <p:cNvPr id="63" name="Group 7">
            <a:extLst>
              <a:ext uri="{FF2B5EF4-FFF2-40B4-BE49-F238E27FC236}">
                <a16:creationId xmlns:a16="http://schemas.microsoft.com/office/drawing/2014/main" id="{F320A7E2-7264-9DA7-EF52-D95827B7989D}"/>
              </a:ext>
            </a:extLst>
          </p:cNvPr>
          <p:cNvGrpSpPr/>
          <p:nvPr/>
        </p:nvGrpSpPr>
        <p:grpSpPr>
          <a:xfrm>
            <a:off x="548640" y="1600200"/>
            <a:ext cx="6583680" cy="731520"/>
            <a:chOff x="548640" y="1600200"/>
            <a:chExt cx="6583680" cy="731520"/>
          </a:xfrm>
        </p:grpSpPr>
        <p:sp>
          <p:nvSpPr>
            <p:cNvPr id="8" name="Part 1"/>
            <p:cNvSpPr/>
            <p:nvPr/>
          </p:nvSpPr>
          <p:spPr>
            <a:xfrm>
              <a:off x="548640" y="1600200"/>
              <a:ext cx="6583680" cy="731520"/>
            </a:xfrm>
            <a:prstGeom prst="roundRect">
              <a:avLst>
                <a:gd name="adj" fmla="val 15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9" name="Part 2"/>
            <p:cNvSpPr/>
            <p:nvPr/>
          </p:nvSpPr>
          <p:spPr>
            <a:xfrm>
              <a:off x="731520" y="1755648"/>
              <a:ext cx="822960" cy="420624"/>
            </a:xfrm>
            <a:prstGeom prst="roundRect">
              <a:avLst>
                <a:gd name="adj" fmla="val 50000"/>
              </a:avLst>
            </a:prstGeom>
            <a:solidFill>
              <a:srgbClr val="E5B53A"/>
            </a:solidFill>
            <a:ln/>
          </p:spPr>
        </p:sp>
        <p:sp>
          <p:nvSpPr>
            <p:cNvPr id="10" name="Part 3"/>
            <p:cNvSpPr txBox="1"/>
            <p:nvPr/>
          </p:nvSpPr>
          <p:spPr>
            <a:xfrm>
              <a:off x="731520" y="1755648"/>
              <a:ext cx="822960" cy="420624"/>
            </a:xfrm>
            <a:prstGeom prst="rect">
              <a:avLst/>
            </a:prstGeom>
            <a:noFill/>
            <a:ln/>
          </p:spPr>
          <p:txBody>
            <a:bodyPr wrap="square" lIns="0" tIns="0" rIns="0" bIns="0" rtlCol="0" anchor="ctr"/>
            <a:lstStyle/>
            <a:p>
              <a:pPr marL="0" indent="0" algn="ctr">
                <a:buNone/>
              </a:pPr>
              <a:r>
                <a:rPr lang="en-US" sz="1500" b="1" dirty="0">
                  <a:solidFill>
                    <a:srgbClr val="0F2C59"/>
                  </a:solidFill>
                  <a:latin typeface="Arial" pitchFamily="34" charset="0"/>
                  <a:ea typeface="Arial" pitchFamily="34" charset="-122"/>
                  <a:cs typeface="Arial" pitchFamily="34" charset="-120"/>
                </a:rPr>
                <a:t>F01</a:t>
              </a:r>
              <a:endParaRPr lang="en-US" sz="1500" dirty="0"/>
            </a:p>
          </p:txBody>
        </p:sp>
        <p:pic>
          <p:nvPicPr>
            <p:cNvPr id="11" name="Part 4" descr="Biểu tượng"/>
            <p:cNvPicPr>
              <a:picLocks noChangeAspect="1"/>
            </p:cNvPicPr>
            <p:nvPr/>
          </p:nvPicPr>
          <p:blipFill>
            <a:blip r:embed="rId3"/>
            <a:stretch>
              <a:fillRect/>
            </a:stretch>
          </p:blipFill>
          <p:spPr>
            <a:xfrm>
              <a:off x="1737360" y="1783080"/>
              <a:ext cx="365760" cy="365760"/>
            </a:xfrm>
            <a:prstGeom prst="rect">
              <a:avLst/>
            </a:prstGeom>
          </p:spPr>
        </p:pic>
        <p:sp>
          <p:nvSpPr>
            <p:cNvPr id="12" name="Part 5"/>
            <p:cNvSpPr txBox="1"/>
            <p:nvPr/>
          </p:nvSpPr>
          <p:spPr>
            <a:xfrm>
              <a:off x="2286000" y="1600200"/>
              <a:ext cx="2560320" cy="731520"/>
            </a:xfrm>
            <a:prstGeom prst="rect">
              <a:avLst/>
            </a:prstGeom>
            <a:noFill/>
            <a:ln/>
          </p:spPr>
          <p:txBody>
            <a:bodyPr wrap="square" lIns="0" tIns="0" rIns="0" bIns="0" rtlCol="0" anchor="ctr"/>
            <a:lstStyle/>
            <a:p>
              <a:pPr marL="0" indent="0" algn="l">
                <a:buNone/>
              </a:pPr>
              <a:r>
                <a:rPr lang="en-US" sz="1600" b="1" dirty="0">
                  <a:solidFill>
                    <a:srgbClr val="0F2C59"/>
                  </a:solidFill>
                  <a:latin typeface="Arial" pitchFamily="34" charset="0"/>
                  <a:ea typeface="Arial" pitchFamily="34" charset="-122"/>
                  <a:cs typeface="Arial" pitchFamily="34" charset="-120"/>
                </a:rPr>
                <a:t>Giới thiệu trường</a:t>
              </a:r>
              <a:endParaRPr lang="en-US" sz="1600" dirty="0"/>
            </a:p>
          </p:txBody>
        </p:sp>
        <p:sp>
          <p:nvSpPr>
            <p:cNvPr id="13" name="Part 6"/>
            <p:cNvSpPr/>
            <p:nvPr/>
          </p:nvSpPr>
          <p:spPr>
            <a:xfrm>
              <a:off x="4846320" y="1773936"/>
              <a:ext cx="2121408" cy="384048"/>
            </a:xfrm>
            <a:prstGeom prst="roundRect">
              <a:avLst>
                <a:gd name="adj" fmla="val 50000"/>
              </a:avLst>
            </a:prstGeom>
            <a:solidFill>
              <a:srgbClr val="E8EDF5"/>
            </a:solidFill>
            <a:ln/>
          </p:spPr>
        </p:sp>
        <p:sp>
          <p:nvSpPr>
            <p:cNvPr id="14" name="Part 7"/>
            <p:cNvSpPr txBox="1"/>
            <p:nvPr/>
          </p:nvSpPr>
          <p:spPr>
            <a:xfrm>
              <a:off x="4846320" y="1773936"/>
              <a:ext cx="2121408" cy="384048"/>
            </a:xfrm>
            <a:prstGeom prst="rect">
              <a:avLst/>
            </a:prstGeom>
            <a:noFill/>
            <a:ln/>
          </p:spPr>
          <p:txBody>
            <a:bodyPr wrap="square" lIns="0" tIns="0" rIns="0" bIns="0" rtlCol="0" anchor="ctr"/>
            <a:lstStyle/>
            <a:p>
              <a:pPr marL="0" indent="0" algn="ctr">
                <a:buNone/>
              </a:pPr>
              <a:r>
                <a:rPr lang="en-US" sz="1100" dirty="0">
                  <a:solidFill>
                    <a:srgbClr val="0F2C59"/>
                  </a:solidFill>
                  <a:latin typeface="Consolas" pitchFamily="34" charset="0"/>
                  <a:ea typeface="Consolas" pitchFamily="34" charset="-122"/>
                  <a:cs typeface="Consolas" pitchFamily="34" charset="-120"/>
                </a:rPr>
                <a:t>/gioi-thieu · /lien-he</a:t>
              </a:r>
              <a:endParaRPr lang="en-US" sz="1100" dirty="0"/>
            </a:p>
          </p:txBody>
        </p:sp>
      </p:grpSp>
      <p:grpSp>
        <p:nvGrpSpPr>
          <p:cNvPr id="64" name="Group 8">
            <a:extLst>
              <a:ext uri="{FF2B5EF4-FFF2-40B4-BE49-F238E27FC236}">
                <a16:creationId xmlns:a16="http://schemas.microsoft.com/office/drawing/2014/main" id="{56A9A158-DB10-204C-858F-77482C963C43}"/>
              </a:ext>
            </a:extLst>
          </p:cNvPr>
          <p:cNvGrpSpPr/>
          <p:nvPr/>
        </p:nvGrpSpPr>
        <p:grpSpPr>
          <a:xfrm>
            <a:off x="548640" y="2450592"/>
            <a:ext cx="6583680" cy="731520"/>
            <a:chOff x="548640" y="2450592"/>
            <a:chExt cx="6583680" cy="731520"/>
          </a:xfrm>
        </p:grpSpPr>
        <p:sp>
          <p:nvSpPr>
            <p:cNvPr id="15" name="Part 1"/>
            <p:cNvSpPr/>
            <p:nvPr/>
          </p:nvSpPr>
          <p:spPr>
            <a:xfrm>
              <a:off x="548640" y="2450592"/>
              <a:ext cx="6583680" cy="731520"/>
            </a:xfrm>
            <a:prstGeom prst="roundRect">
              <a:avLst>
                <a:gd name="adj" fmla="val 15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16" name="Part 2"/>
            <p:cNvSpPr/>
            <p:nvPr/>
          </p:nvSpPr>
          <p:spPr>
            <a:xfrm>
              <a:off x="731520" y="2606040"/>
              <a:ext cx="822960" cy="420624"/>
            </a:xfrm>
            <a:prstGeom prst="roundRect">
              <a:avLst>
                <a:gd name="adj" fmla="val 50000"/>
              </a:avLst>
            </a:prstGeom>
            <a:solidFill>
              <a:srgbClr val="E5B53A"/>
            </a:solidFill>
            <a:ln/>
          </p:spPr>
        </p:sp>
        <p:sp>
          <p:nvSpPr>
            <p:cNvPr id="17" name="Part 3"/>
            <p:cNvSpPr txBox="1"/>
            <p:nvPr/>
          </p:nvSpPr>
          <p:spPr>
            <a:xfrm>
              <a:off x="731520" y="2606040"/>
              <a:ext cx="822960" cy="420624"/>
            </a:xfrm>
            <a:prstGeom prst="rect">
              <a:avLst/>
            </a:prstGeom>
            <a:noFill/>
            <a:ln/>
          </p:spPr>
          <p:txBody>
            <a:bodyPr wrap="square" lIns="0" tIns="0" rIns="0" bIns="0" rtlCol="0" anchor="ctr"/>
            <a:lstStyle/>
            <a:p>
              <a:pPr marL="0" indent="0" algn="ctr">
                <a:buNone/>
              </a:pPr>
              <a:r>
                <a:rPr lang="en-US" sz="1500" b="1" dirty="0">
                  <a:solidFill>
                    <a:srgbClr val="0F2C59"/>
                  </a:solidFill>
                  <a:latin typeface="Arial" pitchFamily="34" charset="0"/>
                  <a:ea typeface="Arial" pitchFamily="34" charset="-122"/>
                  <a:cs typeface="Arial" pitchFamily="34" charset="-120"/>
                </a:rPr>
                <a:t>F02</a:t>
              </a:r>
              <a:endParaRPr lang="en-US" sz="1500" dirty="0"/>
            </a:p>
          </p:txBody>
        </p:sp>
        <p:pic>
          <p:nvPicPr>
            <p:cNvPr id="18" name="Part 4" descr="Biểu tượng"/>
            <p:cNvPicPr>
              <a:picLocks noChangeAspect="1"/>
            </p:cNvPicPr>
            <p:nvPr/>
          </p:nvPicPr>
          <p:blipFill>
            <a:blip r:embed="rId4"/>
            <a:stretch>
              <a:fillRect/>
            </a:stretch>
          </p:blipFill>
          <p:spPr>
            <a:xfrm>
              <a:off x="1737360" y="2633472"/>
              <a:ext cx="365760" cy="365760"/>
            </a:xfrm>
            <a:prstGeom prst="rect">
              <a:avLst/>
            </a:prstGeom>
          </p:spPr>
        </p:pic>
        <p:sp>
          <p:nvSpPr>
            <p:cNvPr id="19" name="Part 5"/>
            <p:cNvSpPr txBox="1"/>
            <p:nvPr/>
          </p:nvSpPr>
          <p:spPr>
            <a:xfrm>
              <a:off x="2286000" y="2450592"/>
              <a:ext cx="2560320" cy="731520"/>
            </a:xfrm>
            <a:prstGeom prst="rect">
              <a:avLst/>
            </a:prstGeom>
            <a:noFill/>
            <a:ln/>
          </p:spPr>
          <p:txBody>
            <a:bodyPr wrap="square" lIns="0" tIns="0" rIns="0" bIns="0" rtlCol="0" anchor="ctr"/>
            <a:lstStyle/>
            <a:p>
              <a:pPr marL="0" indent="0" algn="l">
                <a:buNone/>
              </a:pPr>
              <a:r>
                <a:rPr lang="en-US" sz="1600" b="1" dirty="0">
                  <a:solidFill>
                    <a:srgbClr val="0F2C59"/>
                  </a:solidFill>
                  <a:latin typeface="Arial" pitchFamily="34" charset="0"/>
                  <a:ea typeface="Arial" pitchFamily="34" charset="-122"/>
                  <a:cs typeface="Arial" pitchFamily="34" charset="-120"/>
                </a:rPr>
                <a:t>Thư viện hình ảnh</a:t>
              </a:r>
              <a:endParaRPr lang="en-US" sz="1600" dirty="0"/>
            </a:p>
          </p:txBody>
        </p:sp>
        <p:sp>
          <p:nvSpPr>
            <p:cNvPr id="20" name="Part 6"/>
            <p:cNvSpPr/>
            <p:nvPr/>
          </p:nvSpPr>
          <p:spPr>
            <a:xfrm>
              <a:off x="4846320" y="2624328"/>
              <a:ext cx="2121408" cy="384048"/>
            </a:xfrm>
            <a:prstGeom prst="roundRect">
              <a:avLst>
                <a:gd name="adj" fmla="val 50000"/>
              </a:avLst>
            </a:prstGeom>
            <a:solidFill>
              <a:srgbClr val="E8EDF5"/>
            </a:solidFill>
            <a:ln/>
          </p:spPr>
        </p:sp>
        <p:sp>
          <p:nvSpPr>
            <p:cNvPr id="21" name="Part 7"/>
            <p:cNvSpPr txBox="1"/>
            <p:nvPr/>
          </p:nvSpPr>
          <p:spPr>
            <a:xfrm>
              <a:off x="4846320" y="2624328"/>
              <a:ext cx="2121408" cy="384048"/>
            </a:xfrm>
            <a:prstGeom prst="rect">
              <a:avLst/>
            </a:prstGeom>
            <a:noFill/>
            <a:ln/>
          </p:spPr>
          <p:txBody>
            <a:bodyPr wrap="square" lIns="0" tIns="0" rIns="0" bIns="0" rtlCol="0" anchor="ctr"/>
            <a:lstStyle/>
            <a:p>
              <a:pPr marL="0" indent="0" algn="ctr">
                <a:buNone/>
              </a:pPr>
              <a:r>
                <a:rPr lang="en-US" sz="1100" dirty="0">
                  <a:solidFill>
                    <a:srgbClr val="0F2C59"/>
                  </a:solidFill>
                  <a:latin typeface="Consolas" pitchFamily="34" charset="0"/>
                  <a:ea typeface="Consolas" pitchFamily="34" charset="-122"/>
                  <a:cs typeface="Consolas" pitchFamily="34" charset="-120"/>
                </a:rPr>
                <a:t>/hinh-anh?album=</a:t>
              </a:r>
              <a:endParaRPr lang="en-US" sz="1100" dirty="0"/>
            </a:p>
          </p:txBody>
        </p:sp>
      </p:grpSp>
      <p:grpSp>
        <p:nvGrpSpPr>
          <p:cNvPr id="65" name="Group 9">
            <a:extLst>
              <a:ext uri="{FF2B5EF4-FFF2-40B4-BE49-F238E27FC236}">
                <a16:creationId xmlns:a16="http://schemas.microsoft.com/office/drawing/2014/main" id="{0C200E3F-C0C8-28A5-D2EF-5A60EF6A560E}"/>
              </a:ext>
            </a:extLst>
          </p:cNvPr>
          <p:cNvGrpSpPr/>
          <p:nvPr/>
        </p:nvGrpSpPr>
        <p:grpSpPr>
          <a:xfrm>
            <a:off x="548640" y="3300984"/>
            <a:ext cx="6583680" cy="731520"/>
            <a:chOff x="548640" y="3300984"/>
            <a:chExt cx="6583680" cy="731520"/>
          </a:xfrm>
        </p:grpSpPr>
        <p:sp>
          <p:nvSpPr>
            <p:cNvPr id="22" name="Part 1"/>
            <p:cNvSpPr/>
            <p:nvPr/>
          </p:nvSpPr>
          <p:spPr>
            <a:xfrm>
              <a:off x="548640" y="3300984"/>
              <a:ext cx="6583680" cy="731520"/>
            </a:xfrm>
            <a:prstGeom prst="roundRect">
              <a:avLst>
                <a:gd name="adj" fmla="val 15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3" name="Part 2"/>
            <p:cNvSpPr/>
            <p:nvPr/>
          </p:nvSpPr>
          <p:spPr>
            <a:xfrm>
              <a:off x="731520" y="3456432"/>
              <a:ext cx="822960" cy="420624"/>
            </a:xfrm>
            <a:prstGeom prst="roundRect">
              <a:avLst>
                <a:gd name="adj" fmla="val 50000"/>
              </a:avLst>
            </a:prstGeom>
            <a:solidFill>
              <a:srgbClr val="E5B53A"/>
            </a:solidFill>
            <a:ln/>
          </p:spPr>
        </p:sp>
        <p:sp>
          <p:nvSpPr>
            <p:cNvPr id="24" name="Part 3"/>
            <p:cNvSpPr txBox="1"/>
            <p:nvPr/>
          </p:nvSpPr>
          <p:spPr>
            <a:xfrm>
              <a:off x="731520" y="3456432"/>
              <a:ext cx="822960" cy="420624"/>
            </a:xfrm>
            <a:prstGeom prst="rect">
              <a:avLst/>
            </a:prstGeom>
            <a:noFill/>
            <a:ln/>
          </p:spPr>
          <p:txBody>
            <a:bodyPr wrap="square" lIns="0" tIns="0" rIns="0" bIns="0" rtlCol="0" anchor="ctr"/>
            <a:lstStyle/>
            <a:p>
              <a:pPr marL="0" indent="0" algn="ctr">
                <a:buNone/>
              </a:pPr>
              <a:r>
                <a:rPr lang="en-US" sz="1500" b="1" dirty="0">
                  <a:solidFill>
                    <a:srgbClr val="0F2C59"/>
                  </a:solidFill>
                  <a:latin typeface="Arial" pitchFamily="34" charset="0"/>
                  <a:ea typeface="Arial" pitchFamily="34" charset="-122"/>
                  <a:cs typeface="Arial" pitchFamily="34" charset="-120"/>
                </a:rPr>
                <a:t>F03</a:t>
              </a:r>
              <a:endParaRPr lang="en-US" sz="1500" dirty="0"/>
            </a:p>
          </p:txBody>
        </p:sp>
        <p:pic>
          <p:nvPicPr>
            <p:cNvPr id="25" name="Part 4" descr="Biểu tượng"/>
            <p:cNvPicPr>
              <a:picLocks noChangeAspect="1"/>
            </p:cNvPicPr>
            <p:nvPr/>
          </p:nvPicPr>
          <p:blipFill>
            <a:blip r:embed="rId5"/>
            <a:stretch>
              <a:fillRect/>
            </a:stretch>
          </p:blipFill>
          <p:spPr>
            <a:xfrm>
              <a:off x="1737360" y="3483864"/>
              <a:ext cx="365760" cy="365760"/>
            </a:xfrm>
            <a:prstGeom prst="rect">
              <a:avLst/>
            </a:prstGeom>
          </p:spPr>
        </p:pic>
        <p:sp>
          <p:nvSpPr>
            <p:cNvPr id="26" name="Part 5"/>
            <p:cNvSpPr txBox="1"/>
            <p:nvPr/>
          </p:nvSpPr>
          <p:spPr>
            <a:xfrm>
              <a:off x="2286000" y="3300984"/>
              <a:ext cx="2560320" cy="731520"/>
            </a:xfrm>
            <a:prstGeom prst="rect">
              <a:avLst/>
            </a:prstGeom>
            <a:noFill/>
            <a:ln/>
          </p:spPr>
          <p:txBody>
            <a:bodyPr wrap="square" lIns="0" tIns="0" rIns="0" bIns="0" rtlCol="0" anchor="ctr"/>
            <a:lstStyle/>
            <a:p>
              <a:pPr marL="0" indent="0" algn="l">
                <a:buNone/>
              </a:pPr>
              <a:r>
                <a:rPr lang="en-US" sz="1600" b="1" dirty="0">
                  <a:solidFill>
                    <a:srgbClr val="0F2C59"/>
                  </a:solidFill>
                  <a:latin typeface="Arial" pitchFamily="34" charset="0"/>
                  <a:ea typeface="Arial" pitchFamily="34" charset="-122"/>
                  <a:cs typeface="Arial" pitchFamily="34" charset="-120"/>
                </a:rPr>
                <a:t>Chương trình đào tạo</a:t>
              </a:r>
              <a:endParaRPr lang="en-US" sz="1600" dirty="0"/>
            </a:p>
          </p:txBody>
        </p:sp>
        <p:sp>
          <p:nvSpPr>
            <p:cNvPr id="27" name="Part 6"/>
            <p:cNvSpPr/>
            <p:nvPr/>
          </p:nvSpPr>
          <p:spPr>
            <a:xfrm>
              <a:off x="4846320" y="3474720"/>
              <a:ext cx="2121408" cy="384048"/>
            </a:xfrm>
            <a:prstGeom prst="roundRect">
              <a:avLst>
                <a:gd name="adj" fmla="val 50000"/>
              </a:avLst>
            </a:prstGeom>
            <a:solidFill>
              <a:srgbClr val="E8EDF5"/>
            </a:solidFill>
            <a:ln/>
          </p:spPr>
        </p:sp>
        <p:sp>
          <p:nvSpPr>
            <p:cNvPr id="28" name="Part 7"/>
            <p:cNvSpPr txBox="1"/>
            <p:nvPr/>
          </p:nvSpPr>
          <p:spPr>
            <a:xfrm>
              <a:off x="4846320" y="3474720"/>
              <a:ext cx="2121408" cy="384048"/>
            </a:xfrm>
            <a:prstGeom prst="rect">
              <a:avLst/>
            </a:prstGeom>
            <a:noFill/>
            <a:ln/>
          </p:spPr>
          <p:txBody>
            <a:bodyPr wrap="square" lIns="0" tIns="0" rIns="0" bIns="0" rtlCol="0" anchor="ctr"/>
            <a:lstStyle/>
            <a:p>
              <a:pPr marL="0" indent="0" algn="ctr">
                <a:buNone/>
              </a:pPr>
              <a:r>
                <a:rPr lang="en-US" sz="1100" dirty="0">
                  <a:solidFill>
                    <a:srgbClr val="0F2C59"/>
                  </a:solidFill>
                  <a:latin typeface="Consolas" pitchFamily="34" charset="0"/>
                  <a:ea typeface="Consolas" pitchFamily="34" charset="-122"/>
                  <a:cs typeface="Consolas" pitchFamily="34" charset="-120"/>
                </a:rPr>
                <a:t>/chuong-trinh/{slug}</a:t>
              </a:r>
              <a:endParaRPr lang="en-US" sz="1100" dirty="0"/>
            </a:p>
          </p:txBody>
        </p:sp>
      </p:grpSp>
      <p:grpSp>
        <p:nvGrpSpPr>
          <p:cNvPr id="66" name="Group 10">
            <a:extLst>
              <a:ext uri="{FF2B5EF4-FFF2-40B4-BE49-F238E27FC236}">
                <a16:creationId xmlns:a16="http://schemas.microsoft.com/office/drawing/2014/main" id="{B0A51CF5-3357-0C89-0A23-C48D95D9EC42}"/>
              </a:ext>
            </a:extLst>
          </p:cNvPr>
          <p:cNvGrpSpPr/>
          <p:nvPr/>
        </p:nvGrpSpPr>
        <p:grpSpPr>
          <a:xfrm>
            <a:off x="548640" y="4151376"/>
            <a:ext cx="6583680" cy="731520"/>
            <a:chOff x="548640" y="4151376"/>
            <a:chExt cx="6583680" cy="731520"/>
          </a:xfrm>
        </p:grpSpPr>
        <p:sp>
          <p:nvSpPr>
            <p:cNvPr id="29" name="Part 1"/>
            <p:cNvSpPr/>
            <p:nvPr/>
          </p:nvSpPr>
          <p:spPr>
            <a:xfrm>
              <a:off x="548640" y="4151376"/>
              <a:ext cx="6583680" cy="731520"/>
            </a:xfrm>
            <a:prstGeom prst="roundRect">
              <a:avLst>
                <a:gd name="adj" fmla="val 15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0" name="Part 2"/>
            <p:cNvSpPr/>
            <p:nvPr/>
          </p:nvSpPr>
          <p:spPr>
            <a:xfrm>
              <a:off x="731520" y="4306824"/>
              <a:ext cx="822960" cy="420624"/>
            </a:xfrm>
            <a:prstGeom prst="roundRect">
              <a:avLst>
                <a:gd name="adj" fmla="val 50000"/>
              </a:avLst>
            </a:prstGeom>
            <a:solidFill>
              <a:srgbClr val="E5B53A"/>
            </a:solidFill>
            <a:ln/>
          </p:spPr>
        </p:sp>
        <p:sp>
          <p:nvSpPr>
            <p:cNvPr id="31" name="Part 3"/>
            <p:cNvSpPr txBox="1"/>
            <p:nvPr/>
          </p:nvSpPr>
          <p:spPr>
            <a:xfrm>
              <a:off x="731520" y="4306824"/>
              <a:ext cx="822960" cy="420624"/>
            </a:xfrm>
            <a:prstGeom prst="rect">
              <a:avLst/>
            </a:prstGeom>
            <a:noFill/>
            <a:ln/>
          </p:spPr>
          <p:txBody>
            <a:bodyPr wrap="square" lIns="0" tIns="0" rIns="0" bIns="0" rtlCol="0" anchor="ctr"/>
            <a:lstStyle/>
            <a:p>
              <a:pPr marL="0" indent="0" algn="ctr">
                <a:buNone/>
              </a:pPr>
              <a:r>
                <a:rPr lang="en-US" sz="1500" b="1" dirty="0">
                  <a:solidFill>
                    <a:srgbClr val="0F2C59"/>
                  </a:solidFill>
                  <a:latin typeface="Arial" pitchFamily="34" charset="0"/>
                  <a:ea typeface="Arial" pitchFamily="34" charset="-122"/>
                  <a:cs typeface="Arial" pitchFamily="34" charset="-120"/>
                </a:rPr>
                <a:t>F04</a:t>
              </a:r>
              <a:endParaRPr lang="en-US" sz="1500" dirty="0"/>
            </a:p>
          </p:txBody>
        </p:sp>
        <p:pic>
          <p:nvPicPr>
            <p:cNvPr id="32" name="Part 4" descr="Biểu tượng"/>
            <p:cNvPicPr>
              <a:picLocks noChangeAspect="1"/>
            </p:cNvPicPr>
            <p:nvPr/>
          </p:nvPicPr>
          <p:blipFill>
            <a:blip r:embed="rId6"/>
            <a:stretch>
              <a:fillRect/>
            </a:stretch>
          </p:blipFill>
          <p:spPr>
            <a:xfrm>
              <a:off x="1737360" y="4334256"/>
              <a:ext cx="365760" cy="365760"/>
            </a:xfrm>
            <a:prstGeom prst="rect">
              <a:avLst/>
            </a:prstGeom>
          </p:spPr>
        </p:pic>
        <p:sp>
          <p:nvSpPr>
            <p:cNvPr id="33" name="Part 5"/>
            <p:cNvSpPr txBox="1"/>
            <p:nvPr/>
          </p:nvSpPr>
          <p:spPr>
            <a:xfrm>
              <a:off x="2286000" y="4151376"/>
              <a:ext cx="2560320" cy="731520"/>
            </a:xfrm>
            <a:prstGeom prst="rect">
              <a:avLst/>
            </a:prstGeom>
            <a:noFill/>
            <a:ln/>
          </p:spPr>
          <p:txBody>
            <a:bodyPr wrap="square" lIns="0" tIns="0" rIns="0" bIns="0" rtlCol="0" anchor="ctr"/>
            <a:lstStyle/>
            <a:p>
              <a:pPr marL="0" indent="0" algn="l">
                <a:buNone/>
              </a:pPr>
              <a:r>
                <a:rPr lang="en-US" sz="1600" b="1" dirty="0">
                  <a:solidFill>
                    <a:srgbClr val="0F2C59"/>
                  </a:solidFill>
                  <a:latin typeface="Arial" pitchFamily="34" charset="0"/>
                  <a:ea typeface="Arial" pitchFamily="34" charset="-122"/>
                  <a:cs typeface="Arial" pitchFamily="34" charset="-120"/>
                </a:rPr>
                <a:t>Tin tức – hoạt động</a:t>
              </a:r>
              <a:endParaRPr lang="en-US" sz="1600" dirty="0"/>
            </a:p>
          </p:txBody>
        </p:sp>
        <p:sp>
          <p:nvSpPr>
            <p:cNvPr id="34" name="Part 6"/>
            <p:cNvSpPr/>
            <p:nvPr/>
          </p:nvSpPr>
          <p:spPr>
            <a:xfrm>
              <a:off x="4846320" y="4325112"/>
              <a:ext cx="2121408" cy="384048"/>
            </a:xfrm>
            <a:prstGeom prst="roundRect">
              <a:avLst>
                <a:gd name="adj" fmla="val 50000"/>
              </a:avLst>
            </a:prstGeom>
            <a:solidFill>
              <a:srgbClr val="E8EDF5"/>
            </a:solidFill>
            <a:ln/>
          </p:spPr>
        </p:sp>
        <p:sp>
          <p:nvSpPr>
            <p:cNvPr id="35" name="Part 7"/>
            <p:cNvSpPr txBox="1"/>
            <p:nvPr/>
          </p:nvSpPr>
          <p:spPr>
            <a:xfrm>
              <a:off x="4846320" y="4325112"/>
              <a:ext cx="2121408" cy="384048"/>
            </a:xfrm>
            <a:prstGeom prst="rect">
              <a:avLst/>
            </a:prstGeom>
            <a:noFill/>
            <a:ln/>
          </p:spPr>
          <p:txBody>
            <a:bodyPr wrap="square" lIns="0" tIns="0" rIns="0" bIns="0" rtlCol="0" anchor="ctr"/>
            <a:lstStyle/>
            <a:p>
              <a:pPr marL="0" indent="0" algn="ctr">
                <a:buNone/>
              </a:pPr>
              <a:r>
                <a:rPr lang="en-US" sz="1100" dirty="0">
                  <a:solidFill>
                    <a:srgbClr val="0F2C59"/>
                  </a:solidFill>
                  <a:latin typeface="Consolas" pitchFamily="34" charset="0"/>
                  <a:ea typeface="Consolas" pitchFamily="34" charset="-122"/>
                  <a:cs typeface="Consolas" pitchFamily="34" charset="-120"/>
                </a:rPr>
                <a:t>/tin-tuc/{slug}</a:t>
              </a:r>
              <a:endParaRPr lang="en-US" sz="1100" dirty="0"/>
            </a:p>
          </p:txBody>
        </p:sp>
      </p:grpSp>
      <p:grpSp>
        <p:nvGrpSpPr>
          <p:cNvPr id="67" name="Group 11">
            <a:extLst>
              <a:ext uri="{FF2B5EF4-FFF2-40B4-BE49-F238E27FC236}">
                <a16:creationId xmlns:a16="http://schemas.microsoft.com/office/drawing/2014/main" id="{B51A577C-A75D-85F6-886D-88C1FC6282F0}"/>
              </a:ext>
            </a:extLst>
          </p:cNvPr>
          <p:cNvGrpSpPr/>
          <p:nvPr/>
        </p:nvGrpSpPr>
        <p:grpSpPr>
          <a:xfrm>
            <a:off x="548640" y="5001768"/>
            <a:ext cx="6583680" cy="731520"/>
            <a:chOff x="548640" y="5001768"/>
            <a:chExt cx="6583680" cy="731520"/>
          </a:xfrm>
        </p:grpSpPr>
        <p:sp>
          <p:nvSpPr>
            <p:cNvPr id="36" name="Part 1"/>
            <p:cNvSpPr/>
            <p:nvPr/>
          </p:nvSpPr>
          <p:spPr>
            <a:xfrm>
              <a:off x="548640" y="5001768"/>
              <a:ext cx="6583680" cy="731520"/>
            </a:xfrm>
            <a:prstGeom prst="roundRect">
              <a:avLst>
                <a:gd name="adj" fmla="val 15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7" name="Part 2"/>
            <p:cNvSpPr/>
            <p:nvPr/>
          </p:nvSpPr>
          <p:spPr>
            <a:xfrm>
              <a:off x="731520" y="5157216"/>
              <a:ext cx="822960" cy="420624"/>
            </a:xfrm>
            <a:prstGeom prst="roundRect">
              <a:avLst>
                <a:gd name="adj" fmla="val 50000"/>
              </a:avLst>
            </a:prstGeom>
            <a:solidFill>
              <a:srgbClr val="E5B53A"/>
            </a:solidFill>
            <a:ln/>
          </p:spPr>
        </p:sp>
        <p:sp>
          <p:nvSpPr>
            <p:cNvPr id="38" name="Part 3"/>
            <p:cNvSpPr txBox="1"/>
            <p:nvPr/>
          </p:nvSpPr>
          <p:spPr>
            <a:xfrm>
              <a:off x="731520" y="5157216"/>
              <a:ext cx="822960" cy="420624"/>
            </a:xfrm>
            <a:prstGeom prst="rect">
              <a:avLst/>
            </a:prstGeom>
            <a:noFill/>
            <a:ln/>
          </p:spPr>
          <p:txBody>
            <a:bodyPr wrap="square" lIns="0" tIns="0" rIns="0" bIns="0" rtlCol="0" anchor="ctr"/>
            <a:lstStyle/>
            <a:p>
              <a:pPr marL="0" indent="0" algn="ctr">
                <a:buNone/>
              </a:pPr>
              <a:r>
                <a:rPr lang="en-US" sz="1500" b="1" dirty="0">
                  <a:solidFill>
                    <a:srgbClr val="0F2C59"/>
                  </a:solidFill>
                  <a:latin typeface="Arial" pitchFamily="34" charset="0"/>
                  <a:ea typeface="Arial" pitchFamily="34" charset="-122"/>
                  <a:cs typeface="Arial" pitchFamily="34" charset="-120"/>
                </a:rPr>
                <a:t>F05</a:t>
              </a:r>
              <a:endParaRPr lang="en-US" sz="1500" dirty="0"/>
            </a:p>
          </p:txBody>
        </p:sp>
        <p:pic>
          <p:nvPicPr>
            <p:cNvPr id="39" name="Part 4" descr="Biểu tượng"/>
            <p:cNvPicPr>
              <a:picLocks noChangeAspect="1"/>
            </p:cNvPicPr>
            <p:nvPr/>
          </p:nvPicPr>
          <p:blipFill>
            <a:blip r:embed="rId7"/>
            <a:stretch>
              <a:fillRect/>
            </a:stretch>
          </p:blipFill>
          <p:spPr>
            <a:xfrm>
              <a:off x="1737360" y="5184648"/>
              <a:ext cx="365760" cy="365760"/>
            </a:xfrm>
            <a:prstGeom prst="rect">
              <a:avLst/>
            </a:prstGeom>
          </p:spPr>
        </p:pic>
        <p:sp>
          <p:nvSpPr>
            <p:cNvPr id="40" name="Part 5"/>
            <p:cNvSpPr txBox="1"/>
            <p:nvPr/>
          </p:nvSpPr>
          <p:spPr>
            <a:xfrm>
              <a:off x="2286000" y="5001768"/>
              <a:ext cx="2560320" cy="731520"/>
            </a:xfrm>
            <a:prstGeom prst="rect">
              <a:avLst/>
            </a:prstGeom>
            <a:noFill/>
            <a:ln/>
          </p:spPr>
          <p:txBody>
            <a:bodyPr wrap="square" lIns="0" tIns="0" rIns="0" bIns="0" rtlCol="0" anchor="ctr"/>
            <a:lstStyle/>
            <a:p>
              <a:pPr marL="0" indent="0" algn="l">
                <a:buNone/>
              </a:pPr>
              <a:r>
                <a:rPr lang="en-US" sz="1600" b="1" dirty="0">
                  <a:solidFill>
                    <a:srgbClr val="0F2C59"/>
                  </a:solidFill>
                  <a:latin typeface="Arial" pitchFamily="34" charset="0"/>
                  <a:ea typeface="Arial" pitchFamily="34" charset="-122"/>
                  <a:cs typeface="Arial" pitchFamily="34" charset="-120"/>
                </a:rPr>
                <a:t>Đăng ký nhập học</a:t>
              </a:r>
              <a:endParaRPr lang="en-US" sz="1600" dirty="0"/>
            </a:p>
          </p:txBody>
        </p:sp>
        <p:sp>
          <p:nvSpPr>
            <p:cNvPr id="41" name="Part 6"/>
            <p:cNvSpPr/>
            <p:nvPr/>
          </p:nvSpPr>
          <p:spPr>
            <a:xfrm>
              <a:off x="4846320" y="5175504"/>
              <a:ext cx="2121408" cy="384048"/>
            </a:xfrm>
            <a:prstGeom prst="roundRect">
              <a:avLst>
                <a:gd name="adj" fmla="val 50000"/>
              </a:avLst>
            </a:prstGeom>
            <a:solidFill>
              <a:srgbClr val="E8EDF5"/>
            </a:solidFill>
            <a:ln/>
          </p:spPr>
        </p:sp>
        <p:sp>
          <p:nvSpPr>
            <p:cNvPr id="42" name="Part 7"/>
            <p:cNvSpPr txBox="1"/>
            <p:nvPr/>
          </p:nvSpPr>
          <p:spPr>
            <a:xfrm>
              <a:off x="4846320" y="5175504"/>
              <a:ext cx="2121408" cy="384048"/>
            </a:xfrm>
            <a:prstGeom prst="rect">
              <a:avLst/>
            </a:prstGeom>
            <a:noFill/>
            <a:ln/>
          </p:spPr>
          <p:txBody>
            <a:bodyPr wrap="square" lIns="0" tIns="0" rIns="0" bIns="0" rtlCol="0" anchor="ctr"/>
            <a:lstStyle/>
            <a:p>
              <a:pPr marL="0" indent="0" algn="ctr">
                <a:buNone/>
              </a:pPr>
              <a:r>
                <a:rPr lang="en-US" sz="1100" dirty="0">
                  <a:solidFill>
                    <a:srgbClr val="0F2C59"/>
                  </a:solidFill>
                  <a:latin typeface="Consolas" pitchFamily="34" charset="0"/>
                  <a:ea typeface="Consolas" pitchFamily="34" charset="-122"/>
                  <a:cs typeface="Consolas" pitchFamily="34" charset="-120"/>
                </a:rPr>
                <a:t>/dang-ky-nhap-hoc</a:t>
              </a:r>
              <a:endParaRPr lang="en-US" sz="1100" dirty="0"/>
            </a:p>
          </p:txBody>
        </p:sp>
      </p:grpSp>
      <p:grpSp>
        <p:nvGrpSpPr>
          <p:cNvPr id="68" name="Group 12">
            <a:extLst>
              <a:ext uri="{FF2B5EF4-FFF2-40B4-BE49-F238E27FC236}">
                <a16:creationId xmlns:a16="http://schemas.microsoft.com/office/drawing/2014/main" id="{7F3CE193-6A4C-AAF8-AFC3-9130147C665B}"/>
              </a:ext>
            </a:extLst>
          </p:cNvPr>
          <p:cNvGrpSpPr/>
          <p:nvPr/>
        </p:nvGrpSpPr>
        <p:grpSpPr>
          <a:xfrm>
            <a:off x="7406640" y="1600200"/>
            <a:ext cx="4233672" cy="4133088"/>
            <a:chOff x="7406640" y="1600200"/>
            <a:chExt cx="4233672" cy="4133088"/>
          </a:xfrm>
        </p:grpSpPr>
        <p:sp>
          <p:nvSpPr>
            <p:cNvPr id="43" name="Part 1"/>
            <p:cNvSpPr/>
            <p:nvPr/>
          </p:nvSpPr>
          <p:spPr>
            <a:xfrm>
              <a:off x="7406640" y="1600200"/>
              <a:ext cx="4233672" cy="4133088"/>
            </a:xfrm>
            <a:prstGeom prst="roundRect">
              <a:avLst>
                <a:gd name="adj" fmla="val 2655"/>
              </a:avLst>
            </a:prstGeom>
            <a:solidFill>
              <a:srgbClr val="0F2C59"/>
            </a:solidFill>
            <a:ln/>
            <a:effectLst>
              <a:outerShdw blurRad="127000" dist="38100" dir="5400000" algn="bl" rotWithShape="0">
                <a:srgbClr val="0F2C59">
                  <a:alpha val="12000"/>
                </a:srgbClr>
              </a:outerShdw>
            </a:effectLst>
          </p:spPr>
        </p:sp>
        <p:sp>
          <p:nvSpPr>
            <p:cNvPr id="44" name="Part 2"/>
            <p:cNvSpPr/>
            <p:nvPr/>
          </p:nvSpPr>
          <p:spPr>
            <a:xfrm>
              <a:off x="7680960" y="1828800"/>
              <a:ext cx="822960" cy="420624"/>
            </a:xfrm>
            <a:prstGeom prst="roundRect">
              <a:avLst>
                <a:gd name="adj" fmla="val 50000"/>
              </a:avLst>
            </a:prstGeom>
            <a:solidFill>
              <a:srgbClr val="E5B53A"/>
            </a:solidFill>
            <a:ln/>
          </p:spPr>
        </p:sp>
        <p:sp>
          <p:nvSpPr>
            <p:cNvPr id="45" name="Part 3"/>
            <p:cNvSpPr txBox="1"/>
            <p:nvPr/>
          </p:nvSpPr>
          <p:spPr>
            <a:xfrm>
              <a:off x="7680960" y="1828800"/>
              <a:ext cx="822960" cy="420624"/>
            </a:xfrm>
            <a:prstGeom prst="rect">
              <a:avLst/>
            </a:prstGeom>
            <a:noFill/>
            <a:ln/>
          </p:spPr>
          <p:txBody>
            <a:bodyPr wrap="square" lIns="0" tIns="0" rIns="0" bIns="0" rtlCol="0" anchor="ctr"/>
            <a:lstStyle/>
            <a:p>
              <a:pPr marL="0" indent="0" algn="ctr">
                <a:buNone/>
              </a:pPr>
              <a:r>
                <a:rPr lang="en-US" sz="1500" b="1" dirty="0">
                  <a:solidFill>
                    <a:srgbClr val="0F2C59"/>
                  </a:solidFill>
                  <a:latin typeface="Arial" pitchFamily="34" charset="0"/>
                  <a:ea typeface="Arial" pitchFamily="34" charset="-122"/>
                  <a:cs typeface="Arial" pitchFamily="34" charset="-120"/>
                </a:rPr>
                <a:t>F06</a:t>
              </a:r>
              <a:endParaRPr lang="en-US" sz="1500" dirty="0"/>
            </a:p>
          </p:txBody>
        </p:sp>
        <p:sp>
          <p:nvSpPr>
            <p:cNvPr id="46" name="Part 4"/>
            <p:cNvSpPr txBox="1"/>
            <p:nvPr/>
          </p:nvSpPr>
          <p:spPr>
            <a:xfrm>
              <a:off x="8641080" y="1810512"/>
              <a:ext cx="292608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Arial" pitchFamily="34" charset="0"/>
                  <a:ea typeface="Arial" pitchFamily="34" charset="-122"/>
                  <a:cs typeface="Arial" pitchFamily="34" charset="-120"/>
                </a:rPr>
                <a:t>Quản trị nội dung</a:t>
              </a:r>
              <a:endParaRPr lang="en-US" sz="2000" dirty="0"/>
            </a:p>
          </p:txBody>
        </p:sp>
        <p:sp>
          <p:nvSpPr>
            <p:cNvPr id="47" name="Part 5"/>
            <p:cNvSpPr txBox="1"/>
            <p:nvPr/>
          </p:nvSpPr>
          <p:spPr>
            <a:xfrm>
              <a:off x="7680960" y="2395728"/>
              <a:ext cx="3749040" cy="274320"/>
            </a:xfrm>
            <a:prstGeom prst="rect">
              <a:avLst/>
            </a:prstGeom>
            <a:noFill/>
            <a:ln/>
          </p:spPr>
          <p:txBody>
            <a:bodyPr wrap="square" lIns="0" tIns="0" rIns="0" bIns="0" rtlCol="0" anchor="t"/>
            <a:lstStyle/>
            <a:p>
              <a:pPr marL="0" indent="0" algn="l">
                <a:buNone/>
              </a:pPr>
              <a:r>
                <a:rPr lang="en-US" sz="1250" dirty="0">
                  <a:solidFill>
                    <a:srgbClr val="DCE4F2"/>
                  </a:solidFill>
                  <a:latin typeface="Arial" pitchFamily="34" charset="0"/>
                  <a:ea typeface="Arial" pitchFamily="34" charset="-122"/>
                  <a:cs typeface="Arial" pitchFamily="34" charset="-120"/>
                </a:rPr>
                <a:t>/admin – bắt buộc đăng nhập</a:t>
              </a:r>
              <a:endParaRPr lang="en-US" sz="1250" dirty="0"/>
            </a:p>
          </p:txBody>
        </p:sp>
      </p:grpSp>
      <p:grpSp>
        <p:nvGrpSpPr>
          <p:cNvPr id="69" name="Group 13">
            <a:extLst>
              <a:ext uri="{FF2B5EF4-FFF2-40B4-BE49-F238E27FC236}">
                <a16:creationId xmlns:a16="http://schemas.microsoft.com/office/drawing/2014/main" id="{E66A2FD9-062D-9E7A-5CF4-CCB6F209280C}"/>
              </a:ext>
            </a:extLst>
          </p:cNvPr>
          <p:cNvGrpSpPr/>
          <p:nvPr/>
        </p:nvGrpSpPr>
        <p:grpSpPr>
          <a:xfrm>
            <a:off x="7680960" y="2880360"/>
            <a:ext cx="1783080" cy="402336"/>
            <a:chOff x="7680960" y="2880360"/>
            <a:chExt cx="1783080" cy="402336"/>
          </a:xfrm>
        </p:grpSpPr>
        <p:sp>
          <p:nvSpPr>
            <p:cNvPr id="48" name="Part 1"/>
            <p:cNvSpPr/>
            <p:nvPr/>
          </p:nvSpPr>
          <p:spPr>
            <a:xfrm>
              <a:off x="7680960" y="2880360"/>
              <a:ext cx="1783080" cy="402336"/>
            </a:xfrm>
            <a:prstGeom prst="roundRect">
              <a:avLst>
                <a:gd name="adj" fmla="val 50000"/>
              </a:avLst>
            </a:prstGeom>
            <a:solidFill>
              <a:srgbClr val="1B3E73"/>
            </a:solidFill>
            <a:ln/>
          </p:spPr>
        </p:sp>
        <p:sp>
          <p:nvSpPr>
            <p:cNvPr id="49" name="Part 2"/>
            <p:cNvSpPr txBox="1"/>
            <p:nvPr/>
          </p:nvSpPr>
          <p:spPr>
            <a:xfrm>
              <a:off x="7680960" y="2880360"/>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Trang chính</a:t>
              </a:r>
              <a:endParaRPr lang="en-US" sz="1250" dirty="0"/>
            </a:p>
          </p:txBody>
        </p:sp>
      </p:grpSp>
      <p:grpSp>
        <p:nvGrpSpPr>
          <p:cNvPr id="70" name="Group 14">
            <a:extLst>
              <a:ext uri="{FF2B5EF4-FFF2-40B4-BE49-F238E27FC236}">
                <a16:creationId xmlns:a16="http://schemas.microsoft.com/office/drawing/2014/main" id="{8823D7EB-6317-1F11-794D-AC3B5B9B99ED}"/>
              </a:ext>
            </a:extLst>
          </p:cNvPr>
          <p:cNvGrpSpPr/>
          <p:nvPr/>
        </p:nvGrpSpPr>
        <p:grpSpPr>
          <a:xfrm>
            <a:off x="9601200" y="2880360"/>
            <a:ext cx="1783080" cy="402336"/>
            <a:chOff x="9601200" y="2880360"/>
            <a:chExt cx="1783080" cy="402336"/>
          </a:xfrm>
        </p:grpSpPr>
        <p:sp>
          <p:nvSpPr>
            <p:cNvPr id="50" name="Part 1"/>
            <p:cNvSpPr/>
            <p:nvPr/>
          </p:nvSpPr>
          <p:spPr>
            <a:xfrm>
              <a:off x="9601200" y="2880360"/>
              <a:ext cx="1783080" cy="402336"/>
            </a:xfrm>
            <a:prstGeom prst="roundRect">
              <a:avLst>
                <a:gd name="adj" fmla="val 50000"/>
              </a:avLst>
            </a:prstGeom>
            <a:solidFill>
              <a:srgbClr val="1B3E73"/>
            </a:solidFill>
            <a:ln/>
          </p:spPr>
        </p:sp>
        <p:sp>
          <p:nvSpPr>
            <p:cNvPr id="51" name="Part 2"/>
            <p:cNvSpPr txBox="1"/>
            <p:nvPr/>
          </p:nvSpPr>
          <p:spPr>
            <a:xfrm>
              <a:off x="9601200" y="2880360"/>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Tin tức</a:t>
              </a:r>
              <a:endParaRPr lang="en-US" sz="1250" dirty="0"/>
            </a:p>
          </p:txBody>
        </p:sp>
      </p:grpSp>
      <p:grpSp>
        <p:nvGrpSpPr>
          <p:cNvPr id="71" name="Group 15">
            <a:extLst>
              <a:ext uri="{FF2B5EF4-FFF2-40B4-BE49-F238E27FC236}">
                <a16:creationId xmlns:a16="http://schemas.microsoft.com/office/drawing/2014/main" id="{F4E243CC-8CE5-F7E8-A654-65FF54411C51}"/>
              </a:ext>
            </a:extLst>
          </p:cNvPr>
          <p:cNvGrpSpPr/>
          <p:nvPr/>
        </p:nvGrpSpPr>
        <p:grpSpPr>
          <a:xfrm>
            <a:off x="7680960" y="3410712"/>
            <a:ext cx="1783080" cy="402336"/>
            <a:chOff x="7680960" y="3410712"/>
            <a:chExt cx="1783080" cy="402336"/>
          </a:xfrm>
        </p:grpSpPr>
        <p:sp>
          <p:nvSpPr>
            <p:cNvPr id="52" name="Part 1"/>
            <p:cNvSpPr/>
            <p:nvPr/>
          </p:nvSpPr>
          <p:spPr>
            <a:xfrm>
              <a:off x="7680960" y="3410712"/>
              <a:ext cx="1783080" cy="402336"/>
            </a:xfrm>
            <a:prstGeom prst="roundRect">
              <a:avLst>
                <a:gd name="adj" fmla="val 50000"/>
              </a:avLst>
            </a:prstGeom>
            <a:solidFill>
              <a:srgbClr val="1B3E73"/>
            </a:solidFill>
            <a:ln/>
          </p:spPr>
        </p:sp>
        <p:sp>
          <p:nvSpPr>
            <p:cNvPr id="53" name="Part 2"/>
            <p:cNvSpPr txBox="1"/>
            <p:nvPr/>
          </p:nvSpPr>
          <p:spPr>
            <a:xfrm>
              <a:off x="7680960" y="3410712"/>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Chương trình</a:t>
              </a:r>
              <a:endParaRPr lang="en-US" sz="1250" dirty="0"/>
            </a:p>
          </p:txBody>
        </p:sp>
      </p:grpSp>
      <p:grpSp>
        <p:nvGrpSpPr>
          <p:cNvPr id="72" name="Group 16">
            <a:extLst>
              <a:ext uri="{FF2B5EF4-FFF2-40B4-BE49-F238E27FC236}">
                <a16:creationId xmlns:a16="http://schemas.microsoft.com/office/drawing/2014/main" id="{C4E3055E-5E44-6134-C2D7-88933FDC9A16}"/>
              </a:ext>
            </a:extLst>
          </p:cNvPr>
          <p:cNvGrpSpPr/>
          <p:nvPr/>
        </p:nvGrpSpPr>
        <p:grpSpPr>
          <a:xfrm>
            <a:off x="9601200" y="3410712"/>
            <a:ext cx="1783080" cy="402336"/>
            <a:chOff x="9601200" y="3410712"/>
            <a:chExt cx="1783080" cy="402336"/>
          </a:xfrm>
        </p:grpSpPr>
        <p:sp>
          <p:nvSpPr>
            <p:cNvPr id="54" name="Part 1"/>
            <p:cNvSpPr/>
            <p:nvPr/>
          </p:nvSpPr>
          <p:spPr>
            <a:xfrm>
              <a:off x="9601200" y="3410712"/>
              <a:ext cx="1783080" cy="402336"/>
            </a:xfrm>
            <a:prstGeom prst="roundRect">
              <a:avLst>
                <a:gd name="adj" fmla="val 50000"/>
              </a:avLst>
            </a:prstGeom>
            <a:solidFill>
              <a:srgbClr val="1B3E73"/>
            </a:solidFill>
            <a:ln/>
          </p:spPr>
        </p:sp>
        <p:sp>
          <p:nvSpPr>
            <p:cNvPr id="55" name="Part 2"/>
            <p:cNvSpPr txBox="1"/>
            <p:nvPr/>
          </p:nvSpPr>
          <p:spPr>
            <a:xfrm>
              <a:off x="9601200" y="3410712"/>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Hình ảnh</a:t>
              </a:r>
              <a:endParaRPr lang="en-US" sz="1250" dirty="0"/>
            </a:p>
          </p:txBody>
        </p:sp>
      </p:grpSp>
      <p:grpSp>
        <p:nvGrpSpPr>
          <p:cNvPr id="73" name="Group 17">
            <a:extLst>
              <a:ext uri="{FF2B5EF4-FFF2-40B4-BE49-F238E27FC236}">
                <a16:creationId xmlns:a16="http://schemas.microsoft.com/office/drawing/2014/main" id="{FBADA2F7-011A-B01B-6C42-237156205C2B}"/>
              </a:ext>
            </a:extLst>
          </p:cNvPr>
          <p:cNvGrpSpPr/>
          <p:nvPr/>
        </p:nvGrpSpPr>
        <p:grpSpPr>
          <a:xfrm>
            <a:off x="7680960" y="3941064"/>
            <a:ext cx="1783080" cy="402336"/>
            <a:chOff x="7680960" y="3941064"/>
            <a:chExt cx="1783080" cy="402336"/>
          </a:xfrm>
        </p:grpSpPr>
        <p:sp>
          <p:nvSpPr>
            <p:cNvPr id="56" name="Part 1"/>
            <p:cNvSpPr/>
            <p:nvPr/>
          </p:nvSpPr>
          <p:spPr>
            <a:xfrm>
              <a:off x="7680960" y="3941064"/>
              <a:ext cx="1783080" cy="402336"/>
            </a:xfrm>
            <a:prstGeom prst="roundRect">
              <a:avLst>
                <a:gd name="adj" fmla="val 50000"/>
              </a:avLst>
            </a:prstGeom>
            <a:solidFill>
              <a:srgbClr val="1B3E73"/>
            </a:solidFill>
            <a:ln/>
          </p:spPr>
        </p:sp>
        <p:sp>
          <p:nvSpPr>
            <p:cNvPr id="57" name="Part 2"/>
            <p:cNvSpPr txBox="1"/>
            <p:nvPr/>
          </p:nvSpPr>
          <p:spPr>
            <a:xfrm>
              <a:off x="7680960" y="3941064"/>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Cài đặt</a:t>
              </a:r>
              <a:endParaRPr lang="en-US" sz="1250" dirty="0"/>
            </a:p>
          </p:txBody>
        </p:sp>
      </p:grpSp>
      <p:grpSp>
        <p:nvGrpSpPr>
          <p:cNvPr id="74" name="Group 18">
            <a:extLst>
              <a:ext uri="{FF2B5EF4-FFF2-40B4-BE49-F238E27FC236}">
                <a16:creationId xmlns:a16="http://schemas.microsoft.com/office/drawing/2014/main" id="{F0EB4CF2-A88F-8891-EA58-470026FA8CE5}"/>
              </a:ext>
            </a:extLst>
          </p:cNvPr>
          <p:cNvGrpSpPr/>
          <p:nvPr/>
        </p:nvGrpSpPr>
        <p:grpSpPr>
          <a:xfrm>
            <a:off x="9601200" y="3941064"/>
            <a:ext cx="1783080" cy="402336"/>
            <a:chOff x="9601200" y="3941064"/>
            <a:chExt cx="1783080" cy="402336"/>
          </a:xfrm>
        </p:grpSpPr>
        <p:sp>
          <p:nvSpPr>
            <p:cNvPr id="58" name="Part 1"/>
            <p:cNvSpPr/>
            <p:nvPr/>
          </p:nvSpPr>
          <p:spPr>
            <a:xfrm>
              <a:off x="9601200" y="3941064"/>
              <a:ext cx="1783080" cy="402336"/>
            </a:xfrm>
            <a:prstGeom prst="roundRect">
              <a:avLst>
                <a:gd name="adj" fmla="val 50000"/>
              </a:avLst>
            </a:prstGeom>
            <a:solidFill>
              <a:srgbClr val="1B3E73"/>
            </a:solidFill>
            <a:ln/>
          </p:spPr>
        </p:sp>
        <p:sp>
          <p:nvSpPr>
            <p:cNvPr id="59" name="Part 2"/>
            <p:cNvSpPr txBox="1"/>
            <p:nvPr/>
          </p:nvSpPr>
          <p:spPr>
            <a:xfrm>
              <a:off x="9601200" y="3941064"/>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Tài khoản</a:t>
              </a:r>
              <a:endParaRPr lang="en-US" sz="1250" dirty="0"/>
            </a:p>
          </p:txBody>
        </p:sp>
      </p:grpSp>
      <p:grpSp>
        <p:nvGrpSpPr>
          <p:cNvPr id="75" name="Group 19">
            <a:extLst>
              <a:ext uri="{FF2B5EF4-FFF2-40B4-BE49-F238E27FC236}">
                <a16:creationId xmlns:a16="http://schemas.microsoft.com/office/drawing/2014/main" id="{A536589F-4906-098F-5397-6A17540AF697}"/>
              </a:ext>
            </a:extLst>
          </p:cNvPr>
          <p:cNvGrpSpPr/>
          <p:nvPr/>
        </p:nvGrpSpPr>
        <p:grpSpPr>
          <a:xfrm>
            <a:off x="7680960" y="4471416"/>
            <a:ext cx="3703320" cy="420624"/>
            <a:chOff x="7680960" y="4471416"/>
            <a:chExt cx="3703320" cy="420624"/>
          </a:xfrm>
        </p:grpSpPr>
        <p:sp>
          <p:nvSpPr>
            <p:cNvPr id="60" name="Part 1"/>
            <p:cNvSpPr/>
            <p:nvPr/>
          </p:nvSpPr>
          <p:spPr>
            <a:xfrm>
              <a:off x="7680960" y="4471416"/>
              <a:ext cx="3703320" cy="420624"/>
            </a:xfrm>
            <a:prstGeom prst="roundRect">
              <a:avLst>
                <a:gd name="adj" fmla="val 50000"/>
              </a:avLst>
            </a:prstGeom>
            <a:solidFill>
              <a:srgbClr val="0F2C59"/>
            </a:solidFill>
            <a:ln w="19050">
              <a:solidFill>
                <a:srgbClr val="E5B53A"/>
              </a:solidFill>
              <a:prstDash val="solid"/>
            </a:ln>
          </p:spPr>
        </p:sp>
        <p:sp>
          <p:nvSpPr>
            <p:cNvPr id="61" name="Part 2"/>
            <p:cNvSpPr txBox="1"/>
            <p:nvPr/>
          </p:nvSpPr>
          <p:spPr>
            <a:xfrm>
              <a:off x="7680960" y="4471416"/>
              <a:ext cx="3703320" cy="420624"/>
            </a:xfrm>
            <a:prstGeom prst="rect">
              <a:avLst/>
            </a:prstGeom>
            <a:noFill/>
            <a:ln/>
          </p:spPr>
          <p:txBody>
            <a:bodyPr wrap="square" lIns="0" tIns="0" rIns="0" bIns="0" rtlCol="0" anchor="ctr"/>
            <a:lstStyle/>
            <a:p>
              <a:pPr marL="0" indent="0" algn="ctr">
                <a:buNone/>
              </a:pPr>
              <a:r>
                <a:rPr lang="en-US" sz="1300" b="1" dirty="0">
                  <a:solidFill>
                    <a:srgbClr val="E5B53A"/>
                  </a:solidFill>
                  <a:latin typeface="Arial" pitchFamily="34" charset="0"/>
                  <a:ea typeface="Arial" pitchFamily="34" charset="-122"/>
                  <a:cs typeface="Arial" pitchFamily="34" charset="-120"/>
                </a:rPr>
                <a:t>Đăng ký nhập học</a:t>
              </a:r>
              <a:endParaRPr lang="en-US" sz="1300" dirty="0"/>
            </a:p>
          </p:txBody>
        </p:sp>
      </p:grpSp>
      <p:sp>
        <p:nvSpPr>
          <p:cNvPr id="62" name="Shape 20"/>
          <p:cNvSpPr txBox="1"/>
          <p:nvPr/>
        </p:nvSpPr>
        <p:spPr>
          <a:xfrm>
            <a:off x="7680960" y="5074920"/>
            <a:ext cx="3749040" cy="502920"/>
          </a:xfrm>
          <a:prstGeom prst="rect">
            <a:avLst/>
          </a:prstGeom>
          <a:noFill/>
          <a:ln/>
        </p:spPr>
        <p:txBody>
          <a:bodyPr wrap="square" lIns="0" tIns="0" rIns="0" bIns="0" rtlCol="0" anchor="t"/>
          <a:lstStyle/>
          <a:p>
            <a:pPr marL="0" indent="0" algn="l">
              <a:buNone/>
            </a:pPr>
            <a:r>
              <a:rPr lang="en-US" sz="1150" dirty="0">
                <a:solidFill>
                  <a:srgbClr val="A9B7D0"/>
                </a:solidFill>
                <a:latin typeface="Arial" pitchFamily="34" charset="0"/>
                <a:ea typeface="Arial" pitchFamily="34" charset="-122"/>
                <a:cs typeface="Arial" pitchFamily="34" charset="-120"/>
              </a:rPr>
              <a:t>Phân quyền: admin toàn quyền;</a:t>
            </a:r>
            <a:endParaRPr lang="en-US" sz="1150" dirty="0"/>
          </a:p>
          <a:p>
            <a:pPr marL="0" indent="0" algn="l">
              <a:buNone/>
            </a:pPr>
            <a:r>
              <a:rPr lang="en-US" sz="1150" dirty="0">
                <a:solidFill>
                  <a:srgbClr val="A9B7D0"/>
                </a:solidFill>
                <a:latin typeface="Arial" pitchFamily="34" charset="0"/>
                <a:ea typeface="Arial" pitchFamily="34" charset="-122"/>
                <a:cs typeface="Arial" pitchFamily="34" charset="-120"/>
              </a:rPr>
              <a:t>bien_tap không vào Cài đặt, Tài khoản</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50"/>
                                        <p:tgtEl>
                                          <p:spTgt spid="63"/>
                                        </p:tgtEl>
                                      </p:cBhvr>
                                    </p:animEffect>
                                    <p:anim calcmode="lin" valueType="num">
                                      <p:cBhvr>
                                        <p:cTn id="8" dur="550" fill="hold"/>
                                        <p:tgtEl>
                                          <p:spTgt spid="63"/>
                                        </p:tgtEl>
                                        <p:attrNameLst>
                                          <p:attrName>ppt_x</p:attrName>
                                        </p:attrNameLst>
                                      </p:cBhvr>
                                      <p:tavLst>
                                        <p:tav tm="0">
                                          <p:val>
                                            <p:strVal val="#ppt_x"/>
                                          </p:val>
                                        </p:tav>
                                        <p:tav tm="100000">
                                          <p:val>
                                            <p:strVal val="#ppt_x"/>
                                          </p:val>
                                        </p:tav>
                                      </p:tavLst>
                                    </p:anim>
                                    <p:anim calcmode="lin" valueType="num">
                                      <p:cBhvr>
                                        <p:cTn id="9" dur="550" fill="hold"/>
                                        <p:tgtEl>
                                          <p:spTgt spid="6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550"/>
                                        <p:tgtEl>
                                          <p:spTgt spid="64"/>
                                        </p:tgtEl>
                                      </p:cBhvr>
                                    </p:animEffect>
                                    <p:anim calcmode="lin" valueType="num">
                                      <p:cBhvr>
                                        <p:cTn id="13" dur="550" fill="hold"/>
                                        <p:tgtEl>
                                          <p:spTgt spid="64"/>
                                        </p:tgtEl>
                                        <p:attrNameLst>
                                          <p:attrName>ppt_x</p:attrName>
                                        </p:attrNameLst>
                                      </p:cBhvr>
                                      <p:tavLst>
                                        <p:tav tm="0">
                                          <p:val>
                                            <p:strVal val="#ppt_x"/>
                                          </p:val>
                                        </p:tav>
                                        <p:tav tm="100000">
                                          <p:val>
                                            <p:strVal val="#ppt_x"/>
                                          </p:val>
                                        </p:tav>
                                      </p:tavLst>
                                    </p:anim>
                                    <p:anim calcmode="lin" valueType="num">
                                      <p:cBhvr>
                                        <p:cTn id="14" dur="550" fill="hold"/>
                                        <p:tgtEl>
                                          <p:spTgt spid="6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4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550"/>
                                        <p:tgtEl>
                                          <p:spTgt spid="65"/>
                                        </p:tgtEl>
                                      </p:cBhvr>
                                    </p:animEffect>
                                    <p:anim calcmode="lin" valueType="num">
                                      <p:cBhvr>
                                        <p:cTn id="18" dur="550" fill="hold"/>
                                        <p:tgtEl>
                                          <p:spTgt spid="65"/>
                                        </p:tgtEl>
                                        <p:attrNameLst>
                                          <p:attrName>ppt_x</p:attrName>
                                        </p:attrNameLst>
                                      </p:cBhvr>
                                      <p:tavLst>
                                        <p:tav tm="0">
                                          <p:val>
                                            <p:strVal val="#ppt_x"/>
                                          </p:val>
                                        </p:tav>
                                        <p:tav tm="100000">
                                          <p:val>
                                            <p:strVal val="#ppt_x"/>
                                          </p:val>
                                        </p:tav>
                                      </p:tavLst>
                                    </p:anim>
                                    <p:anim calcmode="lin" valueType="num">
                                      <p:cBhvr>
                                        <p:cTn id="19" dur="550" fill="hold"/>
                                        <p:tgtEl>
                                          <p:spTgt spid="6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60"/>
                                  </p:stCondLst>
                                  <p:childTnLst>
                                    <p:set>
                                      <p:cBhvr>
                                        <p:cTn id="21" dur="1" fill="hold">
                                          <p:stCondLst>
                                            <p:cond delay="0"/>
                                          </p:stCondLst>
                                        </p:cTn>
                                        <p:tgtEl>
                                          <p:spTgt spid="66"/>
                                        </p:tgtEl>
                                        <p:attrNameLst>
                                          <p:attrName>style.visibility</p:attrName>
                                        </p:attrNameLst>
                                      </p:cBhvr>
                                      <p:to>
                                        <p:strVal val="visible"/>
                                      </p:to>
                                    </p:set>
                                    <p:animEffect transition="in" filter="fade">
                                      <p:cBhvr>
                                        <p:cTn id="22" dur="550"/>
                                        <p:tgtEl>
                                          <p:spTgt spid="66"/>
                                        </p:tgtEl>
                                      </p:cBhvr>
                                    </p:animEffect>
                                    <p:anim calcmode="lin" valueType="num">
                                      <p:cBhvr>
                                        <p:cTn id="23" dur="550" fill="hold"/>
                                        <p:tgtEl>
                                          <p:spTgt spid="66"/>
                                        </p:tgtEl>
                                        <p:attrNameLst>
                                          <p:attrName>ppt_x</p:attrName>
                                        </p:attrNameLst>
                                      </p:cBhvr>
                                      <p:tavLst>
                                        <p:tav tm="0">
                                          <p:val>
                                            <p:strVal val="#ppt_x"/>
                                          </p:val>
                                        </p:tav>
                                        <p:tav tm="100000">
                                          <p:val>
                                            <p:strVal val="#ppt_x"/>
                                          </p:val>
                                        </p:tav>
                                      </p:tavLst>
                                    </p:anim>
                                    <p:anim calcmode="lin" valueType="num">
                                      <p:cBhvr>
                                        <p:cTn id="24" dur="550" fill="hold"/>
                                        <p:tgtEl>
                                          <p:spTgt spid="6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80"/>
                                  </p:stCondLst>
                                  <p:childTnLst>
                                    <p:set>
                                      <p:cBhvr>
                                        <p:cTn id="26" dur="1" fill="hold">
                                          <p:stCondLst>
                                            <p:cond delay="0"/>
                                          </p:stCondLst>
                                        </p:cTn>
                                        <p:tgtEl>
                                          <p:spTgt spid="67"/>
                                        </p:tgtEl>
                                        <p:attrNameLst>
                                          <p:attrName>style.visibility</p:attrName>
                                        </p:attrNameLst>
                                      </p:cBhvr>
                                      <p:to>
                                        <p:strVal val="visible"/>
                                      </p:to>
                                    </p:set>
                                    <p:animEffect transition="in" filter="fade">
                                      <p:cBhvr>
                                        <p:cTn id="27" dur="550"/>
                                        <p:tgtEl>
                                          <p:spTgt spid="67"/>
                                        </p:tgtEl>
                                      </p:cBhvr>
                                    </p:animEffect>
                                    <p:anim calcmode="lin" valueType="num">
                                      <p:cBhvr>
                                        <p:cTn id="28" dur="550" fill="hold"/>
                                        <p:tgtEl>
                                          <p:spTgt spid="67"/>
                                        </p:tgtEl>
                                        <p:attrNameLst>
                                          <p:attrName>ppt_x</p:attrName>
                                        </p:attrNameLst>
                                      </p:cBhvr>
                                      <p:tavLst>
                                        <p:tav tm="0">
                                          <p:val>
                                            <p:strVal val="#ppt_x"/>
                                          </p:val>
                                        </p:tav>
                                        <p:tav tm="100000">
                                          <p:val>
                                            <p:strVal val="#ppt_x"/>
                                          </p:val>
                                        </p:tav>
                                      </p:tavLst>
                                    </p:anim>
                                    <p:anim calcmode="lin" valueType="num">
                                      <p:cBhvr>
                                        <p:cTn id="29" dur="550" fill="hold"/>
                                        <p:tgtEl>
                                          <p:spTgt spid="67"/>
                                        </p:tgtEl>
                                        <p:attrNameLst>
                                          <p:attrName>ppt_y</p:attrName>
                                        </p:attrNameLst>
                                      </p:cBhvr>
                                      <p:tavLst>
                                        <p:tav tm="0">
                                          <p:val>
                                            <p:strVal val="#ppt_y+.1"/>
                                          </p:val>
                                        </p:tav>
                                        <p:tav tm="100000">
                                          <p:val>
                                            <p:strVal val="#ppt_y"/>
                                          </p:val>
                                        </p:tav>
                                      </p:tavLst>
                                    </p:anim>
                                  </p:childTnLst>
                                </p:cTn>
                              </p:par>
                            </p:childTnLst>
                          </p:cTn>
                        </p:par>
                        <p:par>
                          <p:cTn id="30" fill="hold">
                            <p:stCondLst>
                              <p:cond delay="1030"/>
                            </p:stCondLst>
                            <p:childTnLst>
                              <p:par>
                                <p:cTn id="31" presetID="10" presetClass="entr" presetSubtype="0" fill="hold" nodeType="afterEffect">
                                  <p:stCondLst>
                                    <p:cond delay="0"/>
                                  </p:stCondLst>
                                  <p:childTnLst>
                                    <p:set>
                                      <p:cBhvr>
                                        <p:cTn id="32" dur="1" fill="hold">
                                          <p:stCondLst>
                                            <p:cond delay="0"/>
                                          </p:stCondLst>
                                        </p:cTn>
                                        <p:tgtEl>
                                          <p:spTgt spid="68"/>
                                        </p:tgtEl>
                                        <p:attrNameLst>
                                          <p:attrName>style.visibility</p:attrName>
                                        </p:attrNameLst>
                                      </p:cBhvr>
                                      <p:to>
                                        <p:strVal val="visible"/>
                                      </p:to>
                                    </p:set>
                                    <p:animEffect transition="in" filter="fade">
                                      <p:cBhvr>
                                        <p:cTn id="33" dur="500"/>
                                        <p:tgtEl>
                                          <p:spTgt spid="68"/>
                                        </p:tgtEl>
                                      </p:cBhvr>
                                    </p:animEffect>
                                  </p:childTnLst>
                                </p:cTn>
                              </p:par>
                            </p:childTnLst>
                          </p:cTn>
                        </p:par>
                        <p:par>
                          <p:cTn id="34" fill="hold">
                            <p:stCondLst>
                              <p:cond delay="1530"/>
                            </p:stCondLst>
                            <p:childTnLst>
                              <p:par>
                                <p:cTn id="35" presetID="53" presetClass="entr" presetSubtype="16" fill="hold" nodeType="afterEffect">
                                  <p:stCondLst>
                                    <p:cond delay="0"/>
                                  </p:stCondLst>
                                  <p:childTnLst>
                                    <p:set>
                                      <p:cBhvr>
                                        <p:cTn id="36" dur="1" fill="hold">
                                          <p:stCondLst>
                                            <p:cond delay="0"/>
                                          </p:stCondLst>
                                        </p:cTn>
                                        <p:tgtEl>
                                          <p:spTgt spid="69"/>
                                        </p:tgtEl>
                                        <p:attrNameLst>
                                          <p:attrName>style.visibility</p:attrName>
                                        </p:attrNameLst>
                                      </p:cBhvr>
                                      <p:to>
                                        <p:strVal val="visible"/>
                                      </p:to>
                                    </p:set>
                                    <p:anim calcmode="lin" valueType="num">
                                      <p:cBhvr>
                                        <p:cTn id="37" dur="500" fill="hold"/>
                                        <p:tgtEl>
                                          <p:spTgt spid="69"/>
                                        </p:tgtEl>
                                        <p:attrNameLst>
                                          <p:attrName>ppt_w</p:attrName>
                                        </p:attrNameLst>
                                      </p:cBhvr>
                                      <p:tavLst>
                                        <p:tav tm="0">
                                          <p:val>
                                            <p:fltVal val="0"/>
                                          </p:val>
                                        </p:tav>
                                        <p:tav tm="100000">
                                          <p:val>
                                            <p:strVal val="#ppt_w"/>
                                          </p:val>
                                        </p:tav>
                                      </p:tavLst>
                                    </p:anim>
                                    <p:anim calcmode="lin" valueType="num">
                                      <p:cBhvr>
                                        <p:cTn id="38" dur="500" fill="hold"/>
                                        <p:tgtEl>
                                          <p:spTgt spid="69"/>
                                        </p:tgtEl>
                                        <p:attrNameLst>
                                          <p:attrName>ppt_h</p:attrName>
                                        </p:attrNameLst>
                                      </p:cBhvr>
                                      <p:tavLst>
                                        <p:tav tm="0">
                                          <p:val>
                                            <p:fltVal val="0"/>
                                          </p:val>
                                        </p:tav>
                                        <p:tav tm="100000">
                                          <p:val>
                                            <p:strVal val="#ppt_h"/>
                                          </p:val>
                                        </p:tav>
                                      </p:tavLst>
                                    </p:anim>
                                    <p:animEffect transition="in" filter="fade">
                                      <p:cBhvr>
                                        <p:cTn id="39" dur="500"/>
                                        <p:tgtEl>
                                          <p:spTgt spid="69"/>
                                        </p:tgtEl>
                                      </p:cBhvr>
                                    </p:animEffect>
                                  </p:childTnLst>
                                </p:cTn>
                              </p:par>
                              <p:par>
                                <p:cTn id="40" presetID="53" presetClass="entr" presetSubtype="16" fill="hold" nodeType="withEffect">
                                  <p:stCondLst>
                                    <p:cond delay="120"/>
                                  </p:stCondLst>
                                  <p:childTnLst>
                                    <p:set>
                                      <p:cBhvr>
                                        <p:cTn id="41" dur="1" fill="hold">
                                          <p:stCondLst>
                                            <p:cond delay="0"/>
                                          </p:stCondLst>
                                        </p:cTn>
                                        <p:tgtEl>
                                          <p:spTgt spid="70"/>
                                        </p:tgtEl>
                                        <p:attrNameLst>
                                          <p:attrName>style.visibility</p:attrName>
                                        </p:attrNameLst>
                                      </p:cBhvr>
                                      <p:to>
                                        <p:strVal val="visible"/>
                                      </p:to>
                                    </p:set>
                                    <p:anim calcmode="lin" valueType="num">
                                      <p:cBhvr>
                                        <p:cTn id="42" dur="500" fill="hold"/>
                                        <p:tgtEl>
                                          <p:spTgt spid="70"/>
                                        </p:tgtEl>
                                        <p:attrNameLst>
                                          <p:attrName>ppt_w</p:attrName>
                                        </p:attrNameLst>
                                      </p:cBhvr>
                                      <p:tavLst>
                                        <p:tav tm="0">
                                          <p:val>
                                            <p:fltVal val="0"/>
                                          </p:val>
                                        </p:tav>
                                        <p:tav tm="100000">
                                          <p:val>
                                            <p:strVal val="#ppt_w"/>
                                          </p:val>
                                        </p:tav>
                                      </p:tavLst>
                                    </p:anim>
                                    <p:anim calcmode="lin" valueType="num">
                                      <p:cBhvr>
                                        <p:cTn id="43" dur="500" fill="hold"/>
                                        <p:tgtEl>
                                          <p:spTgt spid="70"/>
                                        </p:tgtEl>
                                        <p:attrNameLst>
                                          <p:attrName>ppt_h</p:attrName>
                                        </p:attrNameLst>
                                      </p:cBhvr>
                                      <p:tavLst>
                                        <p:tav tm="0">
                                          <p:val>
                                            <p:fltVal val="0"/>
                                          </p:val>
                                        </p:tav>
                                        <p:tav tm="100000">
                                          <p:val>
                                            <p:strVal val="#ppt_h"/>
                                          </p:val>
                                        </p:tav>
                                      </p:tavLst>
                                    </p:anim>
                                    <p:animEffect transition="in" filter="fade">
                                      <p:cBhvr>
                                        <p:cTn id="44" dur="500"/>
                                        <p:tgtEl>
                                          <p:spTgt spid="70"/>
                                        </p:tgtEl>
                                      </p:cBhvr>
                                    </p:animEffect>
                                  </p:childTnLst>
                                </p:cTn>
                              </p:par>
                              <p:par>
                                <p:cTn id="45" presetID="53" presetClass="entr" presetSubtype="16" fill="hold" nodeType="withEffect">
                                  <p:stCondLst>
                                    <p:cond delay="240"/>
                                  </p:stCondLst>
                                  <p:childTnLst>
                                    <p:set>
                                      <p:cBhvr>
                                        <p:cTn id="46" dur="1" fill="hold">
                                          <p:stCondLst>
                                            <p:cond delay="0"/>
                                          </p:stCondLst>
                                        </p:cTn>
                                        <p:tgtEl>
                                          <p:spTgt spid="71"/>
                                        </p:tgtEl>
                                        <p:attrNameLst>
                                          <p:attrName>style.visibility</p:attrName>
                                        </p:attrNameLst>
                                      </p:cBhvr>
                                      <p:to>
                                        <p:strVal val="visible"/>
                                      </p:to>
                                    </p:set>
                                    <p:anim calcmode="lin" valueType="num">
                                      <p:cBhvr>
                                        <p:cTn id="47" dur="500" fill="hold"/>
                                        <p:tgtEl>
                                          <p:spTgt spid="71"/>
                                        </p:tgtEl>
                                        <p:attrNameLst>
                                          <p:attrName>ppt_w</p:attrName>
                                        </p:attrNameLst>
                                      </p:cBhvr>
                                      <p:tavLst>
                                        <p:tav tm="0">
                                          <p:val>
                                            <p:fltVal val="0"/>
                                          </p:val>
                                        </p:tav>
                                        <p:tav tm="100000">
                                          <p:val>
                                            <p:strVal val="#ppt_w"/>
                                          </p:val>
                                        </p:tav>
                                      </p:tavLst>
                                    </p:anim>
                                    <p:anim calcmode="lin" valueType="num">
                                      <p:cBhvr>
                                        <p:cTn id="48" dur="500" fill="hold"/>
                                        <p:tgtEl>
                                          <p:spTgt spid="71"/>
                                        </p:tgtEl>
                                        <p:attrNameLst>
                                          <p:attrName>ppt_h</p:attrName>
                                        </p:attrNameLst>
                                      </p:cBhvr>
                                      <p:tavLst>
                                        <p:tav tm="0">
                                          <p:val>
                                            <p:fltVal val="0"/>
                                          </p:val>
                                        </p:tav>
                                        <p:tav tm="100000">
                                          <p:val>
                                            <p:strVal val="#ppt_h"/>
                                          </p:val>
                                        </p:tav>
                                      </p:tavLst>
                                    </p:anim>
                                    <p:animEffect transition="in" filter="fade">
                                      <p:cBhvr>
                                        <p:cTn id="49" dur="500"/>
                                        <p:tgtEl>
                                          <p:spTgt spid="71"/>
                                        </p:tgtEl>
                                      </p:cBhvr>
                                    </p:animEffect>
                                  </p:childTnLst>
                                </p:cTn>
                              </p:par>
                              <p:par>
                                <p:cTn id="50" presetID="53" presetClass="entr" presetSubtype="16" fill="hold" nodeType="withEffect">
                                  <p:stCondLst>
                                    <p:cond delay="360"/>
                                  </p:stCondLst>
                                  <p:childTnLst>
                                    <p:set>
                                      <p:cBhvr>
                                        <p:cTn id="51" dur="1" fill="hold">
                                          <p:stCondLst>
                                            <p:cond delay="0"/>
                                          </p:stCondLst>
                                        </p:cTn>
                                        <p:tgtEl>
                                          <p:spTgt spid="72"/>
                                        </p:tgtEl>
                                        <p:attrNameLst>
                                          <p:attrName>style.visibility</p:attrName>
                                        </p:attrNameLst>
                                      </p:cBhvr>
                                      <p:to>
                                        <p:strVal val="visible"/>
                                      </p:to>
                                    </p:set>
                                    <p:anim calcmode="lin" valueType="num">
                                      <p:cBhvr>
                                        <p:cTn id="52" dur="500" fill="hold"/>
                                        <p:tgtEl>
                                          <p:spTgt spid="72"/>
                                        </p:tgtEl>
                                        <p:attrNameLst>
                                          <p:attrName>ppt_w</p:attrName>
                                        </p:attrNameLst>
                                      </p:cBhvr>
                                      <p:tavLst>
                                        <p:tav tm="0">
                                          <p:val>
                                            <p:fltVal val="0"/>
                                          </p:val>
                                        </p:tav>
                                        <p:tav tm="100000">
                                          <p:val>
                                            <p:strVal val="#ppt_w"/>
                                          </p:val>
                                        </p:tav>
                                      </p:tavLst>
                                    </p:anim>
                                    <p:anim calcmode="lin" valueType="num">
                                      <p:cBhvr>
                                        <p:cTn id="53" dur="500" fill="hold"/>
                                        <p:tgtEl>
                                          <p:spTgt spid="72"/>
                                        </p:tgtEl>
                                        <p:attrNameLst>
                                          <p:attrName>ppt_h</p:attrName>
                                        </p:attrNameLst>
                                      </p:cBhvr>
                                      <p:tavLst>
                                        <p:tav tm="0">
                                          <p:val>
                                            <p:fltVal val="0"/>
                                          </p:val>
                                        </p:tav>
                                        <p:tav tm="100000">
                                          <p:val>
                                            <p:strVal val="#ppt_h"/>
                                          </p:val>
                                        </p:tav>
                                      </p:tavLst>
                                    </p:anim>
                                    <p:animEffect transition="in" filter="fade">
                                      <p:cBhvr>
                                        <p:cTn id="54" dur="500"/>
                                        <p:tgtEl>
                                          <p:spTgt spid="72"/>
                                        </p:tgtEl>
                                      </p:cBhvr>
                                    </p:animEffect>
                                  </p:childTnLst>
                                </p:cTn>
                              </p:par>
                              <p:par>
                                <p:cTn id="55" presetID="53" presetClass="entr" presetSubtype="16" fill="hold" nodeType="withEffect">
                                  <p:stCondLst>
                                    <p:cond delay="480"/>
                                  </p:stCondLst>
                                  <p:childTnLst>
                                    <p:set>
                                      <p:cBhvr>
                                        <p:cTn id="56" dur="1" fill="hold">
                                          <p:stCondLst>
                                            <p:cond delay="0"/>
                                          </p:stCondLst>
                                        </p:cTn>
                                        <p:tgtEl>
                                          <p:spTgt spid="73"/>
                                        </p:tgtEl>
                                        <p:attrNameLst>
                                          <p:attrName>style.visibility</p:attrName>
                                        </p:attrNameLst>
                                      </p:cBhvr>
                                      <p:to>
                                        <p:strVal val="visible"/>
                                      </p:to>
                                    </p:set>
                                    <p:anim calcmode="lin" valueType="num">
                                      <p:cBhvr>
                                        <p:cTn id="57" dur="500" fill="hold"/>
                                        <p:tgtEl>
                                          <p:spTgt spid="73"/>
                                        </p:tgtEl>
                                        <p:attrNameLst>
                                          <p:attrName>ppt_w</p:attrName>
                                        </p:attrNameLst>
                                      </p:cBhvr>
                                      <p:tavLst>
                                        <p:tav tm="0">
                                          <p:val>
                                            <p:fltVal val="0"/>
                                          </p:val>
                                        </p:tav>
                                        <p:tav tm="100000">
                                          <p:val>
                                            <p:strVal val="#ppt_w"/>
                                          </p:val>
                                        </p:tav>
                                      </p:tavLst>
                                    </p:anim>
                                    <p:anim calcmode="lin" valueType="num">
                                      <p:cBhvr>
                                        <p:cTn id="58" dur="500" fill="hold"/>
                                        <p:tgtEl>
                                          <p:spTgt spid="73"/>
                                        </p:tgtEl>
                                        <p:attrNameLst>
                                          <p:attrName>ppt_h</p:attrName>
                                        </p:attrNameLst>
                                      </p:cBhvr>
                                      <p:tavLst>
                                        <p:tav tm="0">
                                          <p:val>
                                            <p:fltVal val="0"/>
                                          </p:val>
                                        </p:tav>
                                        <p:tav tm="100000">
                                          <p:val>
                                            <p:strVal val="#ppt_h"/>
                                          </p:val>
                                        </p:tav>
                                      </p:tavLst>
                                    </p:anim>
                                    <p:animEffect transition="in" filter="fade">
                                      <p:cBhvr>
                                        <p:cTn id="59" dur="500"/>
                                        <p:tgtEl>
                                          <p:spTgt spid="73"/>
                                        </p:tgtEl>
                                      </p:cBhvr>
                                    </p:animEffect>
                                  </p:childTnLst>
                                </p:cTn>
                              </p:par>
                              <p:par>
                                <p:cTn id="60" presetID="53" presetClass="entr" presetSubtype="16" fill="hold" nodeType="withEffect">
                                  <p:stCondLst>
                                    <p:cond delay="600"/>
                                  </p:stCondLst>
                                  <p:childTnLst>
                                    <p:set>
                                      <p:cBhvr>
                                        <p:cTn id="61" dur="1" fill="hold">
                                          <p:stCondLst>
                                            <p:cond delay="0"/>
                                          </p:stCondLst>
                                        </p:cTn>
                                        <p:tgtEl>
                                          <p:spTgt spid="74"/>
                                        </p:tgtEl>
                                        <p:attrNameLst>
                                          <p:attrName>style.visibility</p:attrName>
                                        </p:attrNameLst>
                                      </p:cBhvr>
                                      <p:to>
                                        <p:strVal val="visible"/>
                                      </p:to>
                                    </p:set>
                                    <p:anim calcmode="lin" valueType="num">
                                      <p:cBhvr>
                                        <p:cTn id="62" dur="500" fill="hold"/>
                                        <p:tgtEl>
                                          <p:spTgt spid="74"/>
                                        </p:tgtEl>
                                        <p:attrNameLst>
                                          <p:attrName>ppt_w</p:attrName>
                                        </p:attrNameLst>
                                      </p:cBhvr>
                                      <p:tavLst>
                                        <p:tav tm="0">
                                          <p:val>
                                            <p:fltVal val="0"/>
                                          </p:val>
                                        </p:tav>
                                        <p:tav tm="100000">
                                          <p:val>
                                            <p:strVal val="#ppt_w"/>
                                          </p:val>
                                        </p:tav>
                                      </p:tavLst>
                                    </p:anim>
                                    <p:anim calcmode="lin" valueType="num">
                                      <p:cBhvr>
                                        <p:cTn id="63" dur="500" fill="hold"/>
                                        <p:tgtEl>
                                          <p:spTgt spid="74"/>
                                        </p:tgtEl>
                                        <p:attrNameLst>
                                          <p:attrName>ppt_h</p:attrName>
                                        </p:attrNameLst>
                                      </p:cBhvr>
                                      <p:tavLst>
                                        <p:tav tm="0">
                                          <p:val>
                                            <p:fltVal val="0"/>
                                          </p:val>
                                        </p:tav>
                                        <p:tav tm="100000">
                                          <p:val>
                                            <p:strVal val="#ppt_h"/>
                                          </p:val>
                                        </p:tav>
                                      </p:tavLst>
                                    </p:anim>
                                    <p:animEffect transition="in" filter="fade">
                                      <p:cBhvr>
                                        <p:cTn id="64" dur="500"/>
                                        <p:tgtEl>
                                          <p:spTgt spid="74"/>
                                        </p:tgtEl>
                                      </p:cBhvr>
                                    </p:animEffect>
                                  </p:childTnLst>
                                </p:cTn>
                              </p:par>
                            </p:childTnLst>
                          </p:cTn>
                        </p:par>
                        <p:par>
                          <p:cTn id="65" fill="hold">
                            <p:stCondLst>
                              <p:cond delay="2630"/>
                            </p:stCondLst>
                            <p:childTnLst>
                              <p:par>
                                <p:cTn id="66" presetID="53" presetClass="entr" presetSubtype="16" fill="hold" nodeType="afterEffect">
                                  <p:stCondLst>
                                    <p:cond delay="0"/>
                                  </p:stCondLst>
                                  <p:childTnLst>
                                    <p:set>
                                      <p:cBhvr>
                                        <p:cTn id="67" dur="1" fill="hold">
                                          <p:stCondLst>
                                            <p:cond delay="0"/>
                                          </p:stCondLst>
                                        </p:cTn>
                                        <p:tgtEl>
                                          <p:spTgt spid="75"/>
                                        </p:tgtEl>
                                        <p:attrNameLst>
                                          <p:attrName>style.visibility</p:attrName>
                                        </p:attrNameLst>
                                      </p:cBhvr>
                                      <p:to>
                                        <p:strVal val="visible"/>
                                      </p:to>
                                    </p:set>
                                    <p:anim calcmode="lin" valueType="num">
                                      <p:cBhvr>
                                        <p:cTn id="68" dur="500" fill="hold"/>
                                        <p:tgtEl>
                                          <p:spTgt spid="75"/>
                                        </p:tgtEl>
                                        <p:attrNameLst>
                                          <p:attrName>ppt_w</p:attrName>
                                        </p:attrNameLst>
                                      </p:cBhvr>
                                      <p:tavLst>
                                        <p:tav tm="0">
                                          <p:val>
                                            <p:fltVal val="0"/>
                                          </p:val>
                                        </p:tav>
                                        <p:tav tm="100000">
                                          <p:val>
                                            <p:strVal val="#ppt_w"/>
                                          </p:val>
                                        </p:tav>
                                      </p:tavLst>
                                    </p:anim>
                                    <p:anim calcmode="lin" valueType="num">
                                      <p:cBhvr>
                                        <p:cTn id="69" dur="500" fill="hold"/>
                                        <p:tgtEl>
                                          <p:spTgt spid="75"/>
                                        </p:tgtEl>
                                        <p:attrNameLst>
                                          <p:attrName>ppt_h</p:attrName>
                                        </p:attrNameLst>
                                      </p:cBhvr>
                                      <p:tavLst>
                                        <p:tav tm="0">
                                          <p:val>
                                            <p:fltVal val="0"/>
                                          </p:val>
                                        </p:tav>
                                        <p:tav tm="100000">
                                          <p:val>
                                            <p:strVal val="#ppt_h"/>
                                          </p:val>
                                        </p:tav>
                                      </p:tavLst>
                                    </p:anim>
                                    <p:animEffect transition="in" filter="fade">
                                      <p:cBhvr>
                                        <p:cTn id="70" dur="500"/>
                                        <p:tgtEl>
                                          <p:spTgt spid="75"/>
                                        </p:tgtEl>
                                      </p:cBhvr>
                                    </p:animEffect>
                                  </p:childTnLst>
                                </p:cTn>
                              </p:par>
                              <p:par>
                                <p:cTn id="71" presetID="10" presetClass="entr" presetSubtype="0" fill="hold" grpId="0" nodeType="withEffect">
                                  <p:stCondLst>
                                    <p:cond delay="120"/>
                                  </p:stCondLst>
                                  <p:childTnLst>
                                    <p:set>
                                      <p:cBhvr>
                                        <p:cTn id="72" dur="1" fill="hold">
                                          <p:stCondLst>
                                            <p:cond delay="0"/>
                                          </p:stCondLst>
                                        </p:cTn>
                                        <p:tgtEl>
                                          <p:spTgt spid="62"/>
                                        </p:tgtEl>
                                        <p:attrNameLst>
                                          <p:attrName>style.visibility</p:attrName>
                                        </p:attrNameLst>
                                      </p:cBhvr>
                                      <p:to>
                                        <p:strVal val="visible"/>
                                      </p:to>
                                    </p:set>
                                    <p:animEffect transition="in" filter="fade">
                                      <p:cBhvr>
                                        <p:cTn id="73" dur="500"/>
                                        <p:tgtEl>
                                          <p:spTgt spid="62"/>
                                        </p:tgtEl>
                                      </p:cBhvr>
                                    </p:animEffect>
                                  </p:childTnLst>
                                </p:cTn>
                              </p:par>
                            </p:childTnLst>
                          </p:cTn>
                        </p:par>
                        <p:par>
                          <p:cTn id="74" fill="hold">
                            <p:stCondLst>
                              <p:cond delay="3250"/>
                            </p:stCondLst>
                            <p:childTnLst>
                              <p:par>
                                <p:cTn id="75" presetID="6" presetClass="emph" presetSubtype="0" autoRev="1" fill="hold" nodeType="afterEffect">
                                  <p:stCondLst>
                                    <p:cond delay="0"/>
                                  </p:stCondLst>
                                  <p:childTnLst>
                                    <p:animScale>
                                      <p:cBhvr>
                                        <p:cTn id="76" dur="400" fill="hold"/>
                                        <p:tgtEl>
                                          <p:spTgt spid="75"/>
                                        </p:tgtEl>
                                      </p:cBhvr>
                                      <p:by x="150000" y="15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Kiến trúc MVC của hệ thống</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Luồng một request từ trình duyệt đến cơ sở dữ liệu và trở lại</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03 · THIẾT KẾ</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07 / 18</a:t>
            </a:r>
            <a:endParaRPr lang="en-US" sz="1000" dirty="0"/>
          </a:p>
        </p:txBody>
      </p:sp>
      <p:grpSp>
        <p:nvGrpSpPr>
          <p:cNvPr id="55" name="Group 7">
            <a:extLst>
              <a:ext uri="{FF2B5EF4-FFF2-40B4-BE49-F238E27FC236}">
                <a16:creationId xmlns:a16="http://schemas.microsoft.com/office/drawing/2014/main" id="{7FD37A3D-89D5-05EB-8381-34770DE0D1F1}"/>
              </a:ext>
            </a:extLst>
          </p:cNvPr>
          <p:cNvGrpSpPr/>
          <p:nvPr/>
        </p:nvGrpSpPr>
        <p:grpSpPr>
          <a:xfrm>
            <a:off x="548640" y="1691640"/>
            <a:ext cx="1874520" cy="1188720"/>
            <a:chOff x="548640" y="1691640"/>
            <a:chExt cx="1874520" cy="1188720"/>
          </a:xfrm>
        </p:grpSpPr>
        <p:sp>
          <p:nvSpPr>
            <p:cNvPr id="8" name="Part 1"/>
            <p:cNvSpPr/>
            <p:nvPr/>
          </p:nvSpPr>
          <p:spPr>
            <a:xfrm>
              <a:off x="548640" y="1691640"/>
              <a:ext cx="1874520" cy="1188720"/>
            </a:xfrm>
            <a:prstGeom prst="roundRect">
              <a:avLst>
                <a:gd name="adj" fmla="val 9231"/>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9" name="Part 2"/>
            <p:cNvSpPr/>
            <p:nvPr/>
          </p:nvSpPr>
          <p:spPr>
            <a:xfrm>
              <a:off x="713232" y="1874520"/>
              <a:ext cx="457200" cy="457200"/>
            </a:xfrm>
            <a:prstGeom prst="ellipse">
              <a:avLst/>
            </a:prstGeom>
            <a:solidFill>
              <a:srgbClr val="E8EDF5"/>
            </a:solidFill>
            <a:ln/>
          </p:spPr>
        </p:sp>
        <p:pic>
          <p:nvPicPr>
            <p:cNvPr id="10" name="Part 3" descr="Biểu tượng"/>
            <p:cNvPicPr>
              <a:picLocks noChangeAspect="1"/>
            </p:cNvPicPr>
            <p:nvPr/>
          </p:nvPicPr>
          <p:blipFill>
            <a:blip r:embed="rId3"/>
            <a:stretch>
              <a:fillRect/>
            </a:stretch>
          </p:blipFill>
          <p:spPr>
            <a:xfrm>
              <a:off x="816102" y="1977390"/>
              <a:ext cx="251460" cy="251460"/>
            </a:xfrm>
            <a:prstGeom prst="rect">
              <a:avLst/>
            </a:prstGeom>
          </p:spPr>
        </p:pic>
        <p:sp>
          <p:nvSpPr>
            <p:cNvPr id="11" name="Part 4"/>
            <p:cNvSpPr txBox="1"/>
            <p:nvPr/>
          </p:nvSpPr>
          <p:spPr>
            <a:xfrm>
              <a:off x="1243584" y="1874520"/>
              <a:ext cx="1143000" cy="457200"/>
            </a:xfrm>
            <a:prstGeom prst="rect">
              <a:avLst/>
            </a:prstGeom>
            <a:noFill/>
            <a:ln/>
          </p:spPr>
          <p:txBody>
            <a:bodyPr wrap="square" lIns="0" tIns="0" rIns="0" bIns="0" rtlCol="0" anchor="ctr"/>
            <a:lstStyle/>
            <a:p>
              <a:pPr marL="0" indent="0" algn="l">
                <a:buNone/>
              </a:pPr>
              <a:r>
                <a:rPr lang="en-US" sz="1350" b="1" dirty="0">
                  <a:solidFill>
                    <a:srgbClr val="0F2C59"/>
                  </a:solidFill>
                  <a:latin typeface="Arial" pitchFamily="34" charset="0"/>
                  <a:ea typeface="Arial" pitchFamily="34" charset="-122"/>
                  <a:cs typeface="Arial" pitchFamily="34" charset="-120"/>
                </a:rPr>
                <a:t>Trình duyệt</a:t>
              </a:r>
              <a:endParaRPr lang="en-US" sz="1350" dirty="0"/>
            </a:p>
          </p:txBody>
        </p:sp>
        <p:sp>
          <p:nvSpPr>
            <p:cNvPr id="12" name="Part 5"/>
            <p:cNvSpPr txBox="1"/>
            <p:nvPr/>
          </p:nvSpPr>
          <p:spPr>
            <a:xfrm>
              <a:off x="713232" y="2432304"/>
              <a:ext cx="1645920" cy="384048"/>
            </a:xfrm>
            <a:prstGeom prst="rect">
              <a:avLst/>
            </a:prstGeom>
            <a:noFill/>
            <a:ln/>
          </p:spPr>
          <p:txBody>
            <a:bodyPr wrap="square" lIns="0" tIns="0" rIns="0" bIns="0" rtlCol="0" anchor="t"/>
            <a:lstStyle/>
            <a:p>
              <a:pPr marL="0" indent="0" algn="l">
                <a:buNone/>
              </a:pPr>
              <a:r>
                <a:rPr lang="en-US" sz="1100" dirty="0">
                  <a:solidFill>
                    <a:srgbClr val="6B7280"/>
                  </a:solidFill>
                  <a:latin typeface="Arial" pitchFamily="34" charset="0"/>
                  <a:ea typeface="Arial" pitchFamily="34" charset="-122"/>
                  <a:cs typeface="Arial" pitchFamily="34" charset="-120"/>
                </a:rPr>
                <a:t>Phụ huynh, quản trị viên</a:t>
              </a:r>
              <a:endParaRPr lang="en-US" sz="1100" dirty="0"/>
            </a:p>
          </p:txBody>
        </p:sp>
      </p:grpSp>
      <p:sp>
        <p:nvSpPr>
          <p:cNvPr id="13" name="Shape 8"/>
          <p:cNvSpPr/>
          <p:nvPr/>
        </p:nvSpPr>
        <p:spPr>
          <a:xfrm>
            <a:off x="2468880" y="2286000"/>
            <a:ext cx="338328" cy="0"/>
          </a:xfrm>
          <a:prstGeom prst="line">
            <a:avLst/>
          </a:prstGeom>
          <a:noFill/>
          <a:ln w="25400">
            <a:solidFill>
              <a:srgbClr val="C9992A"/>
            </a:solidFill>
            <a:prstDash val="solid"/>
            <a:tailEnd type="triangle"/>
          </a:ln>
        </p:spPr>
      </p:sp>
      <p:grpSp>
        <p:nvGrpSpPr>
          <p:cNvPr id="56" name="Group 9">
            <a:extLst>
              <a:ext uri="{FF2B5EF4-FFF2-40B4-BE49-F238E27FC236}">
                <a16:creationId xmlns:a16="http://schemas.microsoft.com/office/drawing/2014/main" id="{37106C2C-9890-8CFC-A32C-7B1DE15DD1A3}"/>
              </a:ext>
            </a:extLst>
          </p:cNvPr>
          <p:cNvGrpSpPr/>
          <p:nvPr/>
        </p:nvGrpSpPr>
        <p:grpSpPr>
          <a:xfrm>
            <a:off x="2852928" y="1691640"/>
            <a:ext cx="1874520" cy="1188720"/>
            <a:chOff x="2852928" y="1691640"/>
            <a:chExt cx="1874520" cy="1188720"/>
          </a:xfrm>
        </p:grpSpPr>
        <p:sp>
          <p:nvSpPr>
            <p:cNvPr id="14" name="Part 1"/>
            <p:cNvSpPr/>
            <p:nvPr/>
          </p:nvSpPr>
          <p:spPr>
            <a:xfrm>
              <a:off x="2852928" y="1691640"/>
              <a:ext cx="1874520" cy="1188720"/>
            </a:xfrm>
            <a:prstGeom prst="roundRect">
              <a:avLst>
                <a:gd name="adj" fmla="val 9231"/>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15" name="Part 2"/>
            <p:cNvSpPr/>
            <p:nvPr/>
          </p:nvSpPr>
          <p:spPr>
            <a:xfrm>
              <a:off x="3017520" y="1874520"/>
              <a:ext cx="457200" cy="457200"/>
            </a:xfrm>
            <a:prstGeom prst="ellipse">
              <a:avLst/>
            </a:prstGeom>
            <a:solidFill>
              <a:srgbClr val="E8EDF5"/>
            </a:solidFill>
            <a:ln/>
          </p:spPr>
        </p:sp>
        <p:pic>
          <p:nvPicPr>
            <p:cNvPr id="16" name="Part 3" descr="Biểu tượng"/>
            <p:cNvPicPr>
              <a:picLocks noChangeAspect="1"/>
            </p:cNvPicPr>
            <p:nvPr/>
          </p:nvPicPr>
          <p:blipFill>
            <a:blip r:embed="rId4"/>
            <a:stretch>
              <a:fillRect/>
            </a:stretch>
          </p:blipFill>
          <p:spPr>
            <a:xfrm>
              <a:off x="3120390" y="1977390"/>
              <a:ext cx="251460" cy="251460"/>
            </a:xfrm>
            <a:prstGeom prst="rect">
              <a:avLst/>
            </a:prstGeom>
          </p:spPr>
        </p:pic>
        <p:sp>
          <p:nvSpPr>
            <p:cNvPr id="17" name="Part 4"/>
            <p:cNvSpPr txBox="1"/>
            <p:nvPr/>
          </p:nvSpPr>
          <p:spPr>
            <a:xfrm>
              <a:off x="3547872" y="1874520"/>
              <a:ext cx="1143000" cy="457200"/>
            </a:xfrm>
            <a:prstGeom prst="rect">
              <a:avLst/>
            </a:prstGeom>
            <a:noFill/>
            <a:ln/>
          </p:spPr>
          <p:txBody>
            <a:bodyPr wrap="square" lIns="0" tIns="0" rIns="0" bIns="0" rtlCol="0" anchor="ctr"/>
            <a:lstStyle/>
            <a:p>
              <a:pPr marL="0" indent="0" algn="l">
                <a:buNone/>
              </a:pPr>
              <a:r>
                <a:rPr lang="en-US" sz="1350" b="1" dirty="0">
                  <a:solidFill>
                    <a:srgbClr val="0F2C59"/>
                  </a:solidFill>
                  <a:latin typeface="Arial" pitchFamily="34" charset="0"/>
                  <a:ea typeface="Arial" pitchFamily="34" charset="-122"/>
                  <a:cs typeface="Arial" pitchFamily="34" charset="-120"/>
                </a:rPr>
                <a:t>index.php</a:t>
              </a:r>
              <a:endParaRPr lang="en-US" sz="1350" dirty="0"/>
            </a:p>
          </p:txBody>
        </p:sp>
        <p:sp>
          <p:nvSpPr>
            <p:cNvPr id="18" name="Part 5"/>
            <p:cNvSpPr txBox="1"/>
            <p:nvPr/>
          </p:nvSpPr>
          <p:spPr>
            <a:xfrm>
              <a:off x="3017520" y="2432304"/>
              <a:ext cx="1645920" cy="384048"/>
            </a:xfrm>
            <a:prstGeom prst="rect">
              <a:avLst/>
            </a:prstGeom>
            <a:noFill/>
            <a:ln/>
          </p:spPr>
          <p:txBody>
            <a:bodyPr wrap="square" lIns="0" tIns="0" rIns="0" bIns="0" rtlCol="0" anchor="t"/>
            <a:lstStyle/>
            <a:p>
              <a:pPr marL="0" indent="0" algn="l">
                <a:buNone/>
              </a:pPr>
              <a:r>
                <a:rPr lang="en-US" sz="1100" dirty="0">
                  <a:solidFill>
                    <a:srgbClr val="6B7280"/>
                  </a:solidFill>
                  <a:latin typeface="Arial" pitchFamily="34" charset="0"/>
                  <a:ea typeface="Arial" pitchFamily="34" charset="-122"/>
                  <a:cs typeface="Arial" pitchFamily="34" charset="-120"/>
                </a:rPr>
                <a:t>Front controller duy nhất</a:t>
              </a:r>
              <a:endParaRPr lang="en-US" sz="1100" dirty="0"/>
            </a:p>
          </p:txBody>
        </p:sp>
      </p:grpSp>
      <p:sp>
        <p:nvSpPr>
          <p:cNvPr id="19" name="Shape 10"/>
          <p:cNvSpPr/>
          <p:nvPr/>
        </p:nvSpPr>
        <p:spPr>
          <a:xfrm>
            <a:off x="4773168" y="2286000"/>
            <a:ext cx="338328" cy="0"/>
          </a:xfrm>
          <a:prstGeom prst="line">
            <a:avLst/>
          </a:prstGeom>
          <a:noFill/>
          <a:ln w="25400">
            <a:solidFill>
              <a:srgbClr val="C9992A"/>
            </a:solidFill>
            <a:prstDash val="solid"/>
            <a:tailEnd type="triangle"/>
          </a:ln>
        </p:spPr>
      </p:sp>
      <p:grpSp>
        <p:nvGrpSpPr>
          <p:cNvPr id="57" name="Group 11">
            <a:extLst>
              <a:ext uri="{FF2B5EF4-FFF2-40B4-BE49-F238E27FC236}">
                <a16:creationId xmlns:a16="http://schemas.microsoft.com/office/drawing/2014/main" id="{124336C2-9362-CB5D-9E0D-FE679CAEEEB6}"/>
              </a:ext>
            </a:extLst>
          </p:cNvPr>
          <p:cNvGrpSpPr/>
          <p:nvPr/>
        </p:nvGrpSpPr>
        <p:grpSpPr>
          <a:xfrm>
            <a:off x="5157216" y="1691640"/>
            <a:ext cx="1874520" cy="1188720"/>
            <a:chOff x="5157216" y="1691640"/>
            <a:chExt cx="1874520" cy="1188720"/>
          </a:xfrm>
        </p:grpSpPr>
        <p:sp>
          <p:nvSpPr>
            <p:cNvPr id="20" name="Part 1"/>
            <p:cNvSpPr/>
            <p:nvPr/>
          </p:nvSpPr>
          <p:spPr>
            <a:xfrm>
              <a:off x="5157216" y="1691640"/>
              <a:ext cx="1874520" cy="1188720"/>
            </a:xfrm>
            <a:prstGeom prst="roundRect">
              <a:avLst>
                <a:gd name="adj" fmla="val 9231"/>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1" name="Part 2"/>
            <p:cNvSpPr/>
            <p:nvPr/>
          </p:nvSpPr>
          <p:spPr>
            <a:xfrm>
              <a:off x="5321808" y="1874520"/>
              <a:ext cx="457200" cy="457200"/>
            </a:xfrm>
            <a:prstGeom prst="ellipse">
              <a:avLst/>
            </a:prstGeom>
            <a:solidFill>
              <a:srgbClr val="E8EDF5"/>
            </a:solidFill>
            <a:ln/>
          </p:spPr>
        </p:sp>
        <p:pic>
          <p:nvPicPr>
            <p:cNvPr id="22" name="Part 3" descr="Biểu tượng"/>
            <p:cNvPicPr>
              <a:picLocks noChangeAspect="1"/>
            </p:cNvPicPr>
            <p:nvPr/>
          </p:nvPicPr>
          <p:blipFill>
            <a:blip r:embed="rId5"/>
            <a:stretch>
              <a:fillRect/>
            </a:stretch>
          </p:blipFill>
          <p:spPr>
            <a:xfrm>
              <a:off x="5424678" y="1977390"/>
              <a:ext cx="251460" cy="251460"/>
            </a:xfrm>
            <a:prstGeom prst="rect">
              <a:avLst/>
            </a:prstGeom>
          </p:spPr>
        </p:pic>
        <p:sp>
          <p:nvSpPr>
            <p:cNvPr id="23" name="Part 4"/>
            <p:cNvSpPr txBox="1"/>
            <p:nvPr/>
          </p:nvSpPr>
          <p:spPr>
            <a:xfrm>
              <a:off x="5852160" y="1874520"/>
              <a:ext cx="1143000" cy="457200"/>
            </a:xfrm>
            <a:prstGeom prst="rect">
              <a:avLst/>
            </a:prstGeom>
            <a:noFill/>
            <a:ln/>
          </p:spPr>
          <p:txBody>
            <a:bodyPr wrap="square" lIns="0" tIns="0" rIns="0" bIns="0" rtlCol="0" anchor="ctr"/>
            <a:lstStyle/>
            <a:p>
              <a:pPr marL="0" indent="0" algn="l">
                <a:buNone/>
              </a:pPr>
              <a:r>
                <a:rPr lang="en-US" sz="1350" b="1" dirty="0">
                  <a:solidFill>
                    <a:srgbClr val="0F2C59"/>
                  </a:solidFill>
                  <a:latin typeface="Arial" pitchFamily="34" charset="0"/>
                  <a:ea typeface="Arial" pitchFamily="34" charset="-122"/>
                  <a:cs typeface="Arial" pitchFamily="34" charset="-120"/>
                </a:rPr>
                <a:t>Router</a:t>
              </a:r>
              <a:endParaRPr lang="en-US" sz="1350" dirty="0"/>
            </a:p>
          </p:txBody>
        </p:sp>
        <p:sp>
          <p:nvSpPr>
            <p:cNvPr id="24" name="Part 5"/>
            <p:cNvSpPr txBox="1"/>
            <p:nvPr/>
          </p:nvSpPr>
          <p:spPr>
            <a:xfrm>
              <a:off x="5321808" y="2432304"/>
              <a:ext cx="1645920" cy="384048"/>
            </a:xfrm>
            <a:prstGeom prst="rect">
              <a:avLst/>
            </a:prstGeom>
            <a:noFill/>
            <a:ln/>
          </p:spPr>
          <p:txBody>
            <a:bodyPr wrap="square" lIns="0" tIns="0" rIns="0" bIns="0" rtlCol="0" anchor="t"/>
            <a:lstStyle/>
            <a:p>
              <a:pPr marL="0" indent="0" algn="l">
                <a:buNone/>
              </a:pPr>
              <a:r>
                <a:rPr lang="en-US" sz="1100" dirty="0">
                  <a:solidFill>
                    <a:srgbClr val="6B7280"/>
                  </a:solidFill>
                  <a:latin typeface="Arial" pitchFamily="34" charset="0"/>
                  <a:ea typeface="Arial" pitchFamily="34" charset="-122"/>
                  <a:cs typeface="Arial" pitchFamily="34" charset="-120"/>
                </a:rPr>
                <a:t>routes.php · 45 route</a:t>
              </a:r>
              <a:endParaRPr lang="en-US" sz="1100" dirty="0"/>
            </a:p>
          </p:txBody>
        </p:sp>
      </p:grpSp>
      <p:sp>
        <p:nvSpPr>
          <p:cNvPr id="25" name="Shape 12"/>
          <p:cNvSpPr/>
          <p:nvPr/>
        </p:nvSpPr>
        <p:spPr>
          <a:xfrm>
            <a:off x="7077456" y="2286000"/>
            <a:ext cx="338328" cy="0"/>
          </a:xfrm>
          <a:prstGeom prst="line">
            <a:avLst/>
          </a:prstGeom>
          <a:noFill/>
          <a:ln w="25400">
            <a:solidFill>
              <a:srgbClr val="C9992A"/>
            </a:solidFill>
            <a:prstDash val="solid"/>
            <a:tailEnd type="triangle"/>
          </a:ln>
        </p:spPr>
      </p:sp>
      <p:grpSp>
        <p:nvGrpSpPr>
          <p:cNvPr id="58" name="Group 13">
            <a:extLst>
              <a:ext uri="{FF2B5EF4-FFF2-40B4-BE49-F238E27FC236}">
                <a16:creationId xmlns:a16="http://schemas.microsoft.com/office/drawing/2014/main" id="{98C088DB-C440-15CB-C9BC-43FE49FF641D}"/>
              </a:ext>
            </a:extLst>
          </p:cNvPr>
          <p:cNvGrpSpPr/>
          <p:nvPr/>
        </p:nvGrpSpPr>
        <p:grpSpPr>
          <a:xfrm>
            <a:off x="7461504" y="1691640"/>
            <a:ext cx="1874520" cy="1188720"/>
            <a:chOff x="7461504" y="1691640"/>
            <a:chExt cx="1874520" cy="1188720"/>
          </a:xfrm>
        </p:grpSpPr>
        <p:sp>
          <p:nvSpPr>
            <p:cNvPr id="26" name="Part 1"/>
            <p:cNvSpPr/>
            <p:nvPr/>
          </p:nvSpPr>
          <p:spPr>
            <a:xfrm>
              <a:off x="7461504" y="1691640"/>
              <a:ext cx="1874520" cy="1188720"/>
            </a:xfrm>
            <a:prstGeom prst="roundRect">
              <a:avLst>
                <a:gd name="adj" fmla="val 9231"/>
              </a:avLst>
            </a:prstGeom>
            <a:solidFill>
              <a:srgbClr val="0F2C59"/>
            </a:solidFill>
            <a:ln/>
            <a:effectLst>
              <a:outerShdw blurRad="127000" dist="38100" dir="5400000" algn="bl" rotWithShape="0">
                <a:srgbClr val="0F2C59">
                  <a:alpha val="12000"/>
                </a:srgbClr>
              </a:outerShdw>
            </a:effectLst>
          </p:spPr>
        </p:sp>
        <p:sp>
          <p:nvSpPr>
            <p:cNvPr id="27" name="Part 2"/>
            <p:cNvSpPr/>
            <p:nvPr/>
          </p:nvSpPr>
          <p:spPr>
            <a:xfrm>
              <a:off x="7626096" y="1874520"/>
              <a:ext cx="457200" cy="457200"/>
            </a:xfrm>
            <a:prstGeom prst="ellipse">
              <a:avLst/>
            </a:prstGeom>
            <a:solidFill>
              <a:srgbClr val="1B3E73"/>
            </a:solidFill>
            <a:ln/>
          </p:spPr>
        </p:sp>
        <p:pic>
          <p:nvPicPr>
            <p:cNvPr id="28" name="Part 3" descr="Biểu tượng"/>
            <p:cNvPicPr>
              <a:picLocks noChangeAspect="1"/>
            </p:cNvPicPr>
            <p:nvPr/>
          </p:nvPicPr>
          <p:blipFill>
            <a:blip r:embed="rId6"/>
            <a:stretch>
              <a:fillRect/>
            </a:stretch>
          </p:blipFill>
          <p:spPr>
            <a:xfrm>
              <a:off x="7728966" y="1977390"/>
              <a:ext cx="251460" cy="251460"/>
            </a:xfrm>
            <a:prstGeom prst="rect">
              <a:avLst/>
            </a:prstGeom>
          </p:spPr>
        </p:pic>
        <p:sp>
          <p:nvSpPr>
            <p:cNvPr id="29" name="Part 4"/>
            <p:cNvSpPr txBox="1"/>
            <p:nvPr/>
          </p:nvSpPr>
          <p:spPr>
            <a:xfrm>
              <a:off x="8156448" y="1874520"/>
              <a:ext cx="1143000" cy="457200"/>
            </a:xfrm>
            <a:prstGeom prst="rect">
              <a:avLst/>
            </a:prstGeom>
            <a:noFill/>
            <a:ln/>
          </p:spPr>
          <p:txBody>
            <a:bodyPr wrap="square" lIns="0" tIns="0" rIns="0" bIns="0" rtlCol="0" anchor="ctr"/>
            <a:lstStyle/>
            <a:p>
              <a:pPr marL="0" indent="0" algn="l">
                <a:buNone/>
              </a:pPr>
              <a:r>
                <a:rPr lang="en-US" sz="1350" b="1" dirty="0">
                  <a:solidFill>
                    <a:srgbClr val="FFFFFF"/>
                  </a:solidFill>
                  <a:latin typeface="Arial" pitchFamily="34" charset="0"/>
                  <a:ea typeface="Arial" pitchFamily="34" charset="-122"/>
                  <a:cs typeface="Arial" pitchFamily="34" charset="-120"/>
                </a:rPr>
                <a:t>Controller</a:t>
              </a:r>
              <a:endParaRPr lang="en-US" sz="1350" dirty="0"/>
            </a:p>
          </p:txBody>
        </p:sp>
        <p:sp>
          <p:nvSpPr>
            <p:cNvPr id="30" name="Part 5"/>
            <p:cNvSpPr txBox="1"/>
            <p:nvPr/>
          </p:nvSpPr>
          <p:spPr>
            <a:xfrm>
              <a:off x="7626096" y="2432304"/>
              <a:ext cx="1645920" cy="384048"/>
            </a:xfrm>
            <a:prstGeom prst="rect">
              <a:avLst/>
            </a:prstGeom>
            <a:noFill/>
            <a:ln/>
          </p:spPr>
          <p:txBody>
            <a:bodyPr wrap="square" lIns="0" tIns="0" rIns="0" bIns="0" rtlCol="0" anchor="t"/>
            <a:lstStyle/>
            <a:p>
              <a:pPr marL="0" indent="0" algn="l">
                <a:buNone/>
              </a:pPr>
              <a:r>
                <a:rPr lang="en-US" sz="1100" dirty="0">
                  <a:solidFill>
                    <a:srgbClr val="DCE4F2"/>
                  </a:solidFill>
                  <a:latin typeface="Arial" pitchFamily="34" charset="0"/>
                  <a:ea typeface="Arial" pitchFamily="34" charset="-122"/>
                  <a:cs typeface="Arial" pitchFamily="34" charset="-120"/>
                </a:rPr>
                <a:t>CSRF, phân quyền, validate</a:t>
              </a:r>
              <a:endParaRPr lang="en-US" sz="1100" dirty="0"/>
            </a:p>
          </p:txBody>
        </p:sp>
      </p:grpSp>
      <p:sp>
        <p:nvSpPr>
          <p:cNvPr id="31" name="Shape 14"/>
          <p:cNvSpPr/>
          <p:nvPr/>
        </p:nvSpPr>
        <p:spPr>
          <a:xfrm>
            <a:off x="9381744" y="2286000"/>
            <a:ext cx="338328" cy="0"/>
          </a:xfrm>
          <a:prstGeom prst="line">
            <a:avLst/>
          </a:prstGeom>
          <a:noFill/>
          <a:ln w="25400">
            <a:solidFill>
              <a:srgbClr val="C9992A"/>
            </a:solidFill>
            <a:prstDash val="solid"/>
            <a:headEnd type="triangle"/>
            <a:tailEnd type="triangle"/>
          </a:ln>
        </p:spPr>
      </p:sp>
      <p:grpSp>
        <p:nvGrpSpPr>
          <p:cNvPr id="59" name="Group 15">
            <a:extLst>
              <a:ext uri="{FF2B5EF4-FFF2-40B4-BE49-F238E27FC236}">
                <a16:creationId xmlns:a16="http://schemas.microsoft.com/office/drawing/2014/main" id="{8B97B0DA-BB8B-A1A2-9BB1-433F7602A341}"/>
              </a:ext>
            </a:extLst>
          </p:cNvPr>
          <p:cNvGrpSpPr/>
          <p:nvPr/>
        </p:nvGrpSpPr>
        <p:grpSpPr>
          <a:xfrm>
            <a:off x="9765792" y="1691640"/>
            <a:ext cx="1874520" cy="1188720"/>
            <a:chOff x="9765792" y="1691640"/>
            <a:chExt cx="1874520" cy="1188720"/>
          </a:xfrm>
        </p:grpSpPr>
        <p:sp>
          <p:nvSpPr>
            <p:cNvPr id="32" name="Part 1"/>
            <p:cNvSpPr/>
            <p:nvPr/>
          </p:nvSpPr>
          <p:spPr>
            <a:xfrm>
              <a:off x="9765792" y="1691640"/>
              <a:ext cx="1874520" cy="1188720"/>
            </a:xfrm>
            <a:prstGeom prst="roundRect">
              <a:avLst>
                <a:gd name="adj" fmla="val 9231"/>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3" name="Part 2"/>
            <p:cNvSpPr/>
            <p:nvPr/>
          </p:nvSpPr>
          <p:spPr>
            <a:xfrm>
              <a:off x="9930384" y="1874520"/>
              <a:ext cx="457200" cy="457200"/>
            </a:xfrm>
            <a:prstGeom prst="ellipse">
              <a:avLst/>
            </a:prstGeom>
            <a:solidFill>
              <a:srgbClr val="E8EDF5"/>
            </a:solidFill>
            <a:ln/>
          </p:spPr>
        </p:sp>
        <p:pic>
          <p:nvPicPr>
            <p:cNvPr id="34" name="Part 3" descr="Biểu tượng"/>
            <p:cNvPicPr>
              <a:picLocks noChangeAspect="1"/>
            </p:cNvPicPr>
            <p:nvPr/>
          </p:nvPicPr>
          <p:blipFill>
            <a:blip r:embed="rId7"/>
            <a:stretch>
              <a:fillRect/>
            </a:stretch>
          </p:blipFill>
          <p:spPr>
            <a:xfrm>
              <a:off x="10033254" y="1977390"/>
              <a:ext cx="251460" cy="251460"/>
            </a:xfrm>
            <a:prstGeom prst="rect">
              <a:avLst/>
            </a:prstGeom>
          </p:spPr>
        </p:pic>
        <p:sp>
          <p:nvSpPr>
            <p:cNvPr id="35" name="Part 4"/>
            <p:cNvSpPr txBox="1"/>
            <p:nvPr/>
          </p:nvSpPr>
          <p:spPr>
            <a:xfrm>
              <a:off x="10460736" y="1874520"/>
              <a:ext cx="1143000" cy="457200"/>
            </a:xfrm>
            <a:prstGeom prst="rect">
              <a:avLst/>
            </a:prstGeom>
            <a:noFill/>
            <a:ln/>
          </p:spPr>
          <p:txBody>
            <a:bodyPr wrap="square" lIns="0" tIns="0" rIns="0" bIns="0" rtlCol="0" anchor="ctr"/>
            <a:lstStyle/>
            <a:p>
              <a:pPr marL="0" indent="0" algn="l">
                <a:buNone/>
              </a:pPr>
              <a:r>
                <a:rPr lang="en-US" sz="1350" b="1" dirty="0">
                  <a:solidFill>
                    <a:srgbClr val="0F2C59"/>
                  </a:solidFill>
                  <a:latin typeface="Arial" pitchFamily="34" charset="0"/>
                  <a:ea typeface="Arial" pitchFamily="34" charset="-122"/>
                  <a:cs typeface="Arial" pitchFamily="34" charset="-120"/>
                </a:rPr>
                <a:t>Model (PDO)</a:t>
              </a:r>
              <a:endParaRPr lang="en-US" sz="1350" dirty="0"/>
            </a:p>
          </p:txBody>
        </p:sp>
        <p:sp>
          <p:nvSpPr>
            <p:cNvPr id="36" name="Part 5"/>
            <p:cNvSpPr txBox="1"/>
            <p:nvPr/>
          </p:nvSpPr>
          <p:spPr>
            <a:xfrm>
              <a:off x="9930384" y="2432304"/>
              <a:ext cx="1645920" cy="384048"/>
            </a:xfrm>
            <a:prstGeom prst="rect">
              <a:avLst/>
            </a:prstGeom>
            <a:noFill/>
            <a:ln/>
          </p:spPr>
          <p:txBody>
            <a:bodyPr wrap="square" lIns="0" tIns="0" rIns="0" bIns="0" rtlCol="0" anchor="t"/>
            <a:lstStyle/>
            <a:p>
              <a:pPr marL="0" indent="0" algn="l">
                <a:buNone/>
              </a:pPr>
              <a:r>
                <a:rPr lang="en-US" sz="1100" dirty="0">
                  <a:solidFill>
                    <a:srgbClr val="6B7280"/>
                  </a:solidFill>
                  <a:latin typeface="Arial" pitchFamily="34" charset="0"/>
                  <a:ea typeface="Arial" pitchFamily="34" charset="-122"/>
                  <a:cs typeface="Arial" pitchFamily="34" charset="-120"/>
                </a:rPr>
                <a:t>Truy vấn MySQL · 6 bảng</a:t>
              </a:r>
              <a:endParaRPr lang="en-US" sz="1100" dirty="0"/>
            </a:p>
          </p:txBody>
        </p:sp>
      </p:grpSp>
      <p:sp>
        <p:nvSpPr>
          <p:cNvPr id="37" name="Shape 16"/>
          <p:cNvSpPr/>
          <p:nvPr/>
        </p:nvSpPr>
        <p:spPr>
          <a:xfrm>
            <a:off x="8398764" y="2916936"/>
            <a:ext cx="0" cy="475488"/>
          </a:xfrm>
          <a:prstGeom prst="line">
            <a:avLst/>
          </a:prstGeom>
          <a:noFill/>
          <a:ln w="25400">
            <a:solidFill>
              <a:srgbClr val="C9992A"/>
            </a:solidFill>
            <a:prstDash val="solid"/>
            <a:tailEnd type="triangle"/>
          </a:ln>
        </p:spPr>
      </p:sp>
      <p:grpSp>
        <p:nvGrpSpPr>
          <p:cNvPr id="60" name="Group 17">
            <a:extLst>
              <a:ext uri="{FF2B5EF4-FFF2-40B4-BE49-F238E27FC236}">
                <a16:creationId xmlns:a16="http://schemas.microsoft.com/office/drawing/2014/main" id="{E60E2A50-236C-E479-3CE9-15EE54374784}"/>
              </a:ext>
            </a:extLst>
          </p:cNvPr>
          <p:cNvGrpSpPr/>
          <p:nvPr/>
        </p:nvGrpSpPr>
        <p:grpSpPr>
          <a:xfrm>
            <a:off x="7461504" y="3429000"/>
            <a:ext cx="1874520" cy="914400"/>
            <a:chOff x="7461504" y="3429000"/>
            <a:chExt cx="1874520" cy="914400"/>
          </a:xfrm>
        </p:grpSpPr>
        <p:sp>
          <p:nvSpPr>
            <p:cNvPr id="38" name="Part 1"/>
            <p:cNvSpPr/>
            <p:nvPr/>
          </p:nvSpPr>
          <p:spPr>
            <a:xfrm>
              <a:off x="7461504" y="3429000"/>
              <a:ext cx="1874520" cy="914400"/>
            </a:xfrm>
            <a:prstGeom prst="roundRect">
              <a:avLst>
                <a:gd name="adj" fmla="val 12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9" name="Part 2"/>
            <p:cNvSpPr/>
            <p:nvPr/>
          </p:nvSpPr>
          <p:spPr>
            <a:xfrm>
              <a:off x="7626096" y="3657600"/>
              <a:ext cx="457200" cy="457200"/>
            </a:xfrm>
            <a:prstGeom prst="ellipse">
              <a:avLst/>
            </a:prstGeom>
            <a:solidFill>
              <a:srgbClr val="E8EDF5"/>
            </a:solidFill>
            <a:ln/>
          </p:spPr>
        </p:sp>
        <p:pic>
          <p:nvPicPr>
            <p:cNvPr id="40" name="Part 3" descr="Biểu tượng"/>
            <p:cNvPicPr>
              <a:picLocks noChangeAspect="1"/>
            </p:cNvPicPr>
            <p:nvPr/>
          </p:nvPicPr>
          <p:blipFill>
            <a:blip r:embed="rId8"/>
            <a:stretch>
              <a:fillRect/>
            </a:stretch>
          </p:blipFill>
          <p:spPr>
            <a:xfrm>
              <a:off x="7728966" y="3760470"/>
              <a:ext cx="251460" cy="251460"/>
            </a:xfrm>
            <a:prstGeom prst="rect">
              <a:avLst/>
            </a:prstGeom>
          </p:spPr>
        </p:pic>
        <p:sp>
          <p:nvSpPr>
            <p:cNvPr id="41" name="Part 4"/>
            <p:cNvSpPr txBox="1"/>
            <p:nvPr/>
          </p:nvSpPr>
          <p:spPr>
            <a:xfrm>
              <a:off x="8156448" y="3566160"/>
              <a:ext cx="1097280" cy="310896"/>
            </a:xfrm>
            <a:prstGeom prst="rect">
              <a:avLst/>
            </a:prstGeom>
            <a:noFill/>
            <a:ln/>
          </p:spPr>
          <p:txBody>
            <a:bodyPr wrap="square" lIns="0" tIns="0" rIns="0" bIns="0" rtlCol="0" anchor="t"/>
            <a:lstStyle/>
            <a:p>
              <a:pPr marL="0" indent="0" algn="l">
                <a:buNone/>
              </a:pPr>
              <a:r>
                <a:rPr lang="en-US" sz="1350" b="1" dirty="0">
                  <a:solidFill>
                    <a:srgbClr val="0F2C59"/>
                  </a:solidFill>
                  <a:latin typeface="Arial" pitchFamily="34" charset="0"/>
                  <a:ea typeface="Arial" pitchFamily="34" charset="-122"/>
                  <a:cs typeface="Arial" pitchFamily="34" charset="-120"/>
                </a:rPr>
                <a:t>View</a:t>
              </a:r>
              <a:endParaRPr lang="en-US" sz="1350" dirty="0"/>
            </a:p>
          </p:txBody>
        </p:sp>
        <p:sp>
          <p:nvSpPr>
            <p:cNvPr id="42" name="Part 5"/>
            <p:cNvSpPr txBox="1"/>
            <p:nvPr/>
          </p:nvSpPr>
          <p:spPr>
            <a:xfrm>
              <a:off x="8156448" y="3877056"/>
              <a:ext cx="1143000" cy="310896"/>
            </a:xfrm>
            <a:prstGeom prst="rect">
              <a:avLst/>
            </a:prstGeom>
            <a:noFill/>
            <a:ln/>
          </p:spPr>
          <p:txBody>
            <a:bodyPr wrap="square" lIns="0" tIns="0" rIns="0" bIns="0" rtlCol="0" anchor="t"/>
            <a:lstStyle/>
            <a:p>
              <a:pPr marL="0" indent="0" algn="l">
                <a:buNone/>
              </a:pPr>
              <a:r>
                <a:rPr lang="en-US" sz="1100" dirty="0">
                  <a:solidFill>
                    <a:srgbClr val="6B7280"/>
                  </a:solidFill>
                  <a:latin typeface="Arial" pitchFamily="34" charset="0"/>
                  <a:ea typeface="Arial" pitchFamily="34" charset="-122"/>
                  <a:cs typeface="Arial" pitchFamily="34" charset="-120"/>
                </a:rPr>
                <a:t>public · admin</a:t>
              </a:r>
              <a:endParaRPr lang="en-US" sz="1100" dirty="0"/>
            </a:p>
          </p:txBody>
        </p:sp>
      </p:grpSp>
      <p:sp>
        <p:nvSpPr>
          <p:cNvPr id="43" name="Shape 18"/>
          <p:cNvSpPr/>
          <p:nvPr/>
        </p:nvSpPr>
        <p:spPr>
          <a:xfrm>
            <a:off x="1485900" y="3886200"/>
            <a:ext cx="5943600" cy="0"/>
          </a:xfrm>
          <a:prstGeom prst="line">
            <a:avLst/>
          </a:prstGeom>
          <a:noFill/>
          <a:ln w="22225">
            <a:solidFill>
              <a:srgbClr val="0F2C59"/>
            </a:solidFill>
            <a:prstDash val="dash"/>
          </a:ln>
        </p:spPr>
      </p:sp>
      <p:sp>
        <p:nvSpPr>
          <p:cNvPr id="44" name="Shape 19"/>
          <p:cNvSpPr/>
          <p:nvPr/>
        </p:nvSpPr>
        <p:spPr>
          <a:xfrm>
            <a:off x="1485900" y="2916936"/>
            <a:ext cx="0" cy="969264"/>
          </a:xfrm>
          <a:prstGeom prst="line">
            <a:avLst/>
          </a:prstGeom>
          <a:noFill/>
          <a:ln w="22225">
            <a:solidFill>
              <a:srgbClr val="0F2C59"/>
            </a:solidFill>
            <a:prstDash val="dash"/>
            <a:headEnd type="triangle"/>
          </a:ln>
        </p:spPr>
      </p:sp>
      <p:sp>
        <p:nvSpPr>
          <p:cNvPr id="45" name="Shape 20"/>
          <p:cNvSpPr txBox="1"/>
          <p:nvPr/>
        </p:nvSpPr>
        <p:spPr>
          <a:xfrm>
            <a:off x="1828800" y="3547872"/>
            <a:ext cx="5120640" cy="274320"/>
          </a:xfrm>
          <a:prstGeom prst="rect">
            <a:avLst/>
          </a:prstGeom>
          <a:noFill/>
          <a:ln/>
        </p:spPr>
        <p:txBody>
          <a:bodyPr wrap="square" lIns="0" tIns="0" rIns="0" bIns="0" rtlCol="0" anchor="t"/>
          <a:lstStyle/>
          <a:p>
            <a:pPr marL="0" indent="0" algn="l">
              <a:buNone/>
            </a:pPr>
            <a:r>
              <a:rPr lang="en-US" sz="1150" i="1" dirty="0">
                <a:solidFill>
                  <a:srgbClr val="6B7280"/>
                </a:solidFill>
                <a:latin typeface="Arial" pitchFamily="34" charset="0"/>
                <a:ea typeface="Arial" pitchFamily="34" charset="-122"/>
                <a:cs typeface="Arial" pitchFamily="34" charset="-120"/>
              </a:rPr>
              <a:t>Trả về trang HTML – dữ liệu đã escape bằng e()</a:t>
            </a:r>
            <a:endParaRPr lang="en-US" sz="1150" dirty="0"/>
          </a:p>
        </p:txBody>
      </p:sp>
      <p:grpSp>
        <p:nvGrpSpPr>
          <p:cNvPr id="61" name="Group 21">
            <a:extLst>
              <a:ext uri="{FF2B5EF4-FFF2-40B4-BE49-F238E27FC236}">
                <a16:creationId xmlns:a16="http://schemas.microsoft.com/office/drawing/2014/main" id="{7491E6FD-2EEA-6285-8E63-028449EDABFC}"/>
              </a:ext>
            </a:extLst>
          </p:cNvPr>
          <p:cNvGrpSpPr/>
          <p:nvPr/>
        </p:nvGrpSpPr>
        <p:grpSpPr>
          <a:xfrm>
            <a:off x="548640" y="4572000"/>
            <a:ext cx="3520440" cy="1325880"/>
            <a:chOff x="548640" y="4572000"/>
            <a:chExt cx="3520440" cy="1325880"/>
          </a:xfrm>
        </p:grpSpPr>
        <p:sp>
          <p:nvSpPr>
            <p:cNvPr id="46" name="Part 1"/>
            <p:cNvSpPr/>
            <p:nvPr/>
          </p:nvSpPr>
          <p:spPr>
            <a:xfrm>
              <a:off x="548640" y="4572000"/>
              <a:ext cx="3520440" cy="1325880"/>
            </a:xfrm>
            <a:prstGeom prst="roundRect">
              <a:avLst>
                <a:gd name="adj" fmla="val 8276"/>
              </a:avLst>
            </a:prstGeom>
            <a:solidFill>
              <a:srgbClr val="0F2C59"/>
            </a:solidFill>
            <a:ln/>
            <a:effectLst>
              <a:outerShdw blurRad="127000" dist="38100" dir="5400000" algn="bl" rotWithShape="0">
                <a:srgbClr val="0F2C59">
                  <a:alpha val="12000"/>
                </a:srgbClr>
              </a:outerShdw>
            </a:effectLst>
          </p:spPr>
        </p:sp>
        <p:sp>
          <p:nvSpPr>
            <p:cNvPr id="47" name="Part 2"/>
            <p:cNvSpPr txBox="1"/>
            <p:nvPr/>
          </p:nvSpPr>
          <p:spPr>
            <a:xfrm>
              <a:off x="777240" y="4572000"/>
              <a:ext cx="1234440" cy="1325880"/>
            </a:xfrm>
            <a:prstGeom prst="rect">
              <a:avLst/>
            </a:prstGeom>
            <a:noFill/>
            <a:ln/>
          </p:spPr>
          <p:txBody>
            <a:bodyPr wrap="square" lIns="0" tIns="0" rIns="0" bIns="0" rtlCol="0" anchor="ctr"/>
            <a:lstStyle/>
            <a:p>
              <a:pPr marL="0" indent="0" algn="ctr">
                <a:buNone/>
              </a:pPr>
              <a:r>
                <a:rPr lang="en-US" sz="4400" b="1" dirty="0">
                  <a:solidFill>
                    <a:srgbClr val="E5B53A"/>
                  </a:solidFill>
                  <a:latin typeface="Arial" pitchFamily="34" charset="0"/>
                  <a:ea typeface="Arial" pitchFamily="34" charset="-122"/>
                  <a:cs typeface="Arial" pitchFamily="34" charset="-120"/>
                </a:rPr>
                <a:t>9</a:t>
              </a:r>
              <a:endParaRPr lang="en-US" sz="4400" dirty="0"/>
            </a:p>
          </p:txBody>
        </p:sp>
        <p:sp>
          <p:nvSpPr>
            <p:cNvPr id="48" name="Part 3"/>
            <p:cNvSpPr txBox="1"/>
            <p:nvPr/>
          </p:nvSpPr>
          <p:spPr>
            <a:xfrm>
              <a:off x="2103120" y="4572000"/>
              <a:ext cx="1783080" cy="1325880"/>
            </a:xfrm>
            <a:prstGeom prst="rect">
              <a:avLst/>
            </a:prstGeom>
            <a:noFill/>
            <a:ln/>
          </p:spPr>
          <p:txBody>
            <a:bodyPr wrap="square" lIns="0" tIns="0" rIns="0" bIns="0" rtlCol="0" anchor="ctr"/>
            <a:lstStyle/>
            <a:p>
              <a:pPr marL="0" indent="0" algn="l">
                <a:buNone/>
              </a:pPr>
              <a:r>
                <a:rPr lang="en-US" sz="1350" dirty="0">
                  <a:solidFill>
                    <a:srgbClr val="FFFFFF"/>
                  </a:solidFill>
                  <a:latin typeface="Arial" pitchFamily="34" charset="0"/>
                  <a:ea typeface="Arial" pitchFamily="34" charset="-122"/>
                  <a:cs typeface="Arial" pitchFamily="34" charset="-120"/>
                </a:rPr>
                <a:t>module M0–M9 đã hoàn thành</a:t>
              </a:r>
              <a:endParaRPr lang="en-US" sz="1350" dirty="0"/>
            </a:p>
          </p:txBody>
        </p:sp>
      </p:grpSp>
      <p:grpSp>
        <p:nvGrpSpPr>
          <p:cNvPr id="62" name="Group 22">
            <a:extLst>
              <a:ext uri="{FF2B5EF4-FFF2-40B4-BE49-F238E27FC236}">
                <a16:creationId xmlns:a16="http://schemas.microsoft.com/office/drawing/2014/main" id="{D6110D9F-C802-4F91-1DE1-9F8B61A9699E}"/>
              </a:ext>
            </a:extLst>
          </p:cNvPr>
          <p:cNvGrpSpPr/>
          <p:nvPr/>
        </p:nvGrpSpPr>
        <p:grpSpPr>
          <a:xfrm>
            <a:off x="4334256" y="4572000"/>
            <a:ext cx="3520440" cy="1325880"/>
            <a:chOff x="4334256" y="4572000"/>
            <a:chExt cx="3520440" cy="1325880"/>
          </a:xfrm>
        </p:grpSpPr>
        <p:sp>
          <p:nvSpPr>
            <p:cNvPr id="49" name="Part 1"/>
            <p:cNvSpPr/>
            <p:nvPr/>
          </p:nvSpPr>
          <p:spPr>
            <a:xfrm>
              <a:off x="4334256" y="4572000"/>
              <a:ext cx="3520440" cy="1325880"/>
            </a:xfrm>
            <a:prstGeom prst="roundRect">
              <a:avLst>
                <a:gd name="adj" fmla="val 8276"/>
              </a:avLst>
            </a:prstGeom>
            <a:solidFill>
              <a:srgbClr val="0F2C59"/>
            </a:solidFill>
            <a:ln/>
            <a:effectLst>
              <a:outerShdw blurRad="127000" dist="38100" dir="5400000" algn="bl" rotWithShape="0">
                <a:srgbClr val="0F2C59">
                  <a:alpha val="12000"/>
                </a:srgbClr>
              </a:outerShdw>
            </a:effectLst>
          </p:spPr>
        </p:sp>
        <p:sp>
          <p:nvSpPr>
            <p:cNvPr id="50" name="Part 2"/>
            <p:cNvSpPr txBox="1"/>
            <p:nvPr/>
          </p:nvSpPr>
          <p:spPr>
            <a:xfrm>
              <a:off x="4562856" y="4572000"/>
              <a:ext cx="1234440" cy="1325880"/>
            </a:xfrm>
            <a:prstGeom prst="rect">
              <a:avLst/>
            </a:prstGeom>
            <a:noFill/>
            <a:ln/>
          </p:spPr>
          <p:txBody>
            <a:bodyPr wrap="square" lIns="0" tIns="0" rIns="0" bIns="0" rtlCol="0" anchor="ctr"/>
            <a:lstStyle/>
            <a:p>
              <a:pPr marL="0" indent="0" algn="ctr">
                <a:buNone/>
              </a:pPr>
              <a:r>
                <a:rPr lang="en-US" sz="4400" b="1" dirty="0">
                  <a:solidFill>
                    <a:srgbClr val="E5B53A"/>
                  </a:solidFill>
                  <a:latin typeface="Arial" pitchFamily="34" charset="0"/>
                  <a:ea typeface="Arial" pitchFamily="34" charset="-122"/>
                  <a:cs typeface="Arial" pitchFamily="34" charset="-120"/>
                </a:rPr>
                <a:t>45</a:t>
              </a:r>
              <a:endParaRPr lang="en-US" sz="4400" dirty="0"/>
            </a:p>
          </p:txBody>
        </p:sp>
        <p:sp>
          <p:nvSpPr>
            <p:cNvPr id="51" name="Part 3"/>
            <p:cNvSpPr txBox="1"/>
            <p:nvPr/>
          </p:nvSpPr>
          <p:spPr>
            <a:xfrm>
              <a:off x="5888736" y="4572000"/>
              <a:ext cx="1783080" cy="1325880"/>
            </a:xfrm>
            <a:prstGeom prst="rect">
              <a:avLst/>
            </a:prstGeom>
            <a:noFill/>
            <a:ln/>
          </p:spPr>
          <p:txBody>
            <a:bodyPr wrap="square" lIns="0" tIns="0" rIns="0" bIns="0" rtlCol="0" anchor="ctr"/>
            <a:lstStyle/>
            <a:p>
              <a:pPr marL="0" indent="0" algn="l">
                <a:buNone/>
              </a:pPr>
              <a:r>
                <a:rPr lang="en-US" sz="1350" dirty="0">
                  <a:solidFill>
                    <a:srgbClr val="FFFFFF"/>
                  </a:solidFill>
                  <a:latin typeface="Arial" pitchFamily="34" charset="0"/>
                  <a:ea typeface="Arial" pitchFamily="34" charset="-122"/>
                  <a:cs typeface="Arial" pitchFamily="34" charset="-120"/>
                </a:rPr>
                <a:t>route: 11 công khai + 34 quản trị</a:t>
              </a:r>
              <a:endParaRPr lang="en-US" sz="1350" dirty="0"/>
            </a:p>
          </p:txBody>
        </p:sp>
      </p:grpSp>
      <p:grpSp>
        <p:nvGrpSpPr>
          <p:cNvPr id="63" name="Group 23">
            <a:extLst>
              <a:ext uri="{FF2B5EF4-FFF2-40B4-BE49-F238E27FC236}">
                <a16:creationId xmlns:a16="http://schemas.microsoft.com/office/drawing/2014/main" id="{19C646DD-A7CA-04A9-B41B-D27322816C5D}"/>
              </a:ext>
            </a:extLst>
          </p:cNvPr>
          <p:cNvGrpSpPr/>
          <p:nvPr/>
        </p:nvGrpSpPr>
        <p:grpSpPr>
          <a:xfrm>
            <a:off x="8119872" y="4572000"/>
            <a:ext cx="3520440" cy="1325880"/>
            <a:chOff x="8119872" y="4572000"/>
            <a:chExt cx="3520440" cy="1325880"/>
          </a:xfrm>
        </p:grpSpPr>
        <p:sp>
          <p:nvSpPr>
            <p:cNvPr id="52" name="Part 1"/>
            <p:cNvSpPr/>
            <p:nvPr/>
          </p:nvSpPr>
          <p:spPr>
            <a:xfrm>
              <a:off x="8119872" y="4572000"/>
              <a:ext cx="3520440" cy="1325880"/>
            </a:xfrm>
            <a:prstGeom prst="roundRect">
              <a:avLst>
                <a:gd name="adj" fmla="val 8276"/>
              </a:avLst>
            </a:prstGeom>
            <a:solidFill>
              <a:srgbClr val="0F2C59"/>
            </a:solidFill>
            <a:ln/>
            <a:effectLst>
              <a:outerShdw blurRad="127000" dist="38100" dir="5400000" algn="bl" rotWithShape="0">
                <a:srgbClr val="0F2C59">
                  <a:alpha val="12000"/>
                </a:srgbClr>
              </a:outerShdw>
            </a:effectLst>
          </p:spPr>
        </p:sp>
        <p:sp>
          <p:nvSpPr>
            <p:cNvPr id="53" name="Part 2"/>
            <p:cNvSpPr txBox="1"/>
            <p:nvPr/>
          </p:nvSpPr>
          <p:spPr>
            <a:xfrm>
              <a:off x="8348472" y="4572000"/>
              <a:ext cx="1234440" cy="1325880"/>
            </a:xfrm>
            <a:prstGeom prst="rect">
              <a:avLst/>
            </a:prstGeom>
            <a:noFill/>
            <a:ln/>
          </p:spPr>
          <p:txBody>
            <a:bodyPr wrap="square" lIns="0" tIns="0" rIns="0" bIns="0" rtlCol="0" anchor="ctr"/>
            <a:lstStyle/>
            <a:p>
              <a:pPr marL="0" indent="0" algn="ctr">
                <a:buNone/>
              </a:pPr>
              <a:r>
                <a:rPr lang="en-US" sz="4400" b="1" dirty="0">
                  <a:solidFill>
                    <a:srgbClr val="E5B53A"/>
                  </a:solidFill>
                  <a:latin typeface="Arial" pitchFamily="34" charset="0"/>
                  <a:ea typeface="Arial" pitchFamily="34" charset="-122"/>
                  <a:cs typeface="Arial" pitchFamily="34" charset="-120"/>
                </a:rPr>
                <a:t>67</a:t>
              </a:r>
              <a:endParaRPr lang="en-US" sz="4400" dirty="0"/>
            </a:p>
          </p:txBody>
        </p:sp>
        <p:sp>
          <p:nvSpPr>
            <p:cNvPr id="54" name="Part 3"/>
            <p:cNvSpPr txBox="1"/>
            <p:nvPr/>
          </p:nvSpPr>
          <p:spPr>
            <a:xfrm>
              <a:off x="9674352" y="4572000"/>
              <a:ext cx="1783080" cy="1325880"/>
            </a:xfrm>
            <a:prstGeom prst="rect">
              <a:avLst/>
            </a:prstGeom>
            <a:noFill/>
            <a:ln/>
          </p:spPr>
          <p:txBody>
            <a:bodyPr wrap="square" lIns="0" tIns="0" rIns="0" bIns="0" rtlCol="0" anchor="ctr"/>
            <a:lstStyle/>
            <a:p>
              <a:pPr marL="0" indent="0" algn="l">
                <a:buNone/>
              </a:pPr>
              <a:r>
                <a:rPr lang="en-US" sz="1350" dirty="0">
                  <a:solidFill>
                    <a:srgbClr val="FFFFFF"/>
                  </a:solidFill>
                  <a:latin typeface="Arial" pitchFamily="34" charset="0"/>
                  <a:ea typeface="Arial" pitchFamily="34" charset="-122"/>
                  <a:cs typeface="Arial" pitchFamily="34" charset="-120"/>
                </a:rPr>
                <a:t>file PHP, kiểm tra cú pháp không lỗi</a:t>
              </a:r>
              <a:endParaRPr lang="en-US" sz="135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450"/>
                                        <p:tgtEl>
                                          <p:spTgt spid="13"/>
                                        </p:tgtEl>
                                      </p:cBhvr>
                                    </p:animEffect>
                                  </p:childTnLst>
                                </p:cTn>
                              </p:par>
                            </p:childTnLst>
                          </p:cTn>
                        </p:par>
                        <p:par>
                          <p:cTn id="12" fill="hold">
                            <p:stCondLst>
                              <p:cond delay="950"/>
                            </p:stCondLst>
                            <p:childTnLst>
                              <p:par>
                                <p:cTn id="13" presetID="10" presetClass="entr" presetSubtype="0" fill="hold"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childTnLst>
                          </p:cTn>
                        </p:par>
                        <p:par>
                          <p:cTn id="16" fill="hold">
                            <p:stCondLst>
                              <p:cond delay="1450"/>
                            </p:stCondLst>
                            <p:childTnLst>
                              <p:par>
                                <p:cTn id="17" presetID="22" presetClass="entr" presetSubtype="8"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450"/>
                                        <p:tgtEl>
                                          <p:spTgt spid="19"/>
                                        </p:tgtEl>
                                      </p:cBhvr>
                                    </p:animEffect>
                                  </p:childTnLst>
                                </p:cTn>
                              </p:par>
                            </p:childTnLst>
                          </p:cTn>
                        </p:par>
                        <p:par>
                          <p:cTn id="20" fill="hold">
                            <p:stCondLst>
                              <p:cond delay="1900"/>
                            </p:stCondLst>
                            <p:childTnLst>
                              <p:par>
                                <p:cTn id="21" presetID="10" presetClass="entr" presetSubtype="0"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fade">
                                      <p:cBhvr>
                                        <p:cTn id="23" dur="500"/>
                                        <p:tgtEl>
                                          <p:spTgt spid="57"/>
                                        </p:tgtEl>
                                      </p:cBhvr>
                                    </p:animEffect>
                                  </p:childTnLst>
                                </p:cTn>
                              </p:par>
                            </p:childTnLst>
                          </p:cTn>
                        </p:par>
                        <p:par>
                          <p:cTn id="24" fill="hold">
                            <p:stCondLst>
                              <p:cond delay="2400"/>
                            </p:stCondLst>
                            <p:childTnLst>
                              <p:par>
                                <p:cTn id="25" presetID="22" presetClass="entr" presetSubtype="8" fill="hold"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450"/>
                                        <p:tgtEl>
                                          <p:spTgt spid="25"/>
                                        </p:tgtEl>
                                      </p:cBhvr>
                                    </p:animEffect>
                                  </p:childTnLst>
                                </p:cTn>
                              </p:par>
                            </p:childTnLst>
                          </p:cTn>
                        </p:par>
                        <p:par>
                          <p:cTn id="28" fill="hold">
                            <p:stCondLst>
                              <p:cond delay="2850"/>
                            </p:stCondLst>
                            <p:childTnLst>
                              <p:par>
                                <p:cTn id="29" presetID="53" presetClass="entr" presetSubtype="16" fill="hold" nodeType="afterEffect">
                                  <p:stCondLst>
                                    <p:cond delay="0"/>
                                  </p:stCondLst>
                                  <p:childTnLst>
                                    <p:set>
                                      <p:cBhvr>
                                        <p:cTn id="30" dur="1" fill="hold">
                                          <p:stCondLst>
                                            <p:cond delay="0"/>
                                          </p:stCondLst>
                                        </p:cTn>
                                        <p:tgtEl>
                                          <p:spTgt spid="58"/>
                                        </p:tgtEl>
                                        <p:attrNameLst>
                                          <p:attrName>style.visibility</p:attrName>
                                        </p:attrNameLst>
                                      </p:cBhvr>
                                      <p:to>
                                        <p:strVal val="visible"/>
                                      </p:to>
                                    </p:set>
                                    <p:anim calcmode="lin" valueType="num">
                                      <p:cBhvr>
                                        <p:cTn id="31" dur="500" fill="hold"/>
                                        <p:tgtEl>
                                          <p:spTgt spid="58"/>
                                        </p:tgtEl>
                                        <p:attrNameLst>
                                          <p:attrName>ppt_w</p:attrName>
                                        </p:attrNameLst>
                                      </p:cBhvr>
                                      <p:tavLst>
                                        <p:tav tm="0">
                                          <p:val>
                                            <p:fltVal val="0"/>
                                          </p:val>
                                        </p:tav>
                                        <p:tav tm="100000">
                                          <p:val>
                                            <p:strVal val="#ppt_w"/>
                                          </p:val>
                                        </p:tav>
                                      </p:tavLst>
                                    </p:anim>
                                    <p:anim calcmode="lin" valueType="num">
                                      <p:cBhvr>
                                        <p:cTn id="32" dur="500" fill="hold"/>
                                        <p:tgtEl>
                                          <p:spTgt spid="58"/>
                                        </p:tgtEl>
                                        <p:attrNameLst>
                                          <p:attrName>ppt_h</p:attrName>
                                        </p:attrNameLst>
                                      </p:cBhvr>
                                      <p:tavLst>
                                        <p:tav tm="0">
                                          <p:val>
                                            <p:fltVal val="0"/>
                                          </p:val>
                                        </p:tav>
                                        <p:tav tm="100000">
                                          <p:val>
                                            <p:strVal val="#ppt_h"/>
                                          </p:val>
                                        </p:tav>
                                      </p:tavLst>
                                    </p:anim>
                                    <p:animEffect transition="in" filter="fade">
                                      <p:cBhvr>
                                        <p:cTn id="33" dur="500"/>
                                        <p:tgtEl>
                                          <p:spTgt spid="58"/>
                                        </p:tgtEl>
                                      </p:cBhvr>
                                    </p:animEffect>
                                  </p:childTnLst>
                                </p:cTn>
                              </p:par>
                            </p:childTnLst>
                          </p:cTn>
                        </p:par>
                        <p:par>
                          <p:cTn id="34" fill="hold">
                            <p:stCondLst>
                              <p:cond delay="3350"/>
                            </p:stCondLst>
                            <p:childTnLst>
                              <p:par>
                                <p:cTn id="35" presetID="22" presetClass="entr" presetSubtype="8" fill="hold" nodeType="after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450"/>
                                        <p:tgtEl>
                                          <p:spTgt spid="31"/>
                                        </p:tgtEl>
                                      </p:cBhvr>
                                    </p:animEffect>
                                  </p:childTnLst>
                                </p:cTn>
                              </p:par>
                            </p:childTnLst>
                          </p:cTn>
                        </p:par>
                        <p:par>
                          <p:cTn id="38" fill="hold">
                            <p:stCondLst>
                              <p:cond delay="3800"/>
                            </p:stCondLst>
                            <p:childTnLst>
                              <p:par>
                                <p:cTn id="39" presetID="10" presetClass="entr" presetSubtype="0" fill="hold" nodeType="after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fade">
                                      <p:cBhvr>
                                        <p:cTn id="41" dur="500"/>
                                        <p:tgtEl>
                                          <p:spTgt spid="59"/>
                                        </p:tgtEl>
                                      </p:cBhvr>
                                    </p:animEffect>
                                  </p:childTnLst>
                                </p:cTn>
                              </p:par>
                            </p:childTnLst>
                          </p:cTn>
                        </p:par>
                        <p:par>
                          <p:cTn id="42" fill="hold">
                            <p:stCondLst>
                              <p:cond delay="4300"/>
                            </p:stCondLst>
                            <p:childTnLst>
                              <p:par>
                                <p:cTn id="43" presetID="22" presetClass="entr" presetSubtype="1" fill="hold" nodeType="after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up)">
                                      <p:cBhvr>
                                        <p:cTn id="45" dur="350"/>
                                        <p:tgtEl>
                                          <p:spTgt spid="37"/>
                                        </p:tgtEl>
                                      </p:cBhvr>
                                    </p:animEffect>
                                  </p:childTnLst>
                                </p:cTn>
                              </p:par>
                            </p:childTnLst>
                          </p:cTn>
                        </p:par>
                        <p:par>
                          <p:cTn id="46" fill="hold">
                            <p:stCondLst>
                              <p:cond delay="4650"/>
                            </p:stCondLst>
                            <p:childTnLst>
                              <p:par>
                                <p:cTn id="47" presetID="10" presetClass="entr" presetSubtype="0" fill="hold" nodeType="afterEffect">
                                  <p:stCondLst>
                                    <p:cond delay="0"/>
                                  </p:stCondLst>
                                  <p:childTnLst>
                                    <p:set>
                                      <p:cBhvr>
                                        <p:cTn id="48" dur="1" fill="hold">
                                          <p:stCondLst>
                                            <p:cond delay="0"/>
                                          </p:stCondLst>
                                        </p:cTn>
                                        <p:tgtEl>
                                          <p:spTgt spid="60"/>
                                        </p:tgtEl>
                                        <p:attrNameLst>
                                          <p:attrName>style.visibility</p:attrName>
                                        </p:attrNameLst>
                                      </p:cBhvr>
                                      <p:to>
                                        <p:strVal val="visible"/>
                                      </p:to>
                                    </p:set>
                                    <p:animEffect transition="in" filter="fade">
                                      <p:cBhvr>
                                        <p:cTn id="49" dur="500"/>
                                        <p:tgtEl>
                                          <p:spTgt spid="60"/>
                                        </p:tgtEl>
                                      </p:cBhvr>
                                    </p:animEffect>
                                  </p:childTnLst>
                                </p:cTn>
                              </p:par>
                            </p:childTnLst>
                          </p:cTn>
                        </p:par>
                        <p:par>
                          <p:cTn id="50" fill="hold">
                            <p:stCondLst>
                              <p:cond delay="5150"/>
                            </p:stCondLst>
                            <p:childTnLst>
                              <p:par>
                                <p:cTn id="51" presetID="22" presetClass="entr" presetSubtype="2" fill="hold" nodeType="after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wipe(right)">
                                      <p:cBhvr>
                                        <p:cTn id="53" dur="600"/>
                                        <p:tgtEl>
                                          <p:spTgt spid="43"/>
                                        </p:tgtEl>
                                      </p:cBhvr>
                                    </p:animEffect>
                                  </p:childTnLst>
                                </p:cTn>
                              </p:par>
                            </p:childTnLst>
                          </p:cTn>
                        </p:par>
                        <p:par>
                          <p:cTn id="54" fill="hold">
                            <p:stCondLst>
                              <p:cond delay="5750"/>
                            </p:stCondLst>
                            <p:childTnLst>
                              <p:par>
                                <p:cTn id="55" presetID="22" presetClass="entr" presetSubtype="4" fill="hold" nodeType="after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wipe(down)">
                                      <p:cBhvr>
                                        <p:cTn id="57" dur="350"/>
                                        <p:tgtEl>
                                          <p:spTgt spid="44"/>
                                        </p:tgtEl>
                                      </p:cBhvr>
                                    </p:animEffect>
                                  </p:childTnLst>
                                </p:cTn>
                              </p:par>
                              <p:par>
                                <p:cTn id="58" presetID="10" presetClass="entr" presetSubtype="0" fill="hold" grpId="0" nodeType="withEffect">
                                  <p:stCondLst>
                                    <p:cond delay="12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500"/>
                                        <p:tgtEl>
                                          <p:spTgt spid="45"/>
                                        </p:tgtEl>
                                      </p:cBhvr>
                                    </p:animEffect>
                                  </p:childTnLst>
                                </p:cTn>
                              </p:par>
                            </p:childTnLst>
                          </p:cTn>
                        </p:par>
                        <p:par>
                          <p:cTn id="61" fill="hold">
                            <p:stCondLst>
                              <p:cond delay="6370"/>
                            </p:stCondLst>
                            <p:childTnLst>
                              <p:par>
                                <p:cTn id="62" presetID="53" presetClass="entr" presetSubtype="16" fill="hold" nodeType="afterEffect">
                                  <p:stCondLst>
                                    <p:cond delay="0"/>
                                  </p:stCondLst>
                                  <p:childTnLst>
                                    <p:set>
                                      <p:cBhvr>
                                        <p:cTn id="63" dur="1" fill="hold">
                                          <p:stCondLst>
                                            <p:cond delay="0"/>
                                          </p:stCondLst>
                                        </p:cTn>
                                        <p:tgtEl>
                                          <p:spTgt spid="61"/>
                                        </p:tgtEl>
                                        <p:attrNameLst>
                                          <p:attrName>style.visibility</p:attrName>
                                        </p:attrNameLst>
                                      </p:cBhvr>
                                      <p:to>
                                        <p:strVal val="visible"/>
                                      </p:to>
                                    </p:set>
                                    <p:anim calcmode="lin" valueType="num">
                                      <p:cBhvr>
                                        <p:cTn id="64" dur="500" fill="hold"/>
                                        <p:tgtEl>
                                          <p:spTgt spid="61"/>
                                        </p:tgtEl>
                                        <p:attrNameLst>
                                          <p:attrName>ppt_w</p:attrName>
                                        </p:attrNameLst>
                                      </p:cBhvr>
                                      <p:tavLst>
                                        <p:tav tm="0">
                                          <p:val>
                                            <p:fltVal val="0"/>
                                          </p:val>
                                        </p:tav>
                                        <p:tav tm="100000">
                                          <p:val>
                                            <p:strVal val="#ppt_w"/>
                                          </p:val>
                                        </p:tav>
                                      </p:tavLst>
                                    </p:anim>
                                    <p:anim calcmode="lin" valueType="num">
                                      <p:cBhvr>
                                        <p:cTn id="65" dur="500" fill="hold"/>
                                        <p:tgtEl>
                                          <p:spTgt spid="61"/>
                                        </p:tgtEl>
                                        <p:attrNameLst>
                                          <p:attrName>ppt_h</p:attrName>
                                        </p:attrNameLst>
                                      </p:cBhvr>
                                      <p:tavLst>
                                        <p:tav tm="0">
                                          <p:val>
                                            <p:fltVal val="0"/>
                                          </p:val>
                                        </p:tav>
                                        <p:tav tm="100000">
                                          <p:val>
                                            <p:strVal val="#ppt_h"/>
                                          </p:val>
                                        </p:tav>
                                      </p:tavLst>
                                    </p:anim>
                                    <p:animEffect transition="in" filter="fade">
                                      <p:cBhvr>
                                        <p:cTn id="66" dur="500"/>
                                        <p:tgtEl>
                                          <p:spTgt spid="61"/>
                                        </p:tgtEl>
                                      </p:cBhvr>
                                    </p:animEffect>
                                  </p:childTnLst>
                                </p:cTn>
                              </p:par>
                              <p:par>
                                <p:cTn id="67" presetID="53" presetClass="entr" presetSubtype="16" fill="hold" nodeType="withEffect">
                                  <p:stCondLst>
                                    <p:cond delay="120"/>
                                  </p:stCondLst>
                                  <p:childTnLst>
                                    <p:set>
                                      <p:cBhvr>
                                        <p:cTn id="68" dur="1" fill="hold">
                                          <p:stCondLst>
                                            <p:cond delay="0"/>
                                          </p:stCondLst>
                                        </p:cTn>
                                        <p:tgtEl>
                                          <p:spTgt spid="62"/>
                                        </p:tgtEl>
                                        <p:attrNameLst>
                                          <p:attrName>style.visibility</p:attrName>
                                        </p:attrNameLst>
                                      </p:cBhvr>
                                      <p:to>
                                        <p:strVal val="visible"/>
                                      </p:to>
                                    </p:set>
                                    <p:anim calcmode="lin" valueType="num">
                                      <p:cBhvr>
                                        <p:cTn id="69" dur="500" fill="hold"/>
                                        <p:tgtEl>
                                          <p:spTgt spid="62"/>
                                        </p:tgtEl>
                                        <p:attrNameLst>
                                          <p:attrName>ppt_w</p:attrName>
                                        </p:attrNameLst>
                                      </p:cBhvr>
                                      <p:tavLst>
                                        <p:tav tm="0">
                                          <p:val>
                                            <p:fltVal val="0"/>
                                          </p:val>
                                        </p:tav>
                                        <p:tav tm="100000">
                                          <p:val>
                                            <p:strVal val="#ppt_w"/>
                                          </p:val>
                                        </p:tav>
                                      </p:tavLst>
                                    </p:anim>
                                    <p:anim calcmode="lin" valueType="num">
                                      <p:cBhvr>
                                        <p:cTn id="70" dur="500" fill="hold"/>
                                        <p:tgtEl>
                                          <p:spTgt spid="62"/>
                                        </p:tgtEl>
                                        <p:attrNameLst>
                                          <p:attrName>ppt_h</p:attrName>
                                        </p:attrNameLst>
                                      </p:cBhvr>
                                      <p:tavLst>
                                        <p:tav tm="0">
                                          <p:val>
                                            <p:fltVal val="0"/>
                                          </p:val>
                                        </p:tav>
                                        <p:tav tm="100000">
                                          <p:val>
                                            <p:strVal val="#ppt_h"/>
                                          </p:val>
                                        </p:tav>
                                      </p:tavLst>
                                    </p:anim>
                                    <p:animEffect transition="in" filter="fade">
                                      <p:cBhvr>
                                        <p:cTn id="71" dur="500"/>
                                        <p:tgtEl>
                                          <p:spTgt spid="62"/>
                                        </p:tgtEl>
                                      </p:cBhvr>
                                    </p:animEffect>
                                  </p:childTnLst>
                                </p:cTn>
                              </p:par>
                              <p:par>
                                <p:cTn id="72" presetID="53" presetClass="entr" presetSubtype="16" fill="hold" nodeType="withEffect">
                                  <p:stCondLst>
                                    <p:cond delay="240"/>
                                  </p:stCondLst>
                                  <p:childTnLst>
                                    <p:set>
                                      <p:cBhvr>
                                        <p:cTn id="73" dur="1" fill="hold">
                                          <p:stCondLst>
                                            <p:cond delay="0"/>
                                          </p:stCondLst>
                                        </p:cTn>
                                        <p:tgtEl>
                                          <p:spTgt spid="63"/>
                                        </p:tgtEl>
                                        <p:attrNameLst>
                                          <p:attrName>style.visibility</p:attrName>
                                        </p:attrNameLst>
                                      </p:cBhvr>
                                      <p:to>
                                        <p:strVal val="visible"/>
                                      </p:to>
                                    </p:set>
                                    <p:anim calcmode="lin" valueType="num">
                                      <p:cBhvr>
                                        <p:cTn id="74" dur="500" fill="hold"/>
                                        <p:tgtEl>
                                          <p:spTgt spid="63"/>
                                        </p:tgtEl>
                                        <p:attrNameLst>
                                          <p:attrName>ppt_w</p:attrName>
                                        </p:attrNameLst>
                                      </p:cBhvr>
                                      <p:tavLst>
                                        <p:tav tm="0">
                                          <p:val>
                                            <p:fltVal val="0"/>
                                          </p:val>
                                        </p:tav>
                                        <p:tav tm="100000">
                                          <p:val>
                                            <p:strVal val="#ppt_w"/>
                                          </p:val>
                                        </p:tav>
                                      </p:tavLst>
                                    </p:anim>
                                    <p:anim calcmode="lin" valueType="num">
                                      <p:cBhvr>
                                        <p:cTn id="75" dur="500" fill="hold"/>
                                        <p:tgtEl>
                                          <p:spTgt spid="63"/>
                                        </p:tgtEl>
                                        <p:attrNameLst>
                                          <p:attrName>ppt_h</p:attrName>
                                        </p:attrNameLst>
                                      </p:cBhvr>
                                      <p:tavLst>
                                        <p:tav tm="0">
                                          <p:val>
                                            <p:fltVal val="0"/>
                                          </p:val>
                                        </p:tav>
                                        <p:tav tm="100000">
                                          <p:val>
                                            <p:strVal val="#ppt_h"/>
                                          </p:val>
                                        </p:tav>
                                      </p:tavLst>
                                    </p:anim>
                                    <p:animEffect transition="in" filter="fade">
                                      <p:cBhvr>
                                        <p:cTn id="7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Luồng nghiệp vụ đăng ký nhập học</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Chức năng F05 – từ phụ huynh gửi hồ sơ đến quản trị viên xử lý</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03 · THIẾT KẾ</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08 / 18</a:t>
            </a:r>
            <a:endParaRPr lang="en-US" sz="1000" dirty="0"/>
          </a:p>
        </p:txBody>
      </p:sp>
      <p:sp>
        <p:nvSpPr>
          <p:cNvPr id="8" name="Shape 7"/>
          <p:cNvSpPr/>
          <p:nvPr/>
        </p:nvSpPr>
        <p:spPr>
          <a:xfrm>
            <a:off x="1463040" y="2148840"/>
            <a:ext cx="9235440" cy="0"/>
          </a:xfrm>
          <a:prstGeom prst="line">
            <a:avLst/>
          </a:prstGeom>
          <a:noFill/>
          <a:ln w="38100">
            <a:solidFill>
              <a:srgbClr val="C9D3E3"/>
            </a:solidFill>
            <a:prstDash val="solid"/>
          </a:ln>
        </p:spPr>
      </p:sp>
      <p:grpSp>
        <p:nvGrpSpPr>
          <p:cNvPr id="42" name="Group 8">
            <a:extLst>
              <a:ext uri="{FF2B5EF4-FFF2-40B4-BE49-F238E27FC236}">
                <a16:creationId xmlns:a16="http://schemas.microsoft.com/office/drawing/2014/main" id="{5CE18274-8F2A-899E-EBF9-98D3BDE44780}"/>
              </a:ext>
            </a:extLst>
          </p:cNvPr>
          <p:cNvGrpSpPr/>
          <p:nvPr/>
        </p:nvGrpSpPr>
        <p:grpSpPr>
          <a:xfrm>
            <a:off x="411480" y="1783080"/>
            <a:ext cx="2103120" cy="2240280"/>
            <a:chOff x="411480" y="1783080"/>
            <a:chExt cx="2103120" cy="2240280"/>
          </a:xfrm>
        </p:grpSpPr>
        <p:sp>
          <p:nvSpPr>
            <p:cNvPr id="9" name="Part 1"/>
            <p:cNvSpPr/>
            <p:nvPr/>
          </p:nvSpPr>
          <p:spPr>
            <a:xfrm>
              <a:off x="1097280" y="1783080"/>
              <a:ext cx="731520" cy="731520"/>
            </a:xfrm>
            <a:prstGeom prst="ellipse">
              <a:avLst/>
            </a:prstGeom>
            <a:solidFill>
              <a:srgbClr val="E5B53A"/>
            </a:solidFill>
            <a:ln w="50800">
              <a:solidFill>
                <a:srgbClr val="F4F6F9"/>
              </a:solidFill>
              <a:prstDash val="solid"/>
            </a:ln>
          </p:spPr>
        </p:sp>
        <p:sp>
          <p:nvSpPr>
            <p:cNvPr id="10" name="Part 2"/>
            <p:cNvSpPr txBox="1"/>
            <p:nvPr/>
          </p:nvSpPr>
          <p:spPr>
            <a:xfrm>
              <a:off x="1097280" y="1783080"/>
              <a:ext cx="731520" cy="731520"/>
            </a:xfrm>
            <a:prstGeom prst="rect">
              <a:avLst/>
            </a:prstGeom>
            <a:noFill/>
            <a:ln/>
          </p:spPr>
          <p:txBody>
            <a:bodyPr wrap="square" lIns="0" tIns="0" rIns="0" bIns="0" rtlCol="0" anchor="ctr"/>
            <a:lstStyle/>
            <a:p>
              <a:pPr marL="0" indent="0" algn="ctr">
                <a:buNone/>
              </a:pPr>
              <a:r>
                <a:rPr lang="en-US" sz="2200" b="1" dirty="0">
                  <a:solidFill>
                    <a:srgbClr val="0F2C59"/>
                  </a:solidFill>
                  <a:latin typeface="Arial" pitchFamily="34" charset="0"/>
                  <a:ea typeface="Arial" pitchFamily="34" charset="-122"/>
                  <a:cs typeface="Arial" pitchFamily="34" charset="-120"/>
                </a:rPr>
                <a:t>1</a:t>
              </a:r>
              <a:endParaRPr lang="en-US" sz="2200" dirty="0"/>
            </a:p>
          </p:txBody>
        </p:sp>
        <p:sp>
          <p:nvSpPr>
            <p:cNvPr id="11" name="Part 3"/>
            <p:cNvSpPr txBox="1"/>
            <p:nvPr/>
          </p:nvSpPr>
          <p:spPr>
            <a:xfrm>
              <a:off x="411480" y="2697480"/>
              <a:ext cx="2103120" cy="329184"/>
            </a:xfrm>
            <a:prstGeom prst="rect">
              <a:avLst/>
            </a:prstGeom>
            <a:noFill/>
            <a:ln/>
          </p:spPr>
          <p:txBody>
            <a:bodyPr wrap="square" lIns="0" tIns="0" rIns="0" bIns="0" rtlCol="0" anchor="t"/>
            <a:lstStyle/>
            <a:p>
              <a:pPr marL="0" indent="0" algn="ctr">
                <a:buNone/>
              </a:pPr>
              <a:r>
                <a:rPr lang="en-US" sz="1550" b="1" dirty="0">
                  <a:solidFill>
                    <a:srgbClr val="0F2C59"/>
                  </a:solidFill>
                  <a:latin typeface="Arial" pitchFamily="34" charset="0"/>
                  <a:ea typeface="Arial" pitchFamily="34" charset="-122"/>
                  <a:cs typeface="Arial" pitchFamily="34" charset="-120"/>
                </a:rPr>
                <a:t>Điền form</a:t>
              </a:r>
              <a:endParaRPr lang="en-US" sz="1550" dirty="0"/>
            </a:p>
          </p:txBody>
        </p:sp>
        <p:sp>
          <p:nvSpPr>
            <p:cNvPr id="12" name="Part 4"/>
            <p:cNvSpPr txBox="1"/>
            <p:nvPr/>
          </p:nvSpPr>
          <p:spPr>
            <a:xfrm>
              <a:off x="411480" y="3063240"/>
              <a:ext cx="2103120" cy="960120"/>
            </a:xfrm>
            <a:prstGeom prst="rect">
              <a:avLst/>
            </a:prstGeom>
            <a:noFill/>
            <a:ln/>
          </p:spPr>
          <p:txBody>
            <a:bodyPr wrap="square" lIns="0" tIns="0" rIns="0" bIns="0" rtlCol="0" anchor="t"/>
            <a:lstStyle/>
            <a:p>
              <a:pPr marL="0" indent="0" algn="ctr">
                <a:buNone/>
              </a:pPr>
              <a:r>
                <a:rPr lang="en-US" sz="1200" dirty="0">
                  <a:solidFill>
                    <a:srgbClr val="6B7280"/>
                  </a:solidFill>
                  <a:latin typeface="Arial" pitchFamily="34" charset="0"/>
                  <a:ea typeface="Arial" pitchFamily="34" charset="-122"/>
                  <a:cs typeface="Arial" pitchFamily="34" charset="-120"/>
                </a:rPr>
                <a:t>4 nhóm: học sinh, phụ huynh, học vấn, thông tin thêm</a:t>
              </a:r>
              <a:endParaRPr lang="en-US" sz="1200" dirty="0"/>
            </a:p>
          </p:txBody>
        </p:sp>
      </p:grpSp>
      <p:grpSp>
        <p:nvGrpSpPr>
          <p:cNvPr id="43" name="Group 9">
            <a:extLst>
              <a:ext uri="{FF2B5EF4-FFF2-40B4-BE49-F238E27FC236}">
                <a16:creationId xmlns:a16="http://schemas.microsoft.com/office/drawing/2014/main" id="{5BEF6505-B39C-5362-4489-B9C733C383C3}"/>
              </a:ext>
            </a:extLst>
          </p:cNvPr>
          <p:cNvGrpSpPr/>
          <p:nvPr/>
        </p:nvGrpSpPr>
        <p:grpSpPr>
          <a:xfrm>
            <a:off x="2720340" y="1783080"/>
            <a:ext cx="2103120" cy="2240280"/>
            <a:chOff x="2720340" y="1783080"/>
            <a:chExt cx="2103120" cy="2240280"/>
          </a:xfrm>
        </p:grpSpPr>
        <p:sp>
          <p:nvSpPr>
            <p:cNvPr id="13" name="Part 1"/>
            <p:cNvSpPr/>
            <p:nvPr/>
          </p:nvSpPr>
          <p:spPr>
            <a:xfrm>
              <a:off x="3406140" y="1783080"/>
              <a:ext cx="731520" cy="731520"/>
            </a:xfrm>
            <a:prstGeom prst="ellipse">
              <a:avLst/>
            </a:prstGeom>
            <a:solidFill>
              <a:srgbClr val="E5B53A"/>
            </a:solidFill>
            <a:ln w="50800">
              <a:solidFill>
                <a:srgbClr val="F4F6F9"/>
              </a:solidFill>
              <a:prstDash val="solid"/>
            </a:ln>
          </p:spPr>
        </p:sp>
        <p:sp>
          <p:nvSpPr>
            <p:cNvPr id="14" name="Part 2"/>
            <p:cNvSpPr txBox="1"/>
            <p:nvPr/>
          </p:nvSpPr>
          <p:spPr>
            <a:xfrm>
              <a:off x="3406140" y="1783080"/>
              <a:ext cx="731520" cy="731520"/>
            </a:xfrm>
            <a:prstGeom prst="rect">
              <a:avLst/>
            </a:prstGeom>
            <a:noFill/>
            <a:ln/>
          </p:spPr>
          <p:txBody>
            <a:bodyPr wrap="square" lIns="0" tIns="0" rIns="0" bIns="0" rtlCol="0" anchor="ctr"/>
            <a:lstStyle/>
            <a:p>
              <a:pPr marL="0" indent="0" algn="ctr">
                <a:buNone/>
              </a:pPr>
              <a:r>
                <a:rPr lang="en-US" sz="2200" b="1" dirty="0">
                  <a:solidFill>
                    <a:srgbClr val="0F2C59"/>
                  </a:solidFill>
                  <a:latin typeface="Arial" pitchFamily="34" charset="0"/>
                  <a:ea typeface="Arial" pitchFamily="34" charset="-122"/>
                  <a:cs typeface="Arial" pitchFamily="34" charset="-120"/>
                </a:rPr>
                <a:t>2</a:t>
              </a:r>
              <a:endParaRPr lang="en-US" sz="2200" dirty="0"/>
            </a:p>
          </p:txBody>
        </p:sp>
        <p:sp>
          <p:nvSpPr>
            <p:cNvPr id="15" name="Part 3"/>
            <p:cNvSpPr txBox="1"/>
            <p:nvPr/>
          </p:nvSpPr>
          <p:spPr>
            <a:xfrm>
              <a:off x="2720340" y="2697480"/>
              <a:ext cx="2103120" cy="329184"/>
            </a:xfrm>
            <a:prstGeom prst="rect">
              <a:avLst/>
            </a:prstGeom>
            <a:noFill/>
            <a:ln/>
          </p:spPr>
          <p:txBody>
            <a:bodyPr wrap="square" lIns="0" tIns="0" rIns="0" bIns="0" rtlCol="0" anchor="t"/>
            <a:lstStyle/>
            <a:p>
              <a:pPr marL="0" indent="0" algn="ctr">
                <a:buNone/>
              </a:pPr>
              <a:r>
                <a:rPr lang="en-US" sz="1550" b="1" dirty="0">
                  <a:solidFill>
                    <a:srgbClr val="0F2C59"/>
                  </a:solidFill>
                  <a:latin typeface="Arial" pitchFamily="34" charset="0"/>
                  <a:ea typeface="Arial" pitchFamily="34" charset="-122"/>
                  <a:cs typeface="Arial" pitchFamily="34" charset="-120"/>
                </a:rPr>
                <a:t>Kiểm tra</a:t>
              </a:r>
              <a:endParaRPr lang="en-US" sz="1550" dirty="0"/>
            </a:p>
          </p:txBody>
        </p:sp>
        <p:sp>
          <p:nvSpPr>
            <p:cNvPr id="16" name="Part 4"/>
            <p:cNvSpPr txBox="1"/>
            <p:nvPr/>
          </p:nvSpPr>
          <p:spPr>
            <a:xfrm>
              <a:off x="2720340" y="3063240"/>
              <a:ext cx="2103120" cy="960120"/>
            </a:xfrm>
            <a:prstGeom prst="rect">
              <a:avLst/>
            </a:prstGeom>
            <a:noFill/>
            <a:ln/>
          </p:spPr>
          <p:txBody>
            <a:bodyPr wrap="square" lIns="0" tIns="0" rIns="0" bIns="0" rtlCol="0" anchor="t"/>
            <a:lstStyle/>
            <a:p>
              <a:pPr marL="0" indent="0" algn="ctr">
                <a:buNone/>
              </a:pPr>
              <a:r>
                <a:rPr lang="en-US" sz="1200" dirty="0">
                  <a:solidFill>
                    <a:srgbClr val="6B7280"/>
                  </a:solidFill>
                  <a:latin typeface="Arial" pitchFamily="34" charset="0"/>
                  <a:ea typeface="Arial" pitchFamily="34" charset="-122"/>
                  <a:cs typeface="Arial" pitchFamily="34" charset="-120"/>
                </a:rPr>
                <a:t>CSRF token; bắt buộc, email, điện thoại, ngày sinh</a:t>
              </a:r>
              <a:endParaRPr lang="en-US" sz="1200" dirty="0"/>
            </a:p>
          </p:txBody>
        </p:sp>
      </p:grpSp>
      <p:grpSp>
        <p:nvGrpSpPr>
          <p:cNvPr id="44" name="Group 10">
            <a:extLst>
              <a:ext uri="{FF2B5EF4-FFF2-40B4-BE49-F238E27FC236}">
                <a16:creationId xmlns:a16="http://schemas.microsoft.com/office/drawing/2014/main" id="{B018190A-1EC6-C391-E977-05780C158AC7}"/>
              </a:ext>
            </a:extLst>
          </p:cNvPr>
          <p:cNvGrpSpPr/>
          <p:nvPr/>
        </p:nvGrpSpPr>
        <p:grpSpPr>
          <a:xfrm>
            <a:off x="5029200" y="1783080"/>
            <a:ext cx="2103120" cy="2240280"/>
            <a:chOff x="5029200" y="1783080"/>
            <a:chExt cx="2103120" cy="2240280"/>
          </a:xfrm>
        </p:grpSpPr>
        <p:sp>
          <p:nvSpPr>
            <p:cNvPr id="17" name="Part 1"/>
            <p:cNvSpPr/>
            <p:nvPr/>
          </p:nvSpPr>
          <p:spPr>
            <a:xfrm>
              <a:off x="5715000" y="1783080"/>
              <a:ext cx="731520" cy="731520"/>
            </a:xfrm>
            <a:prstGeom prst="ellipse">
              <a:avLst/>
            </a:prstGeom>
            <a:solidFill>
              <a:srgbClr val="E5B53A"/>
            </a:solidFill>
            <a:ln w="50800">
              <a:solidFill>
                <a:srgbClr val="F4F6F9"/>
              </a:solidFill>
              <a:prstDash val="solid"/>
            </a:ln>
          </p:spPr>
        </p:sp>
        <p:sp>
          <p:nvSpPr>
            <p:cNvPr id="18" name="Part 2"/>
            <p:cNvSpPr txBox="1"/>
            <p:nvPr/>
          </p:nvSpPr>
          <p:spPr>
            <a:xfrm>
              <a:off x="5715000" y="1783080"/>
              <a:ext cx="731520" cy="731520"/>
            </a:xfrm>
            <a:prstGeom prst="rect">
              <a:avLst/>
            </a:prstGeom>
            <a:noFill/>
            <a:ln/>
          </p:spPr>
          <p:txBody>
            <a:bodyPr wrap="square" lIns="0" tIns="0" rIns="0" bIns="0" rtlCol="0" anchor="ctr"/>
            <a:lstStyle/>
            <a:p>
              <a:pPr marL="0" indent="0" algn="ctr">
                <a:buNone/>
              </a:pPr>
              <a:r>
                <a:rPr lang="en-US" sz="2200" b="1" dirty="0">
                  <a:solidFill>
                    <a:srgbClr val="0F2C59"/>
                  </a:solidFill>
                  <a:latin typeface="Arial" pitchFamily="34" charset="0"/>
                  <a:ea typeface="Arial" pitchFamily="34" charset="-122"/>
                  <a:cs typeface="Arial" pitchFamily="34" charset="-120"/>
                </a:rPr>
                <a:t>3</a:t>
              </a:r>
              <a:endParaRPr lang="en-US" sz="2200" dirty="0"/>
            </a:p>
          </p:txBody>
        </p:sp>
        <p:sp>
          <p:nvSpPr>
            <p:cNvPr id="19" name="Part 3"/>
            <p:cNvSpPr txBox="1"/>
            <p:nvPr/>
          </p:nvSpPr>
          <p:spPr>
            <a:xfrm>
              <a:off x="5029200" y="2697480"/>
              <a:ext cx="2103120" cy="329184"/>
            </a:xfrm>
            <a:prstGeom prst="rect">
              <a:avLst/>
            </a:prstGeom>
            <a:noFill/>
            <a:ln/>
          </p:spPr>
          <p:txBody>
            <a:bodyPr wrap="square" lIns="0" tIns="0" rIns="0" bIns="0" rtlCol="0" anchor="t"/>
            <a:lstStyle/>
            <a:p>
              <a:pPr marL="0" indent="0" algn="ctr">
                <a:buNone/>
              </a:pPr>
              <a:r>
                <a:rPr lang="en-US" sz="1550" b="1" dirty="0">
                  <a:solidFill>
                    <a:srgbClr val="0F2C59"/>
                  </a:solidFill>
                  <a:latin typeface="Arial" pitchFamily="34" charset="0"/>
                  <a:ea typeface="Arial" pitchFamily="34" charset="-122"/>
                  <a:cs typeface="Arial" pitchFamily="34" charset="-120"/>
                </a:rPr>
                <a:t>Tải học bạ</a:t>
              </a:r>
              <a:endParaRPr lang="en-US" sz="1550" dirty="0"/>
            </a:p>
          </p:txBody>
        </p:sp>
        <p:sp>
          <p:nvSpPr>
            <p:cNvPr id="20" name="Part 4"/>
            <p:cNvSpPr txBox="1"/>
            <p:nvPr/>
          </p:nvSpPr>
          <p:spPr>
            <a:xfrm>
              <a:off x="5029200" y="3063240"/>
              <a:ext cx="2103120" cy="960120"/>
            </a:xfrm>
            <a:prstGeom prst="rect">
              <a:avLst/>
            </a:prstGeom>
            <a:noFill/>
            <a:ln/>
          </p:spPr>
          <p:txBody>
            <a:bodyPr wrap="square" lIns="0" tIns="0" rIns="0" bIns="0" rtlCol="0" anchor="t"/>
            <a:lstStyle/>
            <a:p>
              <a:pPr marL="0" indent="0" algn="ctr">
                <a:buNone/>
              </a:pPr>
              <a:r>
                <a:rPr lang="en-US" sz="1200" dirty="0">
                  <a:solidFill>
                    <a:srgbClr val="6B7280"/>
                  </a:solidFill>
                  <a:latin typeface="Arial" pitchFamily="34" charset="0"/>
                  <a:ea typeface="Arial" pitchFamily="34" charset="-122"/>
                  <a:cs typeface="Arial" pitchFamily="34" charset="-120"/>
                </a:rPr>
                <a:t>PDF/JPG/PNG, kiểm tra MIME bằng finfo, đổi tên ngẫu nhiên</a:t>
              </a:r>
              <a:endParaRPr lang="en-US" sz="1200" dirty="0"/>
            </a:p>
          </p:txBody>
        </p:sp>
      </p:grpSp>
      <p:grpSp>
        <p:nvGrpSpPr>
          <p:cNvPr id="45" name="Group 11">
            <a:extLst>
              <a:ext uri="{FF2B5EF4-FFF2-40B4-BE49-F238E27FC236}">
                <a16:creationId xmlns:a16="http://schemas.microsoft.com/office/drawing/2014/main" id="{043D9E5C-C130-0E46-2041-00309E383E2F}"/>
              </a:ext>
            </a:extLst>
          </p:cNvPr>
          <p:cNvGrpSpPr/>
          <p:nvPr/>
        </p:nvGrpSpPr>
        <p:grpSpPr>
          <a:xfrm>
            <a:off x="7338060" y="1783080"/>
            <a:ext cx="2103120" cy="2240280"/>
            <a:chOff x="7338060" y="1783080"/>
            <a:chExt cx="2103120" cy="2240280"/>
          </a:xfrm>
        </p:grpSpPr>
        <p:sp>
          <p:nvSpPr>
            <p:cNvPr id="21" name="Part 1"/>
            <p:cNvSpPr/>
            <p:nvPr/>
          </p:nvSpPr>
          <p:spPr>
            <a:xfrm>
              <a:off x="8023860" y="1783080"/>
              <a:ext cx="731520" cy="731520"/>
            </a:xfrm>
            <a:prstGeom prst="ellipse">
              <a:avLst/>
            </a:prstGeom>
            <a:solidFill>
              <a:srgbClr val="E5B53A"/>
            </a:solidFill>
            <a:ln w="50800">
              <a:solidFill>
                <a:srgbClr val="F4F6F9"/>
              </a:solidFill>
              <a:prstDash val="solid"/>
            </a:ln>
          </p:spPr>
        </p:sp>
        <p:sp>
          <p:nvSpPr>
            <p:cNvPr id="22" name="Part 2"/>
            <p:cNvSpPr txBox="1"/>
            <p:nvPr/>
          </p:nvSpPr>
          <p:spPr>
            <a:xfrm>
              <a:off x="8023860" y="1783080"/>
              <a:ext cx="731520" cy="731520"/>
            </a:xfrm>
            <a:prstGeom prst="rect">
              <a:avLst/>
            </a:prstGeom>
            <a:noFill/>
            <a:ln/>
          </p:spPr>
          <p:txBody>
            <a:bodyPr wrap="square" lIns="0" tIns="0" rIns="0" bIns="0" rtlCol="0" anchor="ctr"/>
            <a:lstStyle/>
            <a:p>
              <a:pPr marL="0" indent="0" algn="ctr">
                <a:buNone/>
              </a:pPr>
              <a:r>
                <a:rPr lang="en-US" sz="2200" b="1" dirty="0">
                  <a:solidFill>
                    <a:srgbClr val="0F2C59"/>
                  </a:solidFill>
                  <a:latin typeface="Arial" pitchFamily="34" charset="0"/>
                  <a:ea typeface="Arial" pitchFamily="34" charset="-122"/>
                  <a:cs typeface="Arial" pitchFamily="34" charset="-120"/>
                </a:rPr>
                <a:t>4</a:t>
              </a:r>
              <a:endParaRPr lang="en-US" sz="2200" dirty="0"/>
            </a:p>
          </p:txBody>
        </p:sp>
        <p:sp>
          <p:nvSpPr>
            <p:cNvPr id="23" name="Part 3"/>
            <p:cNvSpPr txBox="1"/>
            <p:nvPr/>
          </p:nvSpPr>
          <p:spPr>
            <a:xfrm>
              <a:off x="7338060" y="2697480"/>
              <a:ext cx="2103120" cy="329184"/>
            </a:xfrm>
            <a:prstGeom prst="rect">
              <a:avLst/>
            </a:prstGeom>
            <a:noFill/>
            <a:ln/>
          </p:spPr>
          <p:txBody>
            <a:bodyPr wrap="square" lIns="0" tIns="0" rIns="0" bIns="0" rtlCol="0" anchor="t"/>
            <a:lstStyle/>
            <a:p>
              <a:pPr marL="0" indent="0" algn="ctr">
                <a:buNone/>
              </a:pPr>
              <a:r>
                <a:rPr lang="en-US" sz="1550" b="1" dirty="0">
                  <a:solidFill>
                    <a:srgbClr val="0F2C59"/>
                  </a:solidFill>
                  <a:latin typeface="Arial" pitchFamily="34" charset="0"/>
                  <a:ea typeface="Arial" pitchFamily="34" charset="-122"/>
                  <a:cs typeface="Arial" pitchFamily="34" charset="-120"/>
                </a:rPr>
                <a:t>Lưu hồ sơ</a:t>
              </a:r>
              <a:endParaRPr lang="en-US" sz="1550" dirty="0"/>
            </a:p>
          </p:txBody>
        </p:sp>
        <p:sp>
          <p:nvSpPr>
            <p:cNvPr id="24" name="Part 4"/>
            <p:cNvSpPr txBox="1"/>
            <p:nvPr/>
          </p:nvSpPr>
          <p:spPr>
            <a:xfrm>
              <a:off x="7338060" y="3063240"/>
              <a:ext cx="2103120" cy="960120"/>
            </a:xfrm>
            <a:prstGeom prst="rect">
              <a:avLst/>
            </a:prstGeom>
            <a:noFill/>
            <a:ln/>
          </p:spPr>
          <p:txBody>
            <a:bodyPr wrap="square" lIns="0" tIns="0" rIns="0" bIns="0" rtlCol="0" anchor="t"/>
            <a:lstStyle/>
            <a:p>
              <a:pPr marL="0" indent="0" algn="ctr">
                <a:buNone/>
              </a:pPr>
              <a:r>
                <a:rPr lang="en-US" sz="1200" dirty="0">
                  <a:solidFill>
                    <a:srgbClr val="6B7280"/>
                  </a:solidFill>
                  <a:latin typeface="Arial" pitchFamily="34" charset="0"/>
                  <a:ea typeface="Arial" pitchFamily="34" charset="-122"/>
                  <a:cs typeface="Arial" pitchFamily="34" charset="-120"/>
                </a:rPr>
                <a:t>Tạo bản ghi trạng thái “moi”, báo gửi thành công</a:t>
              </a:r>
              <a:endParaRPr lang="en-US" sz="1200" dirty="0"/>
            </a:p>
          </p:txBody>
        </p:sp>
      </p:grpSp>
      <p:grpSp>
        <p:nvGrpSpPr>
          <p:cNvPr id="46" name="Group 12">
            <a:extLst>
              <a:ext uri="{FF2B5EF4-FFF2-40B4-BE49-F238E27FC236}">
                <a16:creationId xmlns:a16="http://schemas.microsoft.com/office/drawing/2014/main" id="{31A4F1F5-92BC-229B-4678-B710AC57F21A}"/>
              </a:ext>
            </a:extLst>
          </p:cNvPr>
          <p:cNvGrpSpPr/>
          <p:nvPr/>
        </p:nvGrpSpPr>
        <p:grpSpPr>
          <a:xfrm>
            <a:off x="9646920" y="1783080"/>
            <a:ext cx="2103120" cy="2240280"/>
            <a:chOff x="9646920" y="1783080"/>
            <a:chExt cx="2103120" cy="2240280"/>
          </a:xfrm>
        </p:grpSpPr>
        <p:sp>
          <p:nvSpPr>
            <p:cNvPr id="25" name="Part 1"/>
            <p:cNvSpPr/>
            <p:nvPr/>
          </p:nvSpPr>
          <p:spPr>
            <a:xfrm>
              <a:off x="10332720" y="1783080"/>
              <a:ext cx="731520" cy="731520"/>
            </a:xfrm>
            <a:prstGeom prst="ellipse">
              <a:avLst/>
            </a:prstGeom>
            <a:solidFill>
              <a:srgbClr val="0F2C59"/>
            </a:solidFill>
            <a:ln w="50800">
              <a:solidFill>
                <a:srgbClr val="F4F6F9"/>
              </a:solidFill>
              <a:prstDash val="solid"/>
            </a:ln>
          </p:spPr>
        </p:sp>
        <p:sp>
          <p:nvSpPr>
            <p:cNvPr id="26" name="Part 2"/>
            <p:cNvSpPr txBox="1"/>
            <p:nvPr/>
          </p:nvSpPr>
          <p:spPr>
            <a:xfrm>
              <a:off x="10332720" y="1783080"/>
              <a:ext cx="731520" cy="731520"/>
            </a:xfrm>
            <a:prstGeom prst="rect">
              <a:avLst/>
            </a:prstGeom>
            <a:noFill/>
            <a:ln/>
          </p:spPr>
          <p:txBody>
            <a:bodyPr wrap="square" lIns="0" tIns="0" rIns="0" bIns="0" rtlCol="0" anchor="ctr"/>
            <a:lstStyle/>
            <a:p>
              <a:pPr marL="0" indent="0" algn="ctr">
                <a:buNone/>
              </a:pPr>
              <a:r>
                <a:rPr lang="en-US" sz="2200" b="1" dirty="0">
                  <a:solidFill>
                    <a:srgbClr val="E5B53A"/>
                  </a:solidFill>
                  <a:latin typeface="Arial" pitchFamily="34" charset="0"/>
                  <a:ea typeface="Arial" pitchFamily="34" charset="-122"/>
                  <a:cs typeface="Arial" pitchFamily="34" charset="-120"/>
                </a:rPr>
                <a:t>5</a:t>
              </a:r>
              <a:endParaRPr lang="en-US" sz="2200" dirty="0"/>
            </a:p>
          </p:txBody>
        </p:sp>
        <p:sp>
          <p:nvSpPr>
            <p:cNvPr id="27" name="Part 3"/>
            <p:cNvSpPr txBox="1"/>
            <p:nvPr/>
          </p:nvSpPr>
          <p:spPr>
            <a:xfrm>
              <a:off x="9646920" y="2697480"/>
              <a:ext cx="2103120" cy="329184"/>
            </a:xfrm>
            <a:prstGeom prst="rect">
              <a:avLst/>
            </a:prstGeom>
            <a:noFill/>
            <a:ln/>
          </p:spPr>
          <p:txBody>
            <a:bodyPr wrap="square" lIns="0" tIns="0" rIns="0" bIns="0" rtlCol="0" anchor="t"/>
            <a:lstStyle/>
            <a:p>
              <a:pPr marL="0" indent="0" algn="ctr">
                <a:buNone/>
              </a:pPr>
              <a:r>
                <a:rPr lang="en-US" sz="1550" b="1" dirty="0">
                  <a:solidFill>
                    <a:srgbClr val="0F2C59"/>
                  </a:solidFill>
                  <a:latin typeface="Arial" pitchFamily="34" charset="0"/>
                  <a:ea typeface="Arial" pitchFamily="34" charset="-122"/>
                  <a:cs typeface="Arial" pitchFamily="34" charset="-120"/>
                </a:rPr>
                <a:t>Quản trị xử lý</a:t>
              </a:r>
              <a:endParaRPr lang="en-US" sz="1550" dirty="0"/>
            </a:p>
          </p:txBody>
        </p:sp>
        <p:sp>
          <p:nvSpPr>
            <p:cNvPr id="28" name="Part 4"/>
            <p:cNvSpPr txBox="1"/>
            <p:nvPr/>
          </p:nvSpPr>
          <p:spPr>
            <a:xfrm>
              <a:off x="9646920" y="3063240"/>
              <a:ext cx="2103120" cy="960120"/>
            </a:xfrm>
            <a:prstGeom prst="rect">
              <a:avLst/>
            </a:prstGeom>
            <a:noFill/>
            <a:ln/>
          </p:spPr>
          <p:txBody>
            <a:bodyPr wrap="square" lIns="0" tIns="0" rIns="0" bIns="0" rtlCol="0" anchor="t"/>
            <a:lstStyle/>
            <a:p>
              <a:pPr marL="0" indent="0" algn="ctr">
                <a:buNone/>
              </a:pPr>
              <a:r>
                <a:rPr lang="en-US" sz="1200" dirty="0">
                  <a:solidFill>
                    <a:srgbClr val="6B7280"/>
                  </a:solidFill>
                  <a:latin typeface="Arial" pitchFamily="34" charset="0"/>
                  <a:ea typeface="Arial" pitchFamily="34" charset="-122"/>
                  <a:cs typeface="Arial" pitchFamily="34" charset="-120"/>
                </a:rPr>
                <a:t>Xem chi tiết, đổi trạng thái, ghi chú nội bộ</a:t>
              </a:r>
              <a:endParaRPr lang="en-US" sz="1200" dirty="0"/>
            </a:p>
          </p:txBody>
        </p:sp>
      </p:grpSp>
      <p:grpSp>
        <p:nvGrpSpPr>
          <p:cNvPr id="47" name="Group 13">
            <a:extLst>
              <a:ext uri="{FF2B5EF4-FFF2-40B4-BE49-F238E27FC236}">
                <a16:creationId xmlns:a16="http://schemas.microsoft.com/office/drawing/2014/main" id="{53FB120B-7351-D3C6-5F4A-5A4A1116710E}"/>
              </a:ext>
            </a:extLst>
          </p:cNvPr>
          <p:cNvGrpSpPr/>
          <p:nvPr/>
        </p:nvGrpSpPr>
        <p:grpSpPr>
          <a:xfrm>
            <a:off x="548640" y="4297680"/>
            <a:ext cx="11091672" cy="1645920"/>
            <a:chOff x="548640" y="4297680"/>
            <a:chExt cx="11091672" cy="1645920"/>
          </a:xfrm>
        </p:grpSpPr>
        <p:sp>
          <p:nvSpPr>
            <p:cNvPr id="29" name="Part 1"/>
            <p:cNvSpPr/>
            <p:nvPr/>
          </p:nvSpPr>
          <p:spPr>
            <a:xfrm>
              <a:off x="548640" y="4297680"/>
              <a:ext cx="11091672" cy="1645920"/>
            </a:xfrm>
            <a:prstGeom prst="roundRect">
              <a:avLst>
                <a:gd name="adj" fmla="val 6667"/>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0" name="Part 2"/>
            <p:cNvSpPr txBox="1"/>
            <p:nvPr/>
          </p:nvSpPr>
          <p:spPr>
            <a:xfrm>
              <a:off x="822960" y="4480560"/>
              <a:ext cx="1005840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Vòng đời trạng thái hồ sơ  </a:t>
              </a:r>
              <a:r>
                <a:rPr lang="en-US" sz="1200" dirty="0">
                  <a:solidFill>
                    <a:srgbClr val="6B7280"/>
                  </a:solidFill>
                  <a:latin typeface="Consolas" pitchFamily="34" charset="0"/>
                  <a:ea typeface="Consolas" pitchFamily="34" charset="-122"/>
                  <a:cs typeface="Consolas" pitchFamily="34" charset="-120"/>
                </a:rPr>
                <a:t>dang_ky_nhap_hoc.trang_thai</a:t>
              </a:r>
              <a:endParaRPr lang="en-US" sz="1500" dirty="0"/>
            </a:p>
          </p:txBody>
        </p:sp>
      </p:grpSp>
      <p:grpSp>
        <p:nvGrpSpPr>
          <p:cNvPr id="48" name="Group 14">
            <a:extLst>
              <a:ext uri="{FF2B5EF4-FFF2-40B4-BE49-F238E27FC236}">
                <a16:creationId xmlns:a16="http://schemas.microsoft.com/office/drawing/2014/main" id="{19F6B7EF-C088-3E12-E5B6-C5151E2DA300}"/>
              </a:ext>
            </a:extLst>
          </p:cNvPr>
          <p:cNvGrpSpPr/>
          <p:nvPr/>
        </p:nvGrpSpPr>
        <p:grpSpPr>
          <a:xfrm>
            <a:off x="822960" y="5074920"/>
            <a:ext cx="2148840" cy="566928"/>
            <a:chOff x="822960" y="5074920"/>
            <a:chExt cx="2148840" cy="566928"/>
          </a:xfrm>
        </p:grpSpPr>
        <p:sp>
          <p:nvSpPr>
            <p:cNvPr id="31" name="Part 1"/>
            <p:cNvSpPr/>
            <p:nvPr/>
          </p:nvSpPr>
          <p:spPr>
            <a:xfrm>
              <a:off x="822960" y="5074920"/>
              <a:ext cx="2148840" cy="566928"/>
            </a:xfrm>
            <a:prstGeom prst="roundRect">
              <a:avLst>
                <a:gd name="adj" fmla="val 50000"/>
              </a:avLst>
            </a:prstGeom>
            <a:solidFill>
              <a:srgbClr val="E8EDF5"/>
            </a:solidFill>
            <a:ln/>
          </p:spPr>
        </p:sp>
        <p:sp>
          <p:nvSpPr>
            <p:cNvPr id="32" name="Part 2"/>
            <p:cNvSpPr txBox="1"/>
            <p:nvPr/>
          </p:nvSpPr>
          <p:spPr>
            <a:xfrm>
              <a:off x="822960" y="5074920"/>
              <a:ext cx="2148840" cy="566928"/>
            </a:xfrm>
            <a:prstGeom prst="rect">
              <a:avLst/>
            </a:prstGeom>
            <a:noFill/>
            <a:ln/>
          </p:spPr>
          <p:txBody>
            <a:bodyPr wrap="square" lIns="0" tIns="0" rIns="0" bIns="0" rtlCol="0" anchor="ctr"/>
            <a:lstStyle/>
            <a:p>
              <a:pPr marL="0" indent="0" algn="ctr">
                <a:buNone/>
              </a:pPr>
              <a:r>
                <a:rPr lang="en-US" sz="1300" b="1" dirty="0">
                  <a:solidFill>
                    <a:srgbClr val="0F2C59"/>
                  </a:solidFill>
                  <a:latin typeface="Arial" pitchFamily="34" charset="0"/>
                  <a:ea typeface="Arial" pitchFamily="34" charset="-122"/>
                  <a:cs typeface="Arial" pitchFamily="34" charset="-120"/>
                </a:rPr>
                <a:t>Mới</a:t>
              </a:r>
              <a:r>
                <a:rPr lang="en-US" sz="1100" dirty="0">
                  <a:solidFill>
                    <a:srgbClr val="0F2C59"/>
                  </a:solidFill>
                  <a:latin typeface="Consolas" pitchFamily="34" charset="0"/>
                  <a:ea typeface="Consolas" pitchFamily="34" charset="-122"/>
                  <a:cs typeface="Consolas" pitchFamily="34" charset="-120"/>
                </a:rPr>
                <a:t>  ·  moi</a:t>
              </a:r>
              <a:endParaRPr lang="en-US" sz="1300" dirty="0"/>
            </a:p>
          </p:txBody>
        </p:sp>
      </p:grpSp>
      <p:grpSp>
        <p:nvGrpSpPr>
          <p:cNvPr id="49" name="Group 15">
            <a:extLst>
              <a:ext uri="{FF2B5EF4-FFF2-40B4-BE49-F238E27FC236}">
                <a16:creationId xmlns:a16="http://schemas.microsoft.com/office/drawing/2014/main" id="{01C7D23D-C2C2-6ECC-46B7-D25D4675D7DE}"/>
              </a:ext>
            </a:extLst>
          </p:cNvPr>
          <p:cNvGrpSpPr/>
          <p:nvPr/>
        </p:nvGrpSpPr>
        <p:grpSpPr>
          <a:xfrm>
            <a:off x="3566160" y="5074920"/>
            <a:ext cx="2148840" cy="566928"/>
            <a:chOff x="3566160" y="5074920"/>
            <a:chExt cx="2148840" cy="566928"/>
          </a:xfrm>
        </p:grpSpPr>
        <p:sp>
          <p:nvSpPr>
            <p:cNvPr id="33" name="Part 1"/>
            <p:cNvSpPr/>
            <p:nvPr/>
          </p:nvSpPr>
          <p:spPr>
            <a:xfrm>
              <a:off x="3566160" y="5074920"/>
              <a:ext cx="2148840" cy="566928"/>
            </a:xfrm>
            <a:prstGeom prst="roundRect">
              <a:avLst>
                <a:gd name="adj" fmla="val 50000"/>
              </a:avLst>
            </a:prstGeom>
            <a:solidFill>
              <a:srgbClr val="FBF3DC"/>
            </a:solidFill>
            <a:ln/>
          </p:spPr>
        </p:sp>
        <p:sp>
          <p:nvSpPr>
            <p:cNvPr id="34" name="Part 2"/>
            <p:cNvSpPr txBox="1"/>
            <p:nvPr/>
          </p:nvSpPr>
          <p:spPr>
            <a:xfrm>
              <a:off x="3566160" y="5074920"/>
              <a:ext cx="2148840" cy="566928"/>
            </a:xfrm>
            <a:prstGeom prst="rect">
              <a:avLst/>
            </a:prstGeom>
            <a:noFill/>
            <a:ln/>
          </p:spPr>
          <p:txBody>
            <a:bodyPr wrap="square" lIns="0" tIns="0" rIns="0" bIns="0" rtlCol="0" anchor="ctr"/>
            <a:lstStyle/>
            <a:p>
              <a:pPr marL="0" indent="0" algn="ctr">
                <a:buNone/>
              </a:pPr>
              <a:r>
                <a:rPr lang="en-US" sz="1300" b="1" dirty="0">
                  <a:solidFill>
                    <a:srgbClr val="8A6510"/>
                  </a:solidFill>
                  <a:latin typeface="Arial" pitchFamily="34" charset="0"/>
                  <a:ea typeface="Arial" pitchFamily="34" charset="-122"/>
                  <a:cs typeface="Arial" pitchFamily="34" charset="-120"/>
                </a:rPr>
                <a:t>Đang xử lý</a:t>
              </a:r>
              <a:r>
                <a:rPr lang="en-US" sz="1100" dirty="0">
                  <a:solidFill>
                    <a:srgbClr val="8A6510"/>
                  </a:solidFill>
                  <a:latin typeface="Consolas" pitchFamily="34" charset="0"/>
                  <a:ea typeface="Consolas" pitchFamily="34" charset="-122"/>
                  <a:cs typeface="Consolas" pitchFamily="34" charset="-120"/>
                </a:rPr>
                <a:t>  ·  dang_xu_ly</a:t>
              </a:r>
              <a:endParaRPr lang="en-US" sz="1300" dirty="0"/>
            </a:p>
          </p:txBody>
        </p:sp>
      </p:grpSp>
      <p:grpSp>
        <p:nvGrpSpPr>
          <p:cNvPr id="50" name="Group 16">
            <a:extLst>
              <a:ext uri="{FF2B5EF4-FFF2-40B4-BE49-F238E27FC236}">
                <a16:creationId xmlns:a16="http://schemas.microsoft.com/office/drawing/2014/main" id="{64554F1B-CC2A-DE7D-3AEB-88CBBB6D1C23}"/>
              </a:ext>
            </a:extLst>
          </p:cNvPr>
          <p:cNvGrpSpPr/>
          <p:nvPr/>
        </p:nvGrpSpPr>
        <p:grpSpPr>
          <a:xfrm>
            <a:off x="6309360" y="5074920"/>
            <a:ext cx="2148840" cy="566928"/>
            <a:chOff x="6309360" y="5074920"/>
            <a:chExt cx="2148840" cy="566928"/>
          </a:xfrm>
        </p:grpSpPr>
        <p:sp>
          <p:nvSpPr>
            <p:cNvPr id="35" name="Part 1"/>
            <p:cNvSpPr/>
            <p:nvPr/>
          </p:nvSpPr>
          <p:spPr>
            <a:xfrm>
              <a:off x="6309360" y="5074920"/>
              <a:ext cx="2148840" cy="566928"/>
            </a:xfrm>
            <a:prstGeom prst="roundRect">
              <a:avLst>
                <a:gd name="adj" fmla="val 50000"/>
              </a:avLst>
            </a:prstGeom>
            <a:solidFill>
              <a:srgbClr val="DCFCE7"/>
            </a:solidFill>
            <a:ln/>
          </p:spPr>
        </p:sp>
        <p:sp>
          <p:nvSpPr>
            <p:cNvPr id="36" name="Part 2"/>
            <p:cNvSpPr txBox="1"/>
            <p:nvPr/>
          </p:nvSpPr>
          <p:spPr>
            <a:xfrm>
              <a:off x="6309360" y="5074920"/>
              <a:ext cx="2148840" cy="566928"/>
            </a:xfrm>
            <a:prstGeom prst="rect">
              <a:avLst/>
            </a:prstGeom>
            <a:noFill/>
            <a:ln/>
          </p:spPr>
          <p:txBody>
            <a:bodyPr wrap="square" lIns="0" tIns="0" rIns="0" bIns="0" rtlCol="0" anchor="ctr"/>
            <a:lstStyle/>
            <a:p>
              <a:pPr marL="0" indent="0" algn="ctr">
                <a:buNone/>
              </a:pPr>
              <a:r>
                <a:rPr lang="en-US" sz="1300" b="1" dirty="0">
                  <a:solidFill>
                    <a:srgbClr val="15803D"/>
                  </a:solidFill>
                  <a:latin typeface="Arial" pitchFamily="34" charset="0"/>
                  <a:ea typeface="Arial" pitchFamily="34" charset="-122"/>
                  <a:cs typeface="Arial" pitchFamily="34" charset="-120"/>
                </a:rPr>
                <a:t>Đã liên hệ</a:t>
              </a:r>
              <a:r>
                <a:rPr lang="en-US" sz="1100" dirty="0">
                  <a:solidFill>
                    <a:srgbClr val="15803D"/>
                  </a:solidFill>
                  <a:latin typeface="Consolas" pitchFamily="34" charset="0"/>
                  <a:ea typeface="Consolas" pitchFamily="34" charset="-122"/>
                  <a:cs typeface="Consolas" pitchFamily="34" charset="-120"/>
                </a:rPr>
                <a:t>  ·  da_lien_he</a:t>
              </a:r>
              <a:endParaRPr lang="en-US" sz="1300" dirty="0"/>
            </a:p>
          </p:txBody>
        </p:sp>
      </p:grpSp>
      <p:grpSp>
        <p:nvGrpSpPr>
          <p:cNvPr id="51" name="Group 17">
            <a:extLst>
              <a:ext uri="{FF2B5EF4-FFF2-40B4-BE49-F238E27FC236}">
                <a16:creationId xmlns:a16="http://schemas.microsoft.com/office/drawing/2014/main" id="{47D80300-8812-9471-E8F2-6C5ACBEA5019}"/>
              </a:ext>
            </a:extLst>
          </p:cNvPr>
          <p:cNvGrpSpPr/>
          <p:nvPr/>
        </p:nvGrpSpPr>
        <p:grpSpPr>
          <a:xfrm>
            <a:off x="9006840" y="5074920"/>
            <a:ext cx="2148840" cy="566928"/>
            <a:chOff x="9006840" y="5074920"/>
            <a:chExt cx="2148840" cy="566928"/>
          </a:xfrm>
        </p:grpSpPr>
        <p:sp>
          <p:nvSpPr>
            <p:cNvPr id="37" name="Part 1"/>
            <p:cNvSpPr/>
            <p:nvPr/>
          </p:nvSpPr>
          <p:spPr>
            <a:xfrm>
              <a:off x="9006840" y="5074920"/>
              <a:ext cx="2148840" cy="566928"/>
            </a:xfrm>
            <a:prstGeom prst="roundRect">
              <a:avLst>
                <a:gd name="adj" fmla="val 50000"/>
              </a:avLst>
            </a:prstGeom>
            <a:solidFill>
              <a:srgbClr val="FEE2E2"/>
            </a:solidFill>
            <a:ln/>
          </p:spPr>
        </p:sp>
        <p:sp>
          <p:nvSpPr>
            <p:cNvPr id="38" name="Part 2"/>
            <p:cNvSpPr txBox="1"/>
            <p:nvPr/>
          </p:nvSpPr>
          <p:spPr>
            <a:xfrm>
              <a:off x="9006840" y="5074920"/>
              <a:ext cx="2148840" cy="566928"/>
            </a:xfrm>
            <a:prstGeom prst="rect">
              <a:avLst/>
            </a:prstGeom>
            <a:noFill/>
            <a:ln/>
          </p:spPr>
          <p:txBody>
            <a:bodyPr wrap="square" lIns="0" tIns="0" rIns="0" bIns="0" rtlCol="0" anchor="ctr"/>
            <a:lstStyle/>
            <a:p>
              <a:pPr marL="0" indent="0" algn="ctr">
                <a:buNone/>
              </a:pPr>
              <a:r>
                <a:rPr lang="en-US" sz="1300" b="1" dirty="0">
                  <a:solidFill>
                    <a:srgbClr val="B91C1C"/>
                  </a:solidFill>
                  <a:latin typeface="Arial" pitchFamily="34" charset="0"/>
                  <a:ea typeface="Arial" pitchFamily="34" charset="-122"/>
                  <a:cs typeface="Arial" pitchFamily="34" charset="-120"/>
                </a:rPr>
                <a:t>Từ chối</a:t>
              </a:r>
              <a:r>
                <a:rPr lang="en-US" sz="1100" dirty="0">
                  <a:solidFill>
                    <a:srgbClr val="B91C1C"/>
                  </a:solidFill>
                  <a:latin typeface="Consolas" pitchFamily="34" charset="0"/>
                  <a:ea typeface="Consolas" pitchFamily="34" charset="-122"/>
                  <a:cs typeface="Consolas" pitchFamily="34" charset="-120"/>
                </a:rPr>
                <a:t>  ·  tu_choi</a:t>
              </a:r>
              <a:endParaRPr lang="en-US" sz="1300" dirty="0"/>
            </a:p>
          </p:txBody>
        </p:sp>
      </p:grpSp>
      <p:sp>
        <p:nvSpPr>
          <p:cNvPr id="39" name="Shape 18"/>
          <p:cNvSpPr/>
          <p:nvPr/>
        </p:nvSpPr>
        <p:spPr>
          <a:xfrm>
            <a:off x="3044952" y="5358384"/>
            <a:ext cx="457200" cy="0"/>
          </a:xfrm>
          <a:prstGeom prst="line">
            <a:avLst/>
          </a:prstGeom>
          <a:noFill/>
          <a:ln w="22225">
            <a:solidFill>
              <a:srgbClr val="6B7280"/>
            </a:solidFill>
            <a:prstDash val="solid"/>
            <a:tailEnd type="triangle"/>
          </a:ln>
        </p:spPr>
      </p:sp>
      <p:sp>
        <p:nvSpPr>
          <p:cNvPr id="40" name="Shape 19"/>
          <p:cNvSpPr/>
          <p:nvPr/>
        </p:nvSpPr>
        <p:spPr>
          <a:xfrm>
            <a:off x="5788152" y="5358384"/>
            <a:ext cx="457200" cy="0"/>
          </a:xfrm>
          <a:prstGeom prst="line">
            <a:avLst/>
          </a:prstGeom>
          <a:noFill/>
          <a:ln w="22225">
            <a:solidFill>
              <a:srgbClr val="6B7280"/>
            </a:solidFill>
            <a:prstDash val="solid"/>
            <a:tailEnd type="triangle"/>
          </a:ln>
        </p:spPr>
      </p:sp>
      <p:sp>
        <p:nvSpPr>
          <p:cNvPr id="41" name="Shape 20"/>
          <p:cNvSpPr txBox="1"/>
          <p:nvPr/>
        </p:nvSpPr>
        <p:spPr>
          <a:xfrm>
            <a:off x="8458200" y="5074920"/>
            <a:ext cx="548640" cy="566928"/>
          </a:xfrm>
          <a:prstGeom prst="rect">
            <a:avLst/>
          </a:prstGeom>
          <a:noFill/>
          <a:ln/>
        </p:spPr>
        <p:txBody>
          <a:bodyPr wrap="square" lIns="0" tIns="0" rIns="0" bIns="0" rtlCol="0" anchor="ctr"/>
          <a:lstStyle/>
          <a:p>
            <a:pPr marL="0" indent="0" algn="ctr">
              <a:buNone/>
            </a:pPr>
            <a:r>
              <a:rPr lang="en-US" sz="1200" i="1" dirty="0">
                <a:solidFill>
                  <a:srgbClr val="6B7280"/>
                </a:solidFill>
                <a:latin typeface="Arial" pitchFamily="34" charset="0"/>
                <a:ea typeface="Arial" pitchFamily="34" charset="-122"/>
                <a:cs typeface="Arial" pitchFamily="34" charset="-120"/>
              </a:rPr>
              <a:t>hoặc</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450"/>
                                        <p:tgtEl>
                                          <p:spTgt spid="8"/>
                                        </p:tgtEl>
                                      </p:cBhvr>
                                    </p:animEffect>
                                  </p:childTnLst>
                                </p:cTn>
                              </p:par>
                            </p:childTnLst>
                          </p:cTn>
                        </p:par>
                        <p:par>
                          <p:cTn id="8" fill="hold">
                            <p:stCondLst>
                              <p:cond delay="450"/>
                            </p:stCondLst>
                            <p:childTnLst>
                              <p:par>
                                <p:cTn id="9" presetID="42" presetClass="entr" presetSubtype="0"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50"/>
                                        <p:tgtEl>
                                          <p:spTgt spid="42"/>
                                        </p:tgtEl>
                                      </p:cBhvr>
                                    </p:animEffect>
                                    <p:anim calcmode="lin" valueType="num">
                                      <p:cBhvr>
                                        <p:cTn id="12" dur="550" fill="hold"/>
                                        <p:tgtEl>
                                          <p:spTgt spid="42"/>
                                        </p:tgtEl>
                                        <p:attrNameLst>
                                          <p:attrName>ppt_x</p:attrName>
                                        </p:attrNameLst>
                                      </p:cBhvr>
                                      <p:tavLst>
                                        <p:tav tm="0">
                                          <p:val>
                                            <p:strVal val="#ppt_x"/>
                                          </p:val>
                                        </p:tav>
                                        <p:tav tm="100000">
                                          <p:val>
                                            <p:strVal val="#ppt_x"/>
                                          </p:val>
                                        </p:tav>
                                      </p:tavLst>
                                    </p:anim>
                                    <p:anim calcmode="lin" valueType="num">
                                      <p:cBhvr>
                                        <p:cTn id="13" dur="550" fill="hold"/>
                                        <p:tgtEl>
                                          <p:spTgt spid="42"/>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12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50"/>
                                        <p:tgtEl>
                                          <p:spTgt spid="43"/>
                                        </p:tgtEl>
                                      </p:cBhvr>
                                    </p:animEffect>
                                    <p:anim calcmode="lin" valueType="num">
                                      <p:cBhvr>
                                        <p:cTn id="17" dur="550" fill="hold"/>
                                        <p:tgtEl>
                                          <p:spTgt spid="43"/>
                                        </p:tgtEl>
                                        <p:attrNameLst>
                                          <p:attrName>ppt_x</p:attrName>
                                        </p:attrNameLst>
                                      </p:cBhvr>
                                      <p:tavLst>
                                        <p:tav tm="0">
                                          <p:val>
                                            <p:strVal val="#ppt_x"/>
                                          </p:val>
                                        </p:tav>
                                        <p:tav tm="100000">
                                          <p:val>
                                            <p:strVal val="#ppt_x"/>
                                          </p:val>
                                        </p:tav>
                                      </p:tavLst>
                                    </p:anim>
                                    <p:anim calcmode="lin" valueType="num">
                                      <p:cBhvr>
                                        <p:cTn id="18" dur="550" fill="hold"/>
                                        <p:tgtEl>
                                          <p:spTgt spid="43"/>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24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550"/>
                                        <p:tgtEl>
                                          <p:spTgt spid="44"/>
                                        </p:tgtEl>
                                      </p:cBhvr>
                                    </p:animEffect>
                                    <p:anim calcmode="lin" valueType="num">
                                      <p:cBhvr>
                                        <p:cTn id="22" dur="550" fill="hold"/>
                                        <p:tgtEl>
                                          <p:spTgt spid="44"/>
                                        </p:tgtEl>
                                        <p:attrNameLst>
                                          <p:attrName>ppt_x</p:attrName>
                                        </p:attrNameLst>
                                      </p:cBhvr>
                                      <p:tavLst>
                                        <p:tav tm="0">
                                          <p:val>
                                            <p:strVal val="#ppt_x"/>
                                          </p:val>
                                        </p:tav>
                                        <p:tav tm="100000">
                                          <p:val>
                                            <p:strVal val="#ppt_x"/>
                                          </p:val>
                                        </p:tav>
                                      </p:tavLst>
                                    </p:anim>
                                    <p:anim calcmode="lin" valueType="num">
                                      <p:cBhvr>
                                        <p:cTn id="23" dur="550" fill="hold"/>
                                        <p:tgtEl>
                                          <p:spTgt spid="44"/>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360"/>
                                  </p:stCondLst>
                                  <p:childTnLst>
                                    <p:set>
                                      <p:cBhvr>
                                        <p:cTn id="25" dur="1" fill="hold">
                                          <p:stCondLst>
                                            <p:cond delay="0"/>
                                          </p:stCondLst>
                                        </p:cTn>
                                        <p:tgtEl>
                                          <p:spTgt spid="45"/>
                                        </p:tgtEl>
                                        <p:attrNameLst>
                                          <p:attrName>style.visibility</p:attrName>
                                        </p:attrNameLst>
                                      </p:cBhvr>
                                      <p:to>
                                        <p:strVal val="visible"/>
                                      </p:to>
                                    </p:set>
                                    <p:animEffect transition="in" filter="fade">
                                      <p:cBhvr>
                                        <p:cTn id="26" dur="550"/>
                                        <p:tgtEl>
                                          <p:spTgt spid="45"/>
                                        </p:tgtEl>
                                      </p:cBhvr>
                                    </p:animEffect>
                                    <p:anim calcmode="lin" valueType="num">
                                      <p:cBhvr>
                                        <p:cTn id="27" dur="550" fill="hold"/>
                                        <p:tgtEl>
                                          <p:spTgt spid="45"/>
                                        </p:tgtEl>
                                        <p:attrNameLst>
                                          <p:attrName>ppt_x</p:attrName>
                                        </p:attrNameLst>
                                      </p:cBhvr>
                                      <p:tavLst>
                                        <p:tav tm="0">
                                          <p:val>
                                            <p:strVal val="#ppt_x"/>
                                          </p:val>
                                        </p:tav>
                                        <p:tav tm="100000">
                                          <p:val>
                                            <p:strVal val="#ppt_x"/>
                                          </p:val>
                                        </p:tav>
                                      </p:tavLst>
                                    </p:anim>
                                    <p:anim calcmode="lin" valueType="num">
                                      <p:cBhvr>
                                        <p:cTn id="28" dur="550" fill="hold"/>
                                        <p:tgtEl>
                                          <p:spTgt spid="45"/>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48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50"/>
                                        <p:tgtEl>
                                          <p:spTgt spid="46"/>
                                        </p:tgtEl>
                                      </p:cBhvr>
                                    </p:animEffect>
                                    <p:anim calcmode="lin" valueType="num">
                                      <p:cBhvr>
                                        <p:cTn id="32" dur="550" fill="hold"/>
                                        <p:tgtEl>
                                          <p:spTgt spid="46"/>
                                        </p:tgtEl>
                                        <p:attrNameLst>
                                          <p:attrName>ppt_x</p:attrName>
                                        </p:attrNameLst>
                                      </p:cBhvr>
                                      <p:tavLst>
                                        <p:tav tm="0">
                                          <p:val>
                                            <p:strVal val="#ppt_x"/>
                                          </p:val>
                                        </p:tav>
                                        <p:tav tm="100000">
                                          <p:val>
                                            <p:strVal val="#ppt_x"/>
                                          </p:val>
                                        </p:tav>
                                      </p:tavLst>
                                    </p:anim>
                                    <p:anim calcmode="lin" valueType="num">
                                      <p:cBhvr>
                                        <p:cTn id="33" dur="550" fill="hold"/>
                                        <p:tgtEl>
                                          <p:spTgt spid="46"/>
                                        </p:tgtEl>
                                        <p:attrNameLst>
                                          <p:attrName>ppt_y</p:attrName>
                                        </p:attrNameLst>
                                      </p:cBhvr>
                                      <p:tavLst>
                                        <p:tav tm="0">
                                          <p:val>
                                            <p:strVal val="#ppt_y+.1"/>
                                          </p:val>
                                        </p:tav>
                                        <p:tav tm="100000">
                                          <p:val>
                                            <p:strVal val="#ppt_y"/>
                                          </p:val>
                                        </p:tav>
                                      </p:tavLst>
                                    </p:anim>
                                  </p:childTnLst>
                                </p:cTn>
                              </p:par>
                            </p:childTnLst>
                          </p:cTn>
                        </p:par>
                        <p:par>
                          <p:cTn id="34" fill="hold">
                            <p:stCondLst>
                              <p:cond delay="1480"/>
                            </p:stCondLst>
                            <p:childTnLst>
                              <p:par>
                                <p:cTn id="35" presetID="10" presetClass="entr" presetSubtype="0" fill="hold" nodeType="after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500"/>
                                        <p:tgtEl>
                                          <p:spTgt spid="47"/>
                                        </p:tgtEl>
                                      </p:cBhvr>
                                    </p:animEffect>
                                  </p:childTnLst>
                                </p:cTn>
                              </p:par>
                            </p:childTnLst>
                          </p:cTn>
                        </p:par>
                        <p:par>
                          <p:cTn id="38" fill="hold">
                            <p:stCondLst>
                              <p:cond delay="1980"/>
                            </p:stCondLst>
                            <p:childTnLst>
                              <p:par>
                                <p:cTn id="39" presetID="53" presetClass="entr" presetSubtype="16"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 calcmode="lin" valueType="num">
                                      <p:cBhvr>
                                        <p:cTn id="41" dur="500" fill="hold"/>
                                        <p:tgtEl>
                                          <p:spTgt spid="48"/>
                                        </p:tgtEl>
                                        <p:attrNameLst>
                                          <p:attrName>ppt_w</p:attrName>
                                        </p:attrNameLst>
                                      </p:cBhvr>
                                      <p:tavLst>
                                        <p:tav tm="0">
                                          <p:val>
                                            <p:fltVal val="0"/>
                                          </p:val>
                                        </p:tav>
                                        <p:tav tm="100000">
                                          <p:val>
                                            <p:strVal val="#ppt_w"/>
                                          </p:val>
                                        </p:tav>
                                      </p:tavLst>
                                    </p:anim>
                                    <p:anim calcmode="lin" valueType="num">
                                      <p:cBhvr>
                                        <p:cTn id="42" dur="500" fill="hold"/>
                                        <p:tgtEl>
                                          <p:spTgt spid="48"/>
                                        </p:tgtEl>
                                        <p:attrNameLst>
                                          <p:attrName>ppt_h</p:attrName>
                                        </p:attrNameLst>
                                      </p:cBhvr>
                                      <p:tavLst>
                                        <p:tav tm="0">
                                          <p:val>
                                            <p:fltVal val="0"/>
                                          </p:val>
                                        </p:tav>
                                        <p:tav tm="100000">
                                          <p:val>
                                            <p:strVal val="#ppt_h"/>
                                          </p:val>
                                        </p:tav>
                                      </p:tavLst>
                                    </p:anim>
                                    <p:animEffect transition="in" filter="fade">
                                      <p:cBhvr>
                                        <p:cTn id="43" dur="500"/>
                                        <p:tgtEl>
                                          <p:spTgt spid="48"/>
                                        </p:tgtEl>
                                      </p:cBhvr>
                                    </p:animEffect>
                                  </p:childTnLst>
                                </p:cTn>
                              </p:par>
                              <p:par>
                                <p:cTn id="44" presetID="53" presetClass="entr" presetSubtype="16" fill="hold" nodeType="withEffect">
                                  <p:stCondLst>
                                    <p:cond delay="120"/>
                                  </p:stCondLst>
                                  <p:childTnLst>
                                    <p:set>
                                      <p:cBhvr>
                                        <p:cTn id="45" dur="1" fill="hold">
                                          <p:stCondLst>
                                            <p:cond delay="0"/>
                                          </p:stCondLst>
                                        </p:cTn>
                                        <p:tgtEl>
                                          <p:spTgt spid="49"/>
                                        </p:tgtEl>
                                        <p:attrNameLst>
                                          <p:attrName>style.visibility</p:attrName>
                                        </p:attrNameLst>
                                      </p:cBhvr>
                                      <p:to>
                                        <p:strVal val="visible"/>
                                      </p:to>
                                    </p:set>
                                    <p:anim calcmode="lin" valueType="num">
                                      <p:cBhvr>
                                        <p:cTn id="46" dur="500" fill="hold"/>
                                        <p:tgtEl>
                                          <p:spTgt spid="49"/>
                                        </p:tgtEl>
                                        <p:attrNameLst>
                                          <p:attrName>ppt_w</p:attrName>
                                        </p:attrNameLst>
                                      </p:cBhvr>
                                      <p:tavLst>
                                        <p:tav tm="0">
                                          <p:val>
                                            <p:fltVal val="0"/>
                                          </p:val>
                                        </p:tav>
                                        <p:tav tm="100000">
                                          <p:val>
                                            <p:strVal val="#ppt_w"/>
                                          </p:val>
                                        </p:tav>
                                      </p:tavLst>
                                    </p:anim>
                                    <p:anim calcmode="lin" valueType="num">
                                      <p:cBhvr>
                                        <p:cTn id="47" dur="500" fill="hold"/>
                                        <p:tgtEl>
                                          <p:spTgt spid="49"/>
                                        </p:tgtEl>
                                        <p:attrNameLst>
                                          <p:attrName>ppt_h</p:attrName>
                                        </p:attrNameLst>
                                      </p:cBhvr>
                                      <p:tavLst>
                                        <p:tav tm="0">
                                          <p:val>
                                            <p:fltVal val="0"/>
                                          </p:val>
                                        </p:tav>
                                        <p:tav tm="100000">
                                          <p:val>
                                            <p:strVal val="#ppt_h"/>
                                          </p:val>
                                        </p:tav>
                                      </p:tavLst>
                                    </p:anim>
                                    <p:animEffect transition="in" filter="fade">
                                      <p:cBhvr>
                                        <p:cTn id="48" dur="500"/>
                                        <p:tgtEl>
                                          <p:spTgt spid="49"/>
                                        </p:tgtEl>
                                      </p:cBhvr>
                                    </p:animEffect>
                                  </p:childTnLst>
                                </p:cTn>
                              </p:par>
                              <p:par>
                                <p:cTn id="49" presetID="10" presetClass="entr" presetSubtype="0" fill="hold" nodeType="withEffect">
                                  <p:stCondLst>
                                    <p:cond delay="12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500"/>
                                        <p:tgtEl>
                                          <p:spTgt spid="39"/>
                                        </p:tgtEl>
                                      </p:cBhvr>
                                    </p:animEffect>
                                  </p:childTnLst>
                                </p:cTn>
                              </p:par>
                              <p:par>
                                <p:cTn id="52" presetID="53" presetClass="entr" presetSubtype="16" fill="hold" nodeType="withEffect">
                                  <p:stCondLst>
                                    <p:cond delay="240"/>
                                  </p:stCondLst>
                                  <p:childTnLst>
                                    <p:set>
                                      <p:cBhvr>
                                        <p:cTn id="53" dur="1" fill="hold">
                                          <p:stCondLst>
                                            <p:cond delay="0"/>
                                          </p:stCondLst>
                                        </p:cTn>
                                        <p:tgtEl>
                                          <p:spTgt spid="50"/>
                                        </p:tgtEl>
                                        <p:attrNameLst>
                                          <p:attrName>style.visibility</p:attrName>
                                        </p:attrNameLst>
                                      </p:cBhvr>
                                      <p:to>
                                        <p:strVal val="visible"/>
                                      </p:to>
                                    </p:set>
                                    <p:anim calcmode="lin" valueType="num">
                                      <p:cBhvr>
                                        <p:cTn id="54" dur="500" fill="hold"/>
                                        <p:tgtEl>
                                          <p:spTgt spid="50"/>
                                        </p:tgtEl>
                                        <p:attrNameLst>
                                          <p:attrName>ppt_w</p:attrName>
                                        </p:attrNameLst>
                                      </p:cBhvr>
                                      <p:tavLst>
                                        <p:tav tm="0">
                                          <p:val>
                                            <p:fltVal val="0"/>
                                          </p:val>
                                        </p:tav>
                                        <p:tav tm="100000">
                                          <p:val>
                                            <p:strVal val="#ppt_w"/>
                                          </p:val>
                                        </p:tav>
                                      </p:tavLst>
                                    </p:anim>
                                    <p:anim calcmode="lin" valueType="num">
                                      <p:cBhvr>
                                        <p:cTn id="55" dur="500" fill="hold"/>
                                        <p:tgtEl>
                                          <p:spTgt spid="50"/>
                                        </p:tgtEl>
                                        <p:attrNameLst>
                                          <p:attrName>ppt_h</p:attrName>
                                        </p:attrNameLst>
                                      </p:cBhvr>
                                      <p:tavLst>
                                        <p:tav tm="0">
                                          <p:val>
                                            <p:fltVal val="0"/>
                                          </p:val>
                                        </p:tav>
                                        <p:tav tm="100000">
                                          <p:val>
                                            <p:strVal val="#ppt_h"/>
                                          </p:val>
                                        </p:tav>
                                      </p:tavLst>
                                    </p:anim>
                                    <p:animEffect transition="in" filter="fade">
                                      <p:cBhvr>
                                        <p:cTn id="56" dur="500"/>
                                        <p:tgtEl>
                                          <p:spTgt spid="50"/>
                                        </p:tgtEl>
                                      </p:cBhvr>
                                    </p:animEffect>
                                  </p:childTnLst>
                                </p:cTn>
                              </p:par>
                              <p:par>
                                <p:cTn id="57" presetID="10" presetClass="entr" presetSubtype="0" fill="hold" nodeType="withEffect">
                                  <p:stCondLst>
                                    <p:cond delay="24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500"/>
                                        <p:tgtEl>
                                          <p:spTgt spid="40"/>
                                        </p:tgtEl>
                                      </p:cBhvr>
                                    </p:animEffect>
                                  </p:childTnLst>
                                </p:cTn>
                              </p:par>
                              <p:par>
                                <p:cTn id="60" presetID="53" presetClass="entr" presetSubtype="16" fill="hold" nodeType="withEffect">
                                  <p:stCondLst>
                                    <p:cond delay="360"/>
                                  </p:stCondLst>
                                  <p:childTnLst>
                                    <p:set>
                                      <p:cBhvr>
                                        <p:cTn id="61" dur="1" fill="hold">
                                          <p:stCondLst>
                                            <p:cond delay="0"/>
                                          </p:stCondLst>
                                        </p:cTn>
                                        <p:tgtEl>
                                          <p:spTgt spid="51"/>
                                        </p:tgtEl>
                                        <p:attrNameLst>
                                          <p:attrName>style.visibility</p:attrName>
                                        </p:attrNameLst>
                                      </p:cBhvr>
                                      <p:to>
                                        <p:strVal val="visible"/>
                                      </p:to>
                                    </p:set>
                                    <p:anim calcmode="lin" valueType="num">
                                      <p:cBhvr>
                                        <p:cTn id="62" dur="500" fill="hold"/>
                                        <p:tgtEl>
                                          <p:spTgt spid="51"/>
                                        </p:tgtEl>
                                        <p:attrNameLst>
                                          <p:attrName>ppt_w</p:attrName>
                                        </p:attrNameLst>
                                      </p:cBhvr>
                                      <p:tavLst>
                                        <p:tav tm="0">
                                          <p:val>
                                            <p:fltVal val="0"/>
                                          </p:val>
                                        </p:tav>
                                        <p:tav tm="100000">
                                          <p:val>
                                            <p:strVal val="#ppt_w"/>
                                          </p:val>
                                        </p:tav>
                                      </p:tavLst>
                                    </p:anim>
                                    <p:anim calcmode="lin" valueType="num">
                                      <p:cBhvr>
                                        <p:cTn id="63" dur="500" fill="hold"/>
                                        <p:tgtEl>
                                          <p:spTgt spid="51"/>
                                        </p:tgtEl>
                                        <p:attrNameLst>
                                          <p:attrName>ppt_h</p:attrName>
                                        </p:attrNameLst>
                                      </p:cBhvr>
                                      <p:tavLst>
                                        <p:tav tm="0">
                                          <p:val>
                                            <p:fltVal val="0"/>
                                          </p:val>
                                        </p:tav>
                                        <p:tav tm="100000">
                                          <p:val>
                                            <p:strVal val="#ppt_h"/>
                                          </p:val>
                                        </p:tav>
                                      </p:tavLst>
                                    </p:anim>
                                    <p:animEffect transition="in" filter="fade">
                                      <p:cBhvr>
                                        <p:cTn id="64" dur="500"/>
                                        <p:tgtEl>
                                          <p:spTgt spid="51"/>
                                        </p:tgtEl>
                                      </p:cBhvr>
                                    </p:animEffect>
                                  </p:childTnLst>
                                </p:cTn>
                              </p:par>
                              <p:par>
                                <p:cTn id="65" presetID="10" presetClass="entr" presetSubtype="0" fill="hold" grpId="0" nodeType="withEffect">
                                  <p:stCondLst>
                                    <p:cond delay="36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Thiết kế cơ sở dữ liệu</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6 bảng · utf8mb4_unicode_ci · tên bảng và cột tiếng Việt không dấu theo báo cáo</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03 · THIẾT KẾ</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09 / 18</a:t>
            </a:r>
            <a:endParaRPr lang="en-US" sz="1000" dirty="0"/>
          </a:p>
        </p:txBody>
      </p:sp>
      <p:grpSp>
        <p:nvGrpSpPr>
          <p:cNvPr id="105" name="Group 7">
            <a:extLst>
              <a:ext uri="{FF2B5EF4-FFF2-40B4-BE49-F238E27FC236}">
                <a16:creationId xmlns:a16="http://schemas.microsoft.com/office/drawing/2014/main" id="{69325D05-7FF6-225B-5D99-09A4427DCD84}"/>
              </a:ext>
            </a:extLst>
          </p:cNvPr>
          <p:cNvGrpSpPr/>
          <p:nvPr/>
        </p:nvGrpSpPr>
        <p:grpSpPr>
          <a:xfrm>
            <a:off x="548640" y="1600200"/>
            <a:ext cx="2606040" cy="1865376"/>
            <a:chOff x="548640" y="1600200"/>
            <a:chExt cx="2606040" cy="1865376"/>
          </a:xfrm>
        </p:grpSpPr>
        <p:sp>
          <p:nvSpPr>
            <p:cNvPr id="8" name="Part 1"/>
            <p:cNvSpPr/>
            <p:nvPr/>
          </p:nvSpPr>
          <p:spPr>
            <a:xfrm>
              <a:off x="548640" y="1600200"/>
              <a:ext cx="2606040" cy="1865376"/>
            </a:xfrm>
            <a:prstGeom prst="roundRect">
              <a:avLst>
                <a:gd name="adj" fmla="val 5882"/>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9" name="Part 2"/>
            <p:cNvSpPr/>
            <p:nvPr/>
          </p:nvSpPr>
          <p:spPr>
            <a:xfrm>
              <a:off x="548640" y="1600200"/>
              <a:ext cx="2606040" cy="384048"/>
            </a:xfrm>
            <a:prstGeom prst="roundRect">
              <a:avLst>
                <a:gd name="adj" fmla="val 28571"/>
              </a:avLst>
            </a:prstGeom>
            <a:solidFill>
              <a:srgbClr val="0F2C59"/>
            </a:solidFill>
            <a:ln/>
          </p:spPr>
        </p:sp>
        <p:sp>
          <p:nvSpPr>
            <p:cNvPr id="10" name="Part 3"/>
            <p:cNvSpPr/>
            <p:nvPr/>
          </p:nvSpPr>
          <p:spPr>
            <a:xfrm>
              <a:off x="548640" y="1819656"/>
              <a:ext cx="2606040" cy="164592"/>
            </a:xfrm>
            <a:prstGeom prst="rect">
              <a:avLst/>
            </a:prstGeom>
            <a:solidFill>
              <a:srgbClr val="0F2C59"/>
            </a:solidFill>
            <a:ln/>
          </p:spPr>
        </p:sp>
        <p:sp>
          <p:nvSpPr>
            <p:cNvPr id="11" name="Part 4"/>
            <p:cNvSpPr txBox="1"/>
            <p:nvPr/>
          </p:nvSpPr>
          <p:spPr>
            <a:xfrm>
              <a:off x="685800" y="1600200"/>
              <a:ext cx="233172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Consolas" pitchFamily="34" charset="0"/>
                  <a:ea typeface="Consolas" pitchFamily="34" charset="-122"/>
                  <a:cs typeface="Consolas" pitchFamily="34" charset="-120"/>
                </a:rPr>
                <a:t>nguoi_dung</a:t>
              </a:r>
              <a:endParaRPr lang="en-US" sz="1300" dirty="0"/>
            </a:p>
          </p:txBody>
        </p:sp>
        <p:sp>
          <p:nvSpPr>
            <p:cNvPr id="12" name="Part 5"/>
            <p:cNvSpPr txBox="1"/>
            <p:nvPr/>
          </p:nvSpPr>
          <p:spPr>
            <a:xfrm>
              <a:off x="685800" y="2057400"/>
              <a:ext cx="196596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id</a:t>
              </a:r>
              <a:endParaRPr lang="en-US" sz="1100" dirty="0"/>
            </a:p>
          </p:txBody>
        </p:sp>
        <p:sp>
          <p:nvSpPr>
            <p:cNvPr id="13" name="Part 6"/>
            <p:cNvSpPr txBox="1"/>
            <p:nvPr/>
          </p:nvSpPr>
          <p:spPr>
            <a:xfrm>
              <a:off x="2606040" y="2057400"/>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PK</a:t>
              </a:r>
              <a:endParaRPr lang="en-US" sz="1000" dirty="0"/>
            </a:p>
          </p:txBody>
        </p:sp>
        <p:sp>
          <p:nvSpPr>
            <p:cNvPr id="14" name="Part 7"/>
            <p:cNvSpPr txBox="1"/>
            <p:nvPr/>
          </p:nvSpPr>
          <p:spPr>
            <a:xfrm>
              <a:off x="685800" y="2276856"/>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ho_ten</a:t>
              </a:r>
              <a:endParaRPr lang="en-US" sz="1100" dirty="0"/>
            </a:p>
          </p:txBody>
        </p:sp>
        <p:sp>
          <p:nvSpPr>
            <p:cNvPr id="15" name="Part 8"/>
            <p:cNvSpPr txBox="1"/>
            <p:nvPr/>
          </p:nvSpPr>
          <p:spPr>
            <a:xfrm>
              <a:off x="685800" y="2496312"/>
              <a:ext cx="196596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email</a:t>
              </a:r>
              <a:endParaRPr lang="en-US" sz="1100" dirty="0"/>
            </a:p>
          </p:txBody>
        </p:sp>
        <p:sp>
          <p:nvSpPr>
            <p:cNvPr id="16" name="Part 9"/>
            <p:cNvSpPr txBox="1"/>
            <p:nvPr/>
          </p:nvSpPr>
          <p:spPr>
            <a:xfrm>
              <a:off x="2606040" y="2496312"/>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UQ</a:t>
              </a:r>
              <a:endParaRPr lang="en-US" sz="1000" dirty="0"/>
            </a:p>
          </p:txBody>
        </p:sp>
        <p:sp>
          <p:nvSpPr>
            <p:cNvPr id="17" name="Part 10"/>
            <p:cNvSpPr txBox="1"/>
            <p:nvPr/>
          </p:nvSpPr>
          <p:spPr>
            <a:xfrm>
              <a:off x="685800" y="2715768"/>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mat_khau</a:t>
              </a:r>
              <a:endParaRPr lang="en-US" sz="1100" dirty="0"/>
            </a:p>
          </p:txBody>
        </p:sp>
        <p:sp>
          <p:nvSpPr>
            <p:cNvPr id="18" name="Part 11"/>
            <p:cNvSpPr txBox="1"/>
            <p:nvPr/>
          </p:nvSpPr>
          <p:spPr>
            <a:xfrm>
              <a:off x="685800" y="2935224"/>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vai_tro</a:t>
              </a:r>
              <a:endParaRPr lang="en-US" sz="1100" dirty="0"/>
            </a:p>
          </p:txBody>
        </p:sp>
        <p:sp>
          <p:nvSpPr>
            <p:cNvPr id="19" name="Part 12"/>
            <p:cNvSpPr txBox="1"/>
            <p:nvPr/>
          </p:nvSpPr>
          <p:spPr>
            <a:xfrm>
              <a:off x="685800" y="3154680"/>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trang_thai</a:t>
              </a:r>
              <a:endParaRPr lang="en-US" sz="1100" dirty="0"/>
            </a:p>
          </p:txBody>
        </p:sp>
      </p:grpSp>
      <p:grpSp>
        <p:nvGrpSpPr>
          <p:cNvPr id="106" name="Group 8">
            <a:extLst>
              <a:ext uri="{FF2B5EF4-FFF2-40B4-BE49-F238E27FC236}">
                <a16:creationId xmlns:a16="http://schemas.microsoft.com/office/drawing/2014/main" id="{55AC7BD4-5704-B9CF-4627-C5670E9B5F8E}"/>
              </a:ext>
            </a:extLst>
          </p:cNvPr>
          <p:cNvGrpSpPr/>
          <p:nvPr/>
        </p:nvGrpSpPr>
        <p:grpSpPr>
          <a:xfrm>
            <a:off x="3383280" y="1600200"/>
            <a:ext cx="2606040" cy="2743200"/>
            <a:chOff x="3383280" y="1600200"/>
            <a:chExt cx="2606040" cy="2743200"/>
          </a:xfrm>
        </p:grpSpPr>
        <p:sp>
          <p:nvSpPr>
            <p:cNvPr id="20" name="Part 1"/>
            <p:cNvSpPr/>
            <p:nvPr/>
          </p:nvSpPr>
          <p:spPr>
            <a:xfrm>
              <a:off x="3383280" y="1600200"/>
              <a:ext cx="2606040" cy="2743200"/>
            </a:xfrm>
            <a:prstGeom prst="roundRect">
              <a:avLst>
                <a:gd name="adj" fmla="val 4211"/>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1" name="Part 2"/>
            <p:cNvSpPr/>
            <p:nvPr/>
          </p:nvSpPr>
          <p:spPr>
            <a:xfrm>
              <a:off x="3383280" y="1600200"/>
              <a:ext cx="2606040" cy="384048"/>
            </a:xfrm>
            <a:prstGeom prst="roundRect">
              <a:avLst>
                <a:gd name="adj" fmla="val 28571"/>
              </a:avLst>
            </a:prstGeom>
            <a:solidFill>
              <a:srgbClr val="0F2C59"/>
            </a:solidFill>
            <a:ln/>
          </p:spPr>
        </p:sp>
        <p:sp>
          <p:nvSpPr>
            <p:cNvPr id="22" name="Part 3"/>
            <p:cNvSpPr/>
            <p:nvPr/>
          </p:nvSpPr>
          <p:spPr>
            <a:xfrm>
              <a:off x="3383280" y="1819656"/>
              <a:ext cx="2606040" cy="164592"/>
            </a:xfrm>
            <a:prstGeom prst="rect">
              <a:avLst/>
            </a:prstGeom>
            <a:solidFill>
              <a:srgbClr val="0F2C59"/>
            </a:solidFill>
            <a:ln/>
          </p:spPr>
        </p:sp>
        <p:sp>
          <p:nvSpPr>
            <p:cNvPr id="23" name="Part 4"/>
            <p:cNvSpPr txBox="1"/>
            <p:nvPr/>
          </p:nvSpPr>
          <p:spPr>
            <a:xfrm>
              <a:off x="3520440" y="1600200"/>
              <a:ext cx="233172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Consolas" pitchFamily="34" charset="0"/>
                  <a:ea typeface="Consolas" pitchFamily="34" charset="-122"/>
                  <a:cs typeface="Consolas" pitchFamily="34" charset="-120"/>
                </a:rPr>
                <a:t>tin_tuc</a:t>
              </a:r>
              <a:endParaRPr lang="en-US" sz="1300" dirty="0"/>
            </a:p>
          </p:txBody>
        </p:sp>
        <p:sp>
          <p:nvSpPr>
            <p:cNvPr id="24" name="Part 5"/>
            <p:cNvSpPr txBox="1"/>
            <p:nvPr/>
          </p:nvSpPr>
          <p:spPr>
            <a:xfrm>
              <a:off x="3520440" y="2057400"/>
              <a:ext cx="196596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id</a:t>
              </a:r>
              <a:endParaRPr lang="en-US" sz="1100" dirty="0"/>
            </a:p>
          </p:txBody>
        </p:sp>
        <p:sp>
          <p:nvSpPr>
            <p:cNvPr id="25" name="Part 6"/>
            <p:cNvSpPr txBox="1"/>
            <p:nvPr/>
          </p:nvSpPr>
          <p:spPr>
            <a:xfrm>
              <a:off x="5440680" y="2057400"/>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PK</a:t>
              </a:r>
              <a:endParaRPr lang="en-US" sz="1000" dirty="0"/>
            </a:p>
          </p:txBody>
        </p:sp>
        <p:sp>
          <p:nvSpPr>
            <p:cNvPr id="26" name="Part 7"/>
            <p:cNvSpPr txBox="1"/>
            <p:nvPr/>
          </p:nvSpPr>
          <p:spPr>
            <a:xfrm>
              <a:off x="3520440" y="2276856"/>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tieu_de</a:t>
              </a:r>
              <a:endParaRPr lang="en-US" sz="1100" dirty="0"/>
            </a:p>
          </p:txBody>
        </p:sp>
        <p:sp>
          <p:nvSpPr>
            <p:cNvPr id="27" name="Part 8"/>
            <p:cNvSpPr txBox="1"/>
            <p:nvPr/>
          </p:nvSpPr>
          <p:spPr>
            <a:xfrm>
              <a:off x="3520440" y="2496312"/>
              <a:ext cx="196596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slug</a:t>
              </a:r>
              <a:endParaRPr lang="en-US" sz="1100" dirty="0"/>
            </a:p>
          </p:txBody>
        </p:sp>
        <p:sp>
          <p:nvSpPr>
            <p:cNvPr id="28" name="Part 9"/>
            <p:cNvSpPr txBox="1"/>
            <p:nvPr/>
          </p:nvSpPr>
          <p:spPr>
            <a:xfrm>
              <a:off x="5440680" y="2496312"/>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UQ</a:t>
              </a:r>
              <a:endParaRPr lang="en-US" sz="1000" dirty="0"/>
            </a:p>
          </p:txBody>
        </p:sp>
        <p:sp>
          <p:nvSpPr>
            <p:cNvPr id="29" name="Part 10"/>
            <p:cNvSpPr txBox="1"/>
            <p:nvPr/>
          </p:nvSpPr>
          <p:spPr>
            <a:xfrm>
              <a:off x="3520440" y="2715768"/>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tom_tat</a:t>
              </a:r>
              <a:endParaRPr lang="en-US" sz="1100" dirty="0"/>
            </a:p>
          </p:txBody>
        </p:sp>
        <p:sp>
          <p:nvSpPr>
            <p:cNvPr id="30" name="Part 11"/>
            <p:cNvSpPr txBox="1"/>
            <p:nvPr/>
          </p:nvSpPr>
          <p:spPr>
            <a:xfrm>
              <a:off x="3520440" y="2935224"/>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noi_dung</a:t>
              </a:r>
              <a:endParaRPr lang="en-US" sz="1100" dirty="0"/>
            </a:p>
          </p:txBody>
        </p:sp>
        <p:sp>
          <p:nvSpPr>
            <p:cNvPr id="31" name="Part 12"/>
            <p:cNvSpPr txBox="1"/>
            <p:nvPr/>
          </p:nvSpPr>
          <p:spPr>
            <a:xfrm>
              <a:off x="3520440" y="3154680"/>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hinh_dai_dien</a:t>
              </a:r>
              <a:endParaRPr lang="en-US" sz="1100" dirty="0"/>
            </a:p>
          </p:txBody>
        </p:sp>
        <p:sp>
          <p:nvSpPr>
            <p:cNvPr id="32" name="Part 13"/>
            <p:cNvSpPr txBox="1"/>
            <p:nvPr/>
          </p:nvSpPr>
          <p:spPr>
            <a:xfrm>
              <a:off x="3520440" y="3374136"/>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ngay_dang</a:t>
              </a:r>
              <a:endParaRPr lang="en-US" sz="1100" dirty="0"/>
            </a:p>
          </p:txBody>
        </p:sp>
        <p:sp>
          <p:nvSpPr>
            <p:cNvPr id="33" name="Part 14"/>
            <p:cNvSpPr txBox="1"/>
            <p:nvPr/>
          </p:nvSpPr>
          <p:spPr>
            <a:xfrm>
              <a:off x="3520440" y="3593592"/>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trang_thai</a:t>
              </a:r>
              <a:endParaRPr lang="en-US" sz="1100" dirty="0"/>
            </a:p>
          </p:txBody>
        </p:sp>
        <p:sp>
          <p:nvSpPr>
            <p:cNvPr id="34" name="Part 15"/>
            <p:cNvSpPr txBox="1"/>
            <p:nvPr/>
          </p:nvSpPr>
          <p:spPr>
            <a:xfrm>
              <a:off x="3520440" y="3813048"/>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luot_xem</a:t>
              </a:r>
              <a:endParaRPr lang="en-US" sz="1100" dirty="0"/>
            </a:p>
          </p:txBody>
        </p:sp>
        <p:sp>
          <p:nvSpPr>
            <p:cNvPr id="35" name="Part 16"/>
            <p:cNvSpPr/>
            <p:nvPr/>
          </p:nvSpPr>
          <p:spPr>
            <a:xfrm>
              <a:off x="3438144" y="4032504"/>
              <a:ext cx="2496312" cy="219456"/>
            </a:xfrm>
            <a:prstGeom prst="roundRect">
              <a:avLst>
                <a:gd name="adj" fmla="val 20833"/>
              </a:avLst>
            </a:prstGeom>
            <a:solidFill>
              <a:srgbClr val="FBF3DC"/>
            </a:solidFill>
            <a:ln/>
          </p:spPr>
        </p:sp>
        <p:sp>
          <p:nvSpPr>
            <p:cNvPr id="36" name="Part 17"/>
            <p:cNvSpPr txBox="1"/>
            <p:nvPr/>
          </p:nvSpPr>
          <p:spPr>
            <a:xfrm>
              <a:off x="3520440" y="4032504"/>
              <a:ext cx="196596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nguoi_dung_id</a:t>
              </a:r>
              <a:endParaRPr lang="en-US" sz="1100" dirty="0"/>
            </a:p>
          </p:txBody>
        </p:sp>
        <p:sp>
          <p:nvSpPr>
            <p:cNvPr id="37" name="Part 18"/>
            <p:cNvSpPr txBox="1"/>
            <p:nvPr/>
          </p:nvSpPr>
          <p:spPr>
            <a:xfrm>
              <a:off x="5440680" y="4032504"/>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FK</a:t>
              </a:r>
              <a:endParaRPr lang="en-US" sz="1000" dirty="0"/>
            </a:p>
          </p:txBody>
        </p:sp>
      </p:grpSp>
      <p:grpSp>
        <p:nvGrpSpPr>
          <p:cNvPr id="107" name="Group 9">
            <a:extLst>
              <a:ext uri="{FF2B5EF4-FFF2-40B4-BE49-F238E27FC236}">
                <a16:creationId xmlns:a16="http://schemas.microsoft.com/office/drawing/2014/main" id="{F7003B58-A5C3-4410-4FA9-7F3CEEEABBA3}"/>
              </a:ext>
            </a:extLst>
          </p:cNvPr>
          <p:cNvGrpSpPr/>
          <p:nvPr/>
        </p:nvGrpSpPr>
        <p:grpSpPr>
          <a:xfrm>
            <a:off x="6217920" y="1600200"/>
            <a:ext cx="2606040" cy="2304288"/>
            <a:chOff x="6217920" y="1600200"/>
            <a:chExt cx="2606040" cy="2304288"/>
          </a:xfrm>
        </p:grpSpPr>
        <p:sp>
          <p:nvSpPr>
            <p:cNvPr id="38" name="Part 1"/>
            <p:cNvSpPr/>
            <p:nvPr/>
          </p:nvSpPr>
          <p:spPr>
            <a:xfrm>
              <a:off x="6217920" y="1600200"/>
              <a:ext cx="2606040" cy="2304288"/>
            </a:xfrm>
            <a:prstGeom prst="roundRect">
              <a:avLst>
                <a:gd name="adj" fmla="val 4762"/>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9" name="Part 2"/>
            <p:cNvSpPr/>
            <p:nvPr/>
          </p:nvSpPr>
          <p:spPr>
            <a:xfrm>
              <a:off x="6217920" y="1600200"/>
              <a:ext cx="2606040" cy="384048"/>
            </a:xfrm>
            <a:prstGeom prst="roundRect">
              <a:avLst>
                <a:gd name="adj" fmla="val 28571"/>
              </a:avLst>
            </a:prstGeom>
            <a:solidFill>
              <a:srgbClr val="0F2C59"/>
            </a:solidFill>
            <a:ln/>
          </p:spPr>
        </p:sp>
        <p:sp>
          <p:nvSpPr>
            <p:cNvPr id="40" name="Part 3"/>
            <p:cNvSpPr/>
            <p:nvPr/>
          </p:nvSpPr>
          <p:spPr>
            <a:xfrm>
              <a:off x="6217920" y="1819656"/>
              <a:ext cx="2606040" cy="164592"/>
            </a:xfrm>
            <a:prstGeom prst="rect">
              <a:avLst/>
            </a:prstGeom>
            <a:solidFill>
              <a:srgbClr val="0F2C59"/>
            </a:solidFill>
            <a:ln/>
          </p:spPr>
        </p:sp>
        <p:sp>
          <p:nvSpPr>
            <p:cNvPr id="41" name="Part 4"/>
            <p:cNvSpPr txBox="1"/>
            <p:nvPr/>
          </p:nvSpPr>
          <p:spPr>
            <a:xfrm>
              <a:off x="6355080" y="1600200"/>
              <a:ext cx="233172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Consolas" pitchFamily="34" charset="0"/>
                  <a:ea typeface="Consolas" pitchFamily="34" charset="-122"/>
                  <a:cs typeface="Consolas" pitchFamily="34" charset="-120"/>
                </a:rPr>
                <a:t>chuong_trinh</a:t>
              </a:r>
              <a:endParaRPr lang="en-US" sz="1300" dirty="0"/>
            </a:p>
          </p:txBody>
        </p:sp>
        <p:sp>
          <p:nvSpPr>
            <p:cNvPr id="42" name="Part 5"/>
            <p:cNvSpPr txBox="1"/>
            <p:nvPr/>
          </p:nvSpPr>
          <p:spPr>
            <a:xfrm>
              <a:off x="6355080" y="2057400"/>
              <a:ext cx="196596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id</a:t>
              </a:r>
              <a:endParaRPr lang="en-US" sz="1100" dirty="0"/>
            </a:p>
          </p:txBody>
        </p:sp>
        <p:sp>
          <p:nvSpPr>
            <p:cNvPr id="43" name="Part 6"/>
            <p:cNvSpPr txBox="1"/>
            <p:nvPr/>
          </p:nvSpPr>
          <p:spPr>
            <a:xfrm>
              <a:off x="8275320" y="2057400"/>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PK</a:t>
              </a:r>
              <a:endParaRPr lang="en-US" sz="1000" dirty="0"/>
            </a:p>
          </p:txBody>
        </p:sp>
        <p:sp>
          <p:nvSpPr>
            <p:cNvPr id="44" name="Part 7"/>
            <p:cNvSpPr txBox="1"/>
            <p:nvPr/>
          </p:nvSpPr>
          <p:spPr>
            <a:xfrm>
              <a:off x="6355080" y="2276856"/>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ten</a:t>
              </a:r>
              <a:endParaRPr lang="en-US" sz="1100" dirty="0"/>
            </a:p>
          </p:txBody>
        </p:sp>
        <p:sp>
          <p:nvSpPr>
            <p:cNvPr id="45" name="Part 8"/>
            <p:cNvSpPr txBox="1"/>
            <p:nvPr/>
          </p:nvSpPr>
          <p:spPr>
            <a:xfrm>
              <a:off x="6355080" y="2496312"/>
              <a:ext cx="196596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slug</a:t>
              </a:r>
              <a:endParaRPr lang="en-US" sz="1100" dirty="0"/>
            </a:p>
          </p:txBody>
        </p:sp>
        <p:sp>
          <p:nvSpPr>
            <p:cNvPr id="46" name="Part 9"/>
            <p:cNvSpPr txBox="1"/>
            <p:nvPr/>
          </p:nvSpPr>
          <p:spPr>
            <a:xfrm>
              <a:off x="8275320" y="2496312"/>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UQ</a:t>
              </a:r>
              <a:endParaRPr lang="en-US" sz="1000" dirty="0"/>
            </a:p>
          </p:txBody>
        </p:sp>
        <p:sp>
          <p:nvSpPr>
            <p:cNvPr id="47" name="Part 10"/>
            <p:cNvSpPr txBox="1"/>
            <p:nvPr/>
          </p:nvSpPr>
          <p:spPr>
            <a:xfrm>
              <a:off x="6355080" y="2715768"/>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mo_ta</a:t>
              </a:r>
              <a:endParaRPr lang="en-US" sz="1100" dirty="0"/>
            </a:p>
          </p:txBody>
        </p:sp>
        <p:sp>
          <p:nvSpPr>
            <p:cNvPr id="48" name="Part 11"/>
            <p:cNvSpPr txBox="1"/>
            <p:nvPr/>
          </p:nvSpPr>
          <p:spPr>
            <a:xfrm>
              <a:off x="6355080" y="2935224"/>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noi_dung</a:t>
              </a:r>
              <a:endParaRPr lang="en-US" sz="1100" dirty="0"/>
            </a:p>
          </p:txBody>
        </p:sp>
        <p:sp>
          <p:nvSpPr>
            <p:cNvPr id="49" name="Part 12"/>
            <p:cNvSpPr txBox="1"/>
            <p:nvPr/>
          </p:nvSpPr>
          <p:spPr>
            <a:xfrm>
              <a:off x="6355080" y="3154680"/>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hinh_dai_dien</a:t>
              </a:r>
              <a:endParaRPr lang="en-US" sz="1100" dirty="0"/>
            </a:p>
          </p:txBody>
        </p:sp>
        <p:sp>
          <p:nvSpPr>
            <p:cNvPr id="50" name="Part 13"/>
            <p:cNvSpPr txBox="1"/>
            <p:nvPr/>
          </p:nvSpPr>
          <p:spPr>
            <a:xfrm>
              <a:off x="6355080" y="3374136"/>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thu_tu</a:t>
              </a:r>
              <a:endParaRPr lang="en-US" sz="1100" dirty="0"/>
            </a:p>
          </p:txBody>
        </p:sp>
        <p:sp>
          <p:nvSpPr>
            <p:cNvPr id="51" name="Part 14"/>
            <p:cNvSpPr txBox="1"/>
            <p:nvPr/>
          </p:nvSpPr>
          <p:spPr>
            <a:xfrm>
              <a:off x="6355080" y="3593592"/>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trang_thai</a:t>
              </a:r>
              <a:endParaRPr lang="en-US" sz="1100" dirty="0"/>
            </a:p>
          </p:txBody>
        </p:sp>
      </p:grpSp>
      <p:grpSp>
        <p:nvGrpSpPr>
          <p:cNvPr id="108" name="Group 10">
            <a:extLst>
              <a:ext uri="{FF2B5EF4-FFF2-40B4-BE49-F238E27FC236}">
                <a16:creationId xmlns:a16="http://schemas.microsoft.com/office/drawing/2014/main" id="{39F63A03-4980-36B7-B8DA-0B3D83C85617}"/>
              </a:ext>
            </a:extLst>
          </p:cNvPr>
          <p:cNvGrpSpPr/>
          <p:nvPr/>
        </p:nvGrpSpPr>
        <p:grpSpPr>
          <a:xfrm>
            <a:off x="9052560" y="1600200"/>
            <a:ext cx="2587752" cy="4279392"/>
            <a:chOff x="9052560" y="1600200"/>
            <a:chExt cx="2587752" cy="4279392"/>
          </a:xfrm>
        </p:grpSpPr>
        <p:sp>
          <p:nvSpPr>
            <p:cNvPr id="52" name="Part 1"/>
            <p:cNvSpPr/>
            <p:nvPr/>
          </p:nvSpPr>
          <p:spPr>
            <a:xfrm>
              <a:off x="9052560" y="1600200"/>
              <a:ext cx="2587752" cy="4279392"/>
            </a:xfrm>
            <a:prstGeom prst="roundRect">
              <a:avLst>
                <a:gd name="adj" fmla="val 424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53" name="Part 2"/>
            <p:cNvSpPr/>
            <p:nvPr/>
          </p:nvSpPr>
          <p:spPr>
            <a:xfrm>
              <a:off x="9052560" y="1600200"/>
              <a:ext cx="2587752" cy="384048"/>
            </a:xfrm>
            <a:prstGeom prst="roundRect">
              <a:avLst>
                <a:gd name="adj" fmla="val 28571"/>
              </a:avLst>
            </a:prstGeom>
            <a:solidFill>
              <a:srgbClr val="0F2C59"/>
            </a:solidFill>
            <a:ln/>
          </p:spPr>
        </p:sp>
        <p:sp>
          <p:nvSpPr>
            <p:cNvPr id="54" name="Part 3"/>
            <p:cNvSpPr/>
            <p:nvPr/>
          </p:nvSpPr>
          <p:spPr>
            <a:xfrm>
              <a:off x="9052560" y="1819656"/>
              <a:ext cx="2587752" cy="164592"/>
            </a:xfrm>
            <a:prstGeom prst="rect">
              <a:avLst/>
            </a:prstGeom>
            <a:solidFill>
              <a:srgbClr val="0F2C59"/>
            </a:solidFill>
            <a:ln/>
          </p:spPr>
        </p:sp>
        <p:sp>
          <p:nvSpPr>
            <p:cNvPr id="55" name="Part 4"/>
            <p:cNvSpPr txBox="1"/>
            <p:nvPr/>
          </p:nvSpPr>
          <p:spPr>
            <a:xfrm>
              <a:off x="9189720" y="1600200"/>
              <a:ext cx="2313432"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Consolas" pitchFamily="34" charset="0"/>
                  <a:ea typeface="Consolas" pitchFamily="34" charset="-122"/>
                  <a:cs typeface="Consolas" pitchFamily="34" charset="-120"/>
                </a:rPr>
                <a:t>dang_ky_nhap_hoc</a:t>
              </a:r>
              <a:endParaRPr lang="en-US" sz="1300" dirty="0"/>
            </a:p>
          </p:txBody>
        </p:sp>
        <p:sp>
          <p:nvSpPr>
            <p:cNvPr id="56" name="Part 5"/>
            <p:cNvSpPr txBox="1"/>
            <p:nvPr/>
          </p:nvSpPr>
          <p:spPr>
            <a:xfrm>
              <a:off x="9189720" y="2057400"/>
              <a:ext cx="1947672"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id</a:t>
              </a:r>
              <a:endParaRPr lang="en-US" sz="1100" dirty="0"/>
            </a:p>
          </p:txBody>
        </p:sp>
        <p:sp>
          <p:nvSpPr>
            <p:cNvPr id="57" name="Part 6"/>
            <p:cNvSpPr txBox="1"/>
            <p:nvPr/>
          </p:nvSpPr>
          <p:spPr>
            <a:xfrm>
              <a:off x="11091672" y="2057400"/>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PK</a:t>
              </a:r>
              <a:endParaRPr lang="en-US" sz="1000" dirty="0"/>
            </a:p>
          </p:txBody>
        </p:sp>
        <p:sp>
          <p:nvSpPr>
            <p:cNvPr id="58" name="Part 7"/>
            <p:cNvSpPr txBox="1"/>
            <p:nvPr/>
          </p:nvSpPr>
          <p:spPr>
            <a:xfrm>
              <a:off x="9189720" y="2276856"/>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ho_ten</a:t>
              </a:r>
              <a:endParaRPr lang="en-US" sz="1100" dirty="0"/>
            </a:p>
          </p:txBody>
        </p:sp>
        <p:sp>
          <p:nvSpPr>
            <p:cNvPr id="59" name="Part 8"/>
            <p:cNvSpPr txBox="1"/>
            <p:nvPr/>
          </p:nvSpPr>
          <p:spPr>
            <a:xfrm>
              <a:off x="9189720" y="2496312"/>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ngay_sinh</a:t>
              </a:r>
              <a:endParaRPr lang="en-US" sz="1100" dirty="0"/>
            </a:p>
          </p:txBody>
        </p:sp>
        <p:sp>
          <p:nvSpPr>
            <p:cNvPr id="60" name="Part 9"/>
            <p:cNvSpPr txBox="1"/>
            <p:nvPr/>
          </p:nvSpPr>
          <p:spPr>
            <a:xfrm>
              <a:off x="9189720" y="2715768"/>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gioi_tinh</a:t>
              </a:r>
              <a:endParaRPr lang="en-US" sz="1100" dirty="0"/>
            </a:p>
          </p:txBody>
        </p:sp>
        <p:sp>
          <p:nvSpPr>
            <p:cNvPr id="61" name="Part 10"/>
            <p:cNvSpPr txBox="1"/>
            <p:nvPr/>
          </p:nvSpPr>
          <p:spPr>
            <a:xfrm>
              <a:off x="9189720" y="2935224"/>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quoc_tich</a:t>
              </a:r>
              <a:endParaRPr lang="en-US" sz="1100" dirty="0"/>
            </a:p>
          </p:txBody>
        </p:sp>
        <p:sp>
          <p:nvSpPr>
            <p:cNvPr id="62" name="Part 11"/>
            <p:cNvSpPr txBox="1"/>
            <p:nvPr/>
          </p:nvSpPr>
          <p:spPr>
            <a:xfrm>
              <a:off x="9189720" y="3154680"/>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ten_phu_huynh</a:t>
              </a:r>
              <a:endParaRPr lang="en-US" sz="1100" dirty="0"/>
            </a:p>
          </p:txBody>
        </p:sp>
        <p:sp>
          <p:nvSpPr>
            <p:cNvPr id="63" name="Part 12"/>
            <p:cNvSpPr txBox="1"/>
            <p:nvPr/>
          </p:nvSpPr>
          <p:spPr>
            <a:xfrm>
              <a:off x="9189720" y="3374136"/>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quan_he</a:t>
              </a:r>
              <a:endParaRPr lang="en-US" sz="1100" dirty="0"/>
            </a:p>
          </p:txBody>
        </p:sp>
        <p:sp>
          <p:nvSpPr>
            <p:cNvPr id="64" name="Part 13"/>
            <p:cNvSpPr txBox="1"/>
            <p:nvPr/>
          </p:nvSpPr>
          <p:spPr>
            <a:xfrm>
              <a:off x="9189720" y="3593592"/>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email</a:t>
              </a:r>
              <a:endParaRPr lang="en-US" sz="1100" dirty="0"/>
            </a:p>
          </p:txBody>
        </p:sp>
        <p:sp>
          <p:nvSpPr>
            <p:cNvPr id="65" name="Part 14"/>
            <p:cNvSpPr txBox="1"/>
            <p:nvPr/>
          </p:nvSpPr>
          <p:spPr>
            <a:xfrm>
              <a:off x="9189720" y="3813048"/>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dien_thoai</a:t>
              </a:r>
              <a:endParaRPr lang="en-US" sz="1100" dirty="0"/>
            </a:p>
          </p:txBody>
        </p:sp>
        <p:sp>
          <p:nvSpPr>
            <p:cNvPr id="66" name="Part 15"/>
            <p:cNvSpPr txBox="1"/>
            <p:nvPr/>
          </p:nvSpPr>
          <p:spPr>
            <a:xfrm>
              <a:off x="9189720" y="4032504"/>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truong_hien_tai</a:t>
              </a:r>
              <a:endParaRPr lang="en-US" sz="1100" dirty="0"/>
            </a:p>
          </p:txBody>
        </p:sp>
        <p:sp>
          <p:nvSpPr>
            <p:cNvPr id="67" name="Part 16"/>
            <p:cNvSpPr txBox="1"/>
            <p:nvPr/>
          </p:nvSpPr>
          <p:spPr>
            <a:xfrm>
              <a:off x="9189720" y="4251960"/>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khoi_lop</a:t>
              </a:r>
              <a:endParaRPr lang="en-US" sz="1100" dirty="0"/>
            </a:p>
          </p:txBody>
        </p:sp>
        <p:sp>
          <p:nvSpPr>
            <p:cNvPr id="68" name="Part 17"/>
            <p:cNvSpPr/>
            <p:nvPr/>
          </p:nvSpPr>
          <p:spPr>
            <a:xfrm>
              <a:off x="9107424" y="4471416"/>
              <a:ext cx="2478024" cy="219456"/>
            </a:xfrm>
            <a:prstGeom prst="roundRect">
              <a:avLst>
                <a:gd name="adj" fmla="val 20833"/>
              </a:avLst>
            </a:prstGeom>
            <a:solidFill>
              <a:srgbClr val="FBF3DC"/>
            </a:solidFill>
            <a:ln/>
          </p:spPr>
        </p:sp>
        <p:sp>
          <p:nvSpPr>
            <p:cNvPr id="69" name="Part 18"/>
            <p:cNvSpPr txBox="1"/>
            <p:nvPr/>
          </p:nvSpPr>
          <p:spPr>
            <a:xfrm>
              <a:off x="9189720" y="4471416"/>
              <a:ext cx="1947672"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chuong_trinh_id</a:t>
              </a:r>
              <a:endParaRPr lang="en-US" sz="1100" dirty="0"/>
            </a:p>
          </p:txBody>
        </p:sp>
        <p:sp>
          <p:nvSpPr>
            <p:cNvPr id="70" name="Part 19"/>
            <p:cNvSpPr txBox="1"/>
            <p:nvPr/>
          </p:nvSpPr>
          <p:spPr>
            <a:xfrm>
              <a:off x="11091672" y="4471416"/>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FK</a:t>
              </a:r>
              <a:endParaRPr lang="en-US" sz="1000" dirty="0"/>
            </a:p>
          </p:txBody>
        </p:sp>
        <p:sp>
          <p:nvSpPr>
            <p:cNvPr id="71" name="Part 20"/>
            <p:cNvSpPr txBox="1"/>
            <p:nvPr/>
          </p:nvSpPr>
          <p:spPr>
            <a:xfrm>
              <a:off x="9189720" y="4690872"/>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tep_hoc_ba</a:t>
              </a:r>
              <a:endParaRPr lang="en-US" sz="1100" dirty="0"/>
            </a:p>
          </p:txBody>
        </p:sp>
        <p:sp>
          <p:nvSpPr>
            <p:cNvPr id="72" name="Part 21"/>
            <p:cNvSpPr txBox="1"/>
            <p:nvPr/>
          </p:nvSpPr>
          <p:spPr>
            <a:xfrm>
              <a:off x="9189720" y="4910328"/>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nguon_biet_den</a:t>
              </a:r>
              <a:endParaRPr lang="en-US" sz="1100" dirty="0"/>
            </a:p>
          </p:txBody>
        </p:sp>
        <p:sp>
          <p:nvSpPr>
            <p:cNvPr id="73" name="Part 22"/>
            <p:cNvSpPr txBox="1"/>
            <p:nvPr/>
          </p:nvSpPr>
          <p:spPr>
            <a:xfrm>
              <a:off x="9189720" y="5129784"/>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ghi_chu</a:t>
              </a:r>
              <a:endParaRPr lang="en-US" sz="1100" dirty="0"/>
            </a:p>
          </p:txBody>
        </p:sp>
        <p:sp>
          <p:nvSpPr>
            <p:cNvPr id="74" name="Part 23"/>
            <p:cNvSpPr txBox="1"/>
            <p:nvPr/>
          </p:nvSpPr>
          <p:spPr>
            <a:xfrm>
              <a:off x="9189720" y="5349240"/>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trang_thai</a:t>
              </a:r>
              <a:endParaRPr lang="en-US" sz="1100" dirty="0"/>
            </a:p>
          </p:txBody>
        </p:sp>
        <p:sp>
          <p:nvSpPr>
            <p:cNvPr id="75" name="Part 24"/>
            <p:cNvSpPr txBox="1"/>
            <p:nvPr/>
          </p:nvSpPr>
          <p:spPr>
            <a:xfrm>
              <a:off x="9189720" y="5568696"/>
              <a:ext cx="1947672"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ghi_chu_admin</a:t>
              </a:r>
              <a:endParaRPr lang="en-US" sz="1100" dirty="0"/>
            </a:p>
          </p:txBody>
        </p:sp>
      </p:grpSp>
      <p:grpSp>
        <p:nvGrpSpPr>
          <p:cNvPr id="109" name="Group 11">
            <a:extLst>
              <a:ext uri="{FF2B5EF4-FFF2-40B4-BE49-F238E27FC236}">
                <a16:creationId xmlns:a16="http://schemas.microsoft.com/office/drawing/2014/main" id="{81B204F4-DF01-2BD0-F07D-178B3C5FAC7F}"/>
              </a:ext>
            </a:extLst>
          </p:cNvPr>
          <p:cNvGrpSpPr/>
          <p:nvPr/>
        </p:nvGrpSpPr>
        <p:grpSpPr>
          <a:xfrm>
            <a:off x="548640" y="3749040"/>
            <a:ext cx="2606040" cy="2084832"/>
            <a:chOff x="548640" y="3749040"/>
            <a:chExt cx="2606040" cy="2084832"/>
          </a:xfrm>
        </p:grpSpPr>
        <p:sp>
          <p:nvSpPr>
            <p:cNvPr id="76" name="Part 1"/>
            <p:cNvSpPr/>
            <p:nvPr/>
          </p:nvSpPr>
          <p:spPr>
            <a:xfrm>
              <a:off x="548640" y="3749040"/>
              <a:ext cx="2606040" cy="2084832"/>
            </a:xfrm>
            <a:prstGeom prst="roundRect">
              <a:avLst>
                <a:gd name="adj" fmla="val 5263"/>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77" name="Part 2"/>
            <p:cNvSpPr/>
            <p:nvPr/>
          </p:nvSpPr>
          <p:spPr>
            <a:xfrm>
              <a:off x="548640" y="3749040"/>
              <a:ext cx="2606040" cy="384048"/>
            </a:xfrm>
            <a:prstGeom prst="roundRect">
              <a:avLst>
                <a:gd name="adj" fmla="val 28571"/>
              </a:avLst>
            </a:prstGeom>
            <a:solidFill>
              <a:srgbClr val="0F2C59"/>
            </a:solidFill>
            <a:ln/>
          </p:spPr>
        </p:sp>
        <p:sp>
          <p:nvSpPr>
            <p:cNvPr id="78" name="Part 3"/>
            <p:cNvSpPr/>
            <p:nvPr/>
          </p:nvSpPr>
          <p:spPr>
            <a:xfrm>
              <a:off x="548640" y="3968496"/>
              <a:ext cx="2606040" cy="164592"/>
            </a:xfrm>
            <a:prstGeom prst="rect">
              <a:avLst/>
            </a:prstGeom>
            <a:solidFill>
              <a:srgbClr val="0F2C59"/>
            </a:solidFill>
            <a:ln/>
          </p:spPr>
        </p:sp>
        <p:sp>
          <p:nvSpPr>
            <p:cNvPr id="79" name="Part 4"/>
            <p:cNvSpPr txBox="1"/>
            <p:nvPr/>
          </p:nvSpPr>
          <p:spPr>
            <a:xfrm>
              <a:off x="685800" y="3749040"/>
              <a:ext cx="233172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Consolas" pitchFamily="34" charset="0"/>
                  <a:ea typeface="Consolas" pitchFamily="34" charset="-122"/>
                  <a:cs typeface="Consolas" pitchFamily="34" charset="-120"/>
                </a:rPr>
                <a:t>hinh_anh</a:t>
              </a:r>
              <a:endParaRPr lang="en-US" sz="1300" dirty="0"/>
            </a:p>
          </p:txBody>
        </p:sp>
        <p:sp>
          <p:nvSpPr>
            <p:cNvPr id="80" name="Part 5"/>
            <p:cNvSpPr txBox="1"/>
            <p:nvPr/>
          </p:nvSpPr>
          <p:spPr>
            <a:xfrm>
              <a:off x="685800" y="4206240"/>
              <a:ext cx="196596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id</a:t>
              </a:r>
              <a:endParaRPr lang="en-US" sz="1100" dirty="0"/>
            </a:p>
          </p:txBody>
        </p:sp>
        <p:sp>
          <p:nvSpPr>
            <p:cNvPr id="81" name="Part 6"/>
            <p:cNvSpPr txBox="1"/>
            <p:nvPr/>
          </p:nvSpPr>
          <p:spPr>
            <a:xfrm>
              <a:off x="2606040" y="4206240"/>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PK</a:t>
              </a:r>
              <a:endParaRPr lang="en-US" sz="1000" dirty="0"/>
            </a:p>
          </p:txBody>
        </p:sp>
        <p:sp>
          <p:nvSpPr>
            <p:cNvPr id="82" name="Part 7"/>
            <p:cNvSpPr txBox="1"/>
            <p:nvPr/>
          </p:nvSpPr>
          <p:spPr>
            <a:xfrm>
              <a:off x="685800" y="4425696"/>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tieu_de</a:t>
              </a:r>
              <a:endParaRPr lang="en-US" sz="1100" dirty="0"/>
            </a:p>
          </p:txBody>
        </p:sp>
        <p:sp>
          <p:nvSpPr>
            <p:cNvPr id="83" name="Part 8"/>
            <p:cNvSpPr txBox="1"/>
            <p:nvPr/>
          </p:nvSpPr>
          <p:spPr>
            <a:xfrm>
              <a:off x="685800" y="4645152"/>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duong_dan</a:t>
              </a:r>
              <a:endParaRPr lang="en-US" sz="1100" dirty="0"/>
            </a:p>
          </p:txBody>
        </p:sp>
        <p:sp>
          <p:nvSpPr>
            <p:cNvPr id="84" name="Part 9"/>
            <p:cNvSpPr txBox="1"/>
            <p:nvPr/>
          </p:nvSpPr>
          <p:spPr>
            <a:xfrm>
              <a:off x="685800" y="4864608"/>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mo_ta</a:t>
              </a:r>
              <a:endParaRPr lang="en-US" sz="1100" dirty="0"/>
            </a:p>
          </p:txBody>
        </p:sp>
        <p:sp>
          <p:nvSpPr>
            <p:cNvPr id="85" name="Part 10"/>
            <p:cNvSpPr txBox="1"/>
            <p:nvPr/>
          </p:nvSpPr>
          <p:spPr>
            <a:xfrm>
              <a:off x="685800" y="5084064"/>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album</a:t>
              </a:r>
              <a:endParaRPr lang="en-US" sz="1100" dirty="0"/>
            </a:p>
          </p:txBody>
        </p:sp>
        <p:sp>
          <p:nvSpPr>
            <p:cNvPr id="86" name="Part 11"/>
            <p:cNvSpPr txBox="1"/>
            <p:nvPr/>
          </p:nvSpPr>
          <p:spPr>
            <a:xfrm>
              <a:off x="685800" y="5303520"/>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thu_tu</a:t>
              </a:r>
              <a:endParaRPr lang="en-US" sz="1100" dirty="0"/>
            </a:p>
          </p:txBody>
        </p:sp>
        <p:sp>
          <p:nvSpPr>
            <p:cNvPr id="87" name="Part 12"/>
            <p:cNvSpPr txBox="1"/>
            <p:nvPr/>
          </p:nvSpPr>
          <p:spPr>
            <a:xfrm>
              <a:off x="685800" y="5522976"/>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trang_thai</a:t>
              </a:r>
              <a:endParaRPr lang="en-US" sz="1100" dirty="0"/>
            </a:p>
          </p:txBody>
        </p:sp>
      </p:grpSp>
      <p:grpSp>
        <p:nvGrpSpPr>
          <p:cNvPr id="110" name="Group 12">
            <a:extLst>
              <a:ext uri="{FF2B5EF4-FFF2-40B4-BE49-F238E27FC236}">
                <a16:creationId xmlns:a16="http://schemas.microsoft.com/office/drawing/2014/main" id="{F08DC96C-668D-100A-E7D1-4A4A79622FAD}"/>
              </a:ext>
            </a:extLst>
          </p:cNvPr>
          <p:cNvGrpSpPr/>
          <p:nvPr/>
        </p:nvGrpSpPr>
        <p:grpSpPr>
          <a:xfrm>
            <a:off x="3383280" y="4572000"/>
            <a:ext cx="2606040" cy="1207008"/>
            <a:chOff x="3383280" y="4572000"/>
            <a:chExt cx="2606040" cy="1207008"/>
          </a:xfrm>
        </p:grpSpPr>
        <p:sp>
          <p:nvSpPr>
            <p:cNvPr id="88" name="Part 1"/>
            <p:cNvSpPr/>
            <p:nvPr/>
          </p:nvSpPr>
          <p:spPr>
            <a:xfrm>
              <a:off x="3383280" y="4572000"/>
              <a:ext cx="2606040" cy="1207008"/>
            </a:xfrm>
            <a:prstGeom prst="roundRect">
              <a:avLst>
                <a:gd name="adj" fmla="val 9091"/>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89" name="Part 2"/>
            <p:cNvSpPr/>
            <p:nvPr/>
          </p:nvSpPr>
          <p:spPr>
            <a:xfrm>
              <a:off x="3383280" y="4572000"/>
              <a:ext cx="2606040" cy="384048"/>
            </a:xfrm>
            <a:prstGeom prst="roundRect">
              <a:avLst>
                <a:gd name="adj" fmla="val 28571"/>
              </a:avLst>
            </a:prstGeom>
            <a:solidFill>
              <a:srgbClr val="0F2C59"/>
            </a:solidFill>
            <a:ln/>
          </p:spPr>
        </p:sp>
        <p:sp>
          <p:nvSpPr>
            <p:cNvPr id="90" name="Part 3"/>
            <p:cNvSpPr/>
            <p:nvPr/>
          </p:nvSpPr>
          <p:spPr>
            <a:xfrm>
              <a:off x="3383280" y="4791456"/>
              <a:ext cx="2606040" cy="164592"/>
            </a:xfrm>
            <a:prstGeom prst="rect">
              <a:avLst/>
            </a:prstGeom>
            <a:solidFill>
              <a:srgbClr val="0F2C59"/>
            </a:solidFill>
            <a:ln/>
          </p:spPr>
        </p:sp>
        <p:sp>
          <p:nvSpPr>
            <p:cNvPr id="91" name="Part 4"/>
            <p:cNvSpPr txBox="1"/>
            <p:nvPr/>
          </p:nvSpPr>
          <p:spPr>
            <a:xfrm>
              <a:off x="3520440" y="4572000"/>
              <a:ext cx="233172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Consolas" pitchFamily="34" charset="0"/>
                  <a:ea typeface="Consolas" pitchFamily="34" charset="-122"/>
                  <a:cs typeface="Consolas" pitchFamily="34" charset="-120"/>
                </a:rPr>
                <a:t>cai_dat</a:t>
              </a:r>
              <a:endParaRPr lang="en-US" sz="1300" dirty="0"/>
            </a:p>
          </p:txBody>
        </p:sp>
        <p:sp>
          <p:nvSpPr>
            <p:cNvPr id="92" name="Part 5"/>
            <p:cNvSpPr txBox="1"/>
            <p:nvPr/>
          </p:nvSpPr>
          <p:spPr>
            <a:xfrm>
              <a:off x="3520440" y="5029200"/>
              <a:ext cx="196596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Consolas" pitchFamily="34" charset="0"/>
                  <a:ea typeface="Consolas" pitchFamily="34" charset="-122"/>
                  <a:cs typeface="Consolas" pitchFamily="34" charset="-120"/>
                </a:rPr>
                <a:t>khoa</a:t>
              </a:r>
              <a:endParaRPr lang="en-US" sz="1100" dirty="0"/>
            </a:p>
          </p:txBody>
        </p:sp>
        <p:sp>
          <p:nvSpPr>
            <p:cNvPr id="93" name="Part 6"/>
            <p:cNvSpPr txBox="1"/>
            <p:nvPr/>
          </p:nvSpPr>
          <p:spPr>
            <a:xfrm>
              <a:off x="5440680" y="5029200"/>
              <a:ext cx="411480" cy="219456"/>
            </a:xfrm>
            <a:prstGeom prst="rect">
              <a:avLst/>
            </a:prstGeom>
            <a:noFill/>
            <a:ln/>
          </p:spPr>
          <p:txBody>
            <a:bodyPr wrap="square" lIns="0" tIns="0" rIns="0" bIns="0" rtlCol="0" anchor="ctr"/>
            <a:lstStyle/>
            <a:p>
              <a:pPr marL="0" indent="0" algn="r">
                <a:buNone/>
              </a:pPr>
              <a:r>
                <a:rPr lang="en-US" sz="1000" b="1" dirty="0">
                  <a:solidFill>
                    <a:srgbClr val="8A6510"/>
                  </a:solidFill>
                  <a:latin typeface="Consolas" pitchFamily="34" charset="0"/>
                  <a:ea typeface="Consolas" pitchFamily="34" charset="-122"/>
                  <a:cs typeface="Consolas" pitchFamily="34" charset="-120"/>
                </a:rPr>
                <a:t>PK</a:t>
              </a:r>
              <a:endParaRPr lang="en-US" sz="1000" dirty="0"/>
            </a:p>
          </p:txBody>
        </p:sp>
        <p:sp>
          <p:nvSpPr>
            <p:cNvPr id="94" name="Part 7"/>
            <p:cNvSpPr txBox="1"/>
            <p:nvPr/>
          </p:nvSpPr>
          <p:spPr>
            <a:xfrm>
              <a:off x="3520440" y="5248656"/>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gia_tri</a:t>
              </a:r>
              <a:endParaRPr lang="en-US" sz="1100" dirty="0"/>
            </a:p>
          </p:txBody>
        </p:sp>
        <p:sp>
          <p:nvSpPr>
            <p:cNvPr id="95" name="Part 8"/>
            <p:cNvSpPr txBox="1"/>
            <p:nvPr/>
          </p:nvSpPr>
          <p:spPr>
            <a:xfrm>
              <a:off x="3520440" y="5468112"/>
              <a:ext cx="1965960" cy="219456"/>
            </a:xfrm>
            <a:prstGeom prst="rect">
              <a:avLst/>
            </a:prstGeom>
            <a:noFill/>
            <a:ln/>
          </p:spPr>
          <p:txBody>
            <a:bodyPr wrap="square" lIns="0" tIns="0" rIns="0" bIns="0" rtlCol="0" anchor="ctr"/>
            <a:lstStyle/>
            <a:p>
              <a:pPr marL="0" indent="0" algn="l">
                <a:buNone/>
              </a:pPr>
              <a:r>
                <a:rPr lang="en-US" sz="1100" dirty="0">
                  <a:solidFill>
                    <a:srgbClr val="1F2937"/>
                  </a:solidFill>
                  <a:latin typeface="Consolas" pitchFamily="34" charset="0"/>
                  <a:ea typeface="Consolas" pitchFamily="34" charset="-122"/>
                  <a:cs typeface="Consolas" pitchFamily="34" charset="-120"/>
                </a:rPr>
                <a:t>mo_ta</a:t>
              </a:r>
              <a:endParaRPr lang="en-US" sz="1100" dirty="0"/>
            </a:p>
          </p:txBody>
        </p:sp>
      </p:grpSp>
      <p:grpSp>
        <p:nvGrpSpPr>
          <p:cNvPr id="111" name="Group 13">
            <a:extLst>
              <a:ext uri="{FF2B5EF4-FFF2-40B4-BE49-F238E27FC236}">
                <a16:creationId xmlns:a16="http://schemas.microsoft.com/office/drawing/2014/main" id="{1FC7B94D-D4CE-6E3B-0FB4-DE2779D42835}"/>
              </a:ext>
            </a:extLst>
          </p:cNvPr>
          <p:cNvGrpSpPr/>
          <p:nvPr/>
        </p:nvGrpSpPr>
        <p:grpSpPr>
          <a:xfrm>
            <a:off x="3154680" y="2167128"/>
            <a:ext cx="228600" cy="1975104"/>
            <a:chOff x="3154680" y="2167128"/>
            <a:chExt cx="228600" cy="1975104"/>
          </a:xfrm>
        </p:grpSpPr>
        <p:sp>
          <p:nvSpPr>
            <p:cNvPr id="96" name="Part 1"/>
            <p:cNvSpPr/>
            <p:nvPr/>
          </p:nvSpPr>
          <p:spPr>
            <a:xfrm>
              <a:off x="3268980" y="4142232"/>
              <a:ext cx="114300" cy="0"/>
            </a:xfrm>
            <a:prstGeom prst="line">
              <a:avLst/>
            </a:prstGeom>
            <a:noFill/>
            <a:ln w="22225">
              <a:solidFill>
                <a:srgbClr val="C9992A"/>
              </a:solidFill>
              <a:prstDash val="solid"/>
            </a:ln>
          </p:spPr>
        </p:sp>
        <p:sp>
          <p:nvSpPr>
            <p:cNvPr id="97" name="Part 2"/>
            <p:cNvSpPr/>
            <p:nvPr/>
          </p:nvSpPr>
          <p:spPr>
            <a:xfrm>
              <a:off x="3268980" y="2167128"/>
              <a:ext cx="0" cy="1975104"/>
            </a:xfrm>
            <a:prstGeom prst="line">
              <a:avLst/>
            </a:prstGeom>
            <a:noFill/>
            <a:ln w="22225">
              <a:solidFill>
                <a:srgbClr val="C9992A"/>
              </a:solidFill>
              <a:prstDash val="solid"/>
            </a:ln>
          </p:spPr>
        </p:sp>
        <p:sp>
          <p:nvSpPr>
            <p:cNvPr id="98" name="Part 3"/>
            <p:cNvSpPr/>
            <p:nvPr/>
          </p:nvSpPr>
          <p:spPr>
            <a:xfrm>
              <a:off x="3154680" y="2167128"/>
              <a:ext cx="114300" cy="0"/>
            </a:xfrm>
            <a:prstGeom prst="line">
              <a:avLst/>
            </a:prstGeom>
            <a:noFill/>
            <a:ln w="22225">
              <a:solidFill>
                <a:srgbClr val="C9992A"/>
              </a:solidFill>
              <a:prstDash val="solid"/>
              <a:headEnd type="triangle"/>
            </a:ln>
          </p:spPr>
        </p:sp>
      </p:grpSp>
      <p:grpSp>
        <p:nvGrpSpPr>
          <p:cNvPr id="112" name="Group 14">
            <a:extLst>
              <a:ext uri="{FF2B5EF4-FFF2-40B4-BE49-F238E27FC236}">
                <a16:creationId xmlns:a16="http://schemas.microsoft.com/office/drawing/2014/main" id="{1F3A6DCD-C86A-9F75-FD4C-4D1696B72EDA}"/>
              </a:ext>
            </a:extLst>
          </p:cNvPr>
          <p:cNvGrpSpPr/>
          <p:nvPr/>
        </p:nvGrpSpPr>
        <p:grpSpPr>
          <a:xfrm>
            <a:off x="8823960" y="2167128"/>
            <a:ext cx="228600" cy="2414016"/>
            <a:chOff x="8823960" y="2167128"/>
            <a:chExt cx="228600" cy="2414016"/>
          </a:xfrm>
        </p:grpSpPr>
        <p:sp>
          <p:nvSpPr>
            <p:cNvPr id="99" name="Part 1"/>
            <p:cNvSpPr/>
            <p:nvPr/>
          </p:nvSpPr>
          <p:spPr>
            <a:xfrm>
              <a:off x="8938260" y="4581144"/>
              <a:ext cx="114300" cy="0"/>
            </a:xfrm>
            <a:prstGeom prst="line">
              <a:avLst/>
            </a:prstGeom>
            <a:noFill/>
            <a:ln w="22225">
              <a:solidFill>
                <a:srgbClr val="C9992A"/>
              </a:solidFill>
              <a:prstDash val="solid"/>
            </a:ln>
          </p:spPr>
        </p:sp>
        <p:sp>
          <p:nvSpPr>
            <p:cNvPr id="100" name="Part 2"/>
            <p:cNvSpPr/>
            <p:nvPr/>
          </p:nvSpPr>
          <p:spPr>
            <a:xfrm>
              <a:off x="8938260" y="2167128"/>
              <a:ext cx="0" cy="2414016"/>
            </a:xfrm>
            <a:prstGeom prst="line">
              <a:avLst/>
            </a:prstGeom>
            <a:noFill/>
            <a:ln w="22225">
              <a:solidFill>
                <a:srgbClr val="C9992A"/>
              </a:solidFill>
              <a:prstDash val="solid"/>
            </a:ln>
          </p:spPr>
        </p:sp>
        <p:sp>
          <p:nvSpPr>
            <p:cNvPr id="101" name="Part 3"/>
            <p:cNvSpPr/>
            <p:nvPr/>
          </p:nvSpPr>
          <p:spPr>
            <a:xfrm>
              <a:off x="8823960" y="2167128"/>
              <a:ext cx="114300" cy="0"/>
            </a:xfrm>
            <a:prstGeom prst="line">
              <a:avLst/>
            </a:prstGeom>
            <a:noFill/>
            <a:ln w="22225">
              <a:solidFill>
                <a:srgbClr val="C9992A"/>
              </a:solidFill>
              <a:prstDash val="solid"/>
              <a:headEnd type="triangle"/>
            </a:ln>
          </p:spPr>
        </p:sp>
      </p:grpSp>
      <p:grpSp>
        <p:nvGrpSpPr>
          <p:cNvPr id="113" name="Group 15">
            <a:extLst>
              <a:ext uri="{FF2B5EF4-FFF2-40B4-BE49-F238E27FC236}">
                <a16:creationId xmlns:a16="http://schemas.microsoft.com/office/drawing/2014/main" id="{4AF63AFD-533D-113E-36A6-26D6E07E0960}"/>
              </a:ext>
            </a:extLst>
          </p:cNvPr>
          <p:cNvGrpSpPr/>
          <p:nvPr/>
        </p:nvGrpSpPr>
        <p:grpSpPr>
          <a:xfrm>
            <a:off x="6217920" y="4160520"/>
            <a:ext cx="2606040" cy="1673352"/>
            <a:chOff x="6217920" y="4160520"/>
            <a:chExt cx="2606040" cy="1673352"/>
          </a:xfrm>
        </p:grpSpPr>
        <p:sp>
          <p:nvSpPr>
            <p:cNvPr id="102" name="Part 1"/>
            <p:cNvSpPr/>
            <p:nvPr/>
          </p:nvSpPr>
          <p:spPr>
            <a:xfrm>
              <a:off x="6217920" y="4160520"/>
              <a:ext cx="2606040" cy="1673352"/>
            </a:xfrm>
            <a:prstGeom prst="roundRect">
              <a:avLst>
                <a:gd name="adj" fmla="val 6557"/>
              </a:avLst>
            </a:prstGeom>
            <a:solidFill>
              <a:srgbClr val="E8EDF5"/>
            </a:solidFill>
            <a:ln/>
          </p:spPr>
        </p:sp>
        <p:sp>
          <p:nvSpPr>
            <p:cNvPr id="103" name="Part 2"/>
            <p:cNvSpPr txBox="1"/>
            <p:nvPr/>
          </p:nvSpPr>
          <p:spPr>
            <a:xfrm>
              <a:off x="6400800" y="4279392"/>
              <a:ext cx="2286000" cy="292608"/>
            </a:xfrm>
            <a:prstGeom prst="rect">
              <a:avLst/>
            </a:prstGeom>
            <a:noFill/>
            <a:ln/>
          </p:spPr>
          <p:txBody>
            <a:bodyPr wrap="square" lIns="0" tIns="0" rIns="0" bIns="0" rtlCol="0" anchor="t"/>
            <a:lstStyle/>
            <a:p>
              <a:pPr marL="0" indent="0" algn="l">
                <a:buNone/>
              </a:pPr>
              <a:r>
                <a:rPr lang="en-US" sz="1300" b="1" dirty="0">
                  <a:solidFill>
                    <a:srgbClr val="0F2C59"/>
                  </a:solidFill>
                  <a:latin typeface="Arial" pitchFamily="34" charset="0"/>
                  <a:ea typeface="Arial" pitchFamily="34" charset="-122"/>
                  <a:cs typeface="Arial" pitchFamily="34" charset="-120"/>
                </a:rPr>
                <a:t>Quy ước</a:t>
              </a:r>
              <a:endParaRPr lang="en-US" sz="1300" dirty="0"/>
            </a:p>
          </p:txBody>
        </p:sp>
        <p:sp>
          <p:nvSpPr>
            <p:cNvPr id="104" name="Part 3"/>
            <p:cNvSpPr txBox="1"/>
            <p:nvPr/>
          </p:nvSpPr>
          <p:spPr>
            <a:xfrm>
              <a:off x="6400800" y="4617720"/>
              <a:ext cx="2331720" cy="1188720"/>
            </a:xfrm>
            <a:prstGeom prst="rect">
              <a:avLst/>
            </a:prstGeom>
            <a:noFill/>
            <a:ln/>
          </p:spPr>
          <p:txBody>
            <a:bodyPr wrap="square" lIns="0" tIns="0" rIns="0" bIns="0" rtlCol="0" anchor="t"/>
            <a:lstStyle/>
            <a:p>
              <a:pPr marL="203200" indent="-203200">
                <a:spcAft>
                  <a:spcPts val="300"/>
                </a:spcAft>
                <a:buSzPct val="100000"/>
                <a:buChar char="•"/>
              </a:pPr>
              <a:r>
                <a:rPr lang="en-US" sz="1100" dirty="0">
                  <a:solidFill>
                    <a:srgbClr val="374151"/>
                  </a:solidFill>
                  <a:latin typeface="Arial" pitchFamily="34" charset="0"/>
                  <a:ea typeface="Arial" pitchFamily="34" charset="-122"/>
                  <a:cs typeface="Arial" pitchFamily="34" charset="-120"/>
                </a:rPr>
                <a:t>slug duy nhất, sinh từ tiêu đề</a:t>
              </a:r>
              <a:endParaRPr lang="en-US" sz="1100" dirty="0"/>
            </a:p>
            <a:p>
              <a:pPr marL="203200" indent="-203200">
                <a:spcAft>
                  <a:spcPts val="300"/>
                </a:spcAft>
                <a:buSzPct val="100000"/>
                <a:buChar char="•"/>
              </a:pPr>
              <a:r>
                <a:rPr lang="en-US" sz="1100" dirty="0">
                  <a:solidFill>
                    <a:srgbClr val="374151"/>
                  </a:solidFill>
                  <a:latin typeface="Arial" pitchFamily="34" charset="0"/>
                  <a:ea typeface="Arial" pitchFamily="34" charset="-122"/>
                  <a:cs typeface="Arial" pitchFamily="34" charset="-120"/>
                </a:rPr>
                <a:t>trang_thai 1/0: hiện / ẩn</a:t>
              </a:r>
              <a:endParaRPr lang="en-US" sz="1100" dirty="0"/>
            </a:p>
            <a:p>
              <a:pPr marL="203200" indent="-203200">
                <a:spcAft>
                  <a:spcPts val="300"/>
                </a:spcAft>
                <a:buSzPct val="100000"/>
                <a:buChar char="•"/>
              </a:pPr>
              <a:r>
                <a:rPr lang="en-US" sz="1100" dirty="0">
                  <a:solidFill>
                    <a:srgbClr val="374151"/>
                  </a:solidFill>
                  <a:latin typeface="Arial" pitchFamily="34" charset="0"/>
                  <a:ea typeface="Arial" pitchFamily="34" charset="-122"/>
                  <a:cs typeface="Arial" pitchFamily="34" charset="-120"/>
                </a:rPr>
                <a:t>tin_tuc: nhap | cong_khai</a:t>
              </a:r>
              <a:endParaRPr lang="en-US" sz="1100" dirty="0"/>
            </a:p>
            <a:p>
              <a:pPr marL="203200" indent="-203200">
                <a:spcAft>
                  <a:spcPts val="300"/>
                </a:spcAft>
                <a:buSzPct val="100000"/>
                <a:buChar char="•"/>
              </a:pPr>
              <a:r>
                <a:rPr lang="en-US" sz="1100" dirty="0">
                  <a:solidFill>
                    <a:srgbClr val="374151"/>
                  </a:solidFill>
                  <a:latin typeface="Arial" pitchFamily="34" charset="0"/>
                  <a:ea typeface="Arial" pitchFamily="34" charset="-122"/>
                  <a:cs typeface="Arial" pitchFamily="34" charset="-120"/>
                </a:rPr>
                <a:t>ngay_tao, ngay_cap_nhat</a:t>
              </a:r>
              <a:endParaRPr lang="en-US" sz="110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par>
                                <p:cTn id="8" presetID="10" presetClass="entr" presetSubtype="0" fill="hold" nodeType="withEffect">
                                  <p:stCondLst>
                                    <p:cond delay="120"/>
                                  </p:stCondLst>
                                  <p:childTnLst>
                                    <p:set>
                                      <p:cBhvr>
                                        <p:cTn id="9" dur="1" fill="hold">
                                          <p:stCondLst>
                                            <p:cond delay="0"/>
                                          </p:stCondLst>
                                        </p:cTn>
                                        <p:tgtEl>
                                          <p:spTgt spid="106"/>
                                        </p:tgtEl>
                                        <p:attrNameLst>
                                          <p:attrName>style.visibility</p:attrName>
                                        </p:attrNameLst>
                                      </p:cBhvr>
                                      <p:to>
                                        <p:strVal val="visible"/>
                                      </p:to>
                                    </p:set>
                                    <p:animEffect transition="in" filter="fade">
                                      <p:cBhvr>
                                        <p:cTn id="10" dur="500"/>
                                        <p:tgtEl>
                                          <p:spTgt spid="106"/>
                                        </p:tgtEl>
                                      </p:cBhvr>
                                    </p:animEffect>
                                  </p:childTnLst>
                                </p:cTn>
                              </p:par>
                              <p:par>
                                <p:cTn id="11" presetID="10" presetClass="entr" presetSubtype="0" fill="hold" nodeType="withEffect">
                                  <p:stCondLst>
                                    <p:cond delay="240"/>
                                  </p:stCondLst>
                                  <p:childTnLst>
                                    <p:set>
                                      <p:cBhvr>
                                        <p:cTn id="12" dur="1" fill="hold">
                                          <p:stCondLst>
                                            <p:cond delay="0"/>
                                          </p:stCondLst>
                                        </p:cTn>
                                        <p:tgtEl>
                                          <p:spTgt spid="107"/>
                                        </p:tgtEl>
                                        <p:attrNameLst>
                                          <p:attrName>style.visibility</p:attrName>
                                        </p:attrNameLst>
                                      </p:cBhvr>
                                      <p:to>
                                        <p:strVal val="visible"/>
                                      </p:to>
                                    </p:set>
                                    <p:animEffect transition="in" filter="fade">
                                      <p:cBhvr>
                                        <p:cTn id="13" dur="500"/>
                                        <p:tgtEl>
                                          <p:spTgt spid="107"/>
                                        </p:tgtEl>
                                      </p:cBhvr>
                                    </p:animEffect>
                                  </p:childTnLst>
                                </p:cTn>
                              </p:par>
                              <p:par>
                                <p:cTn id="14" presetID="10" presetClass="entr" presetSubtype="0" fill="hold" nodeType="withEffect">
                                  <p:stCondLst>
                                    <p:cond delay="360"/>
                                  </p:stCondLst>
                                  <p:childTnLst>
                                    <p:set>
                                      <p:cBhvr>
                                        <p:cTn id="15" dur="1" fill="hold">
                                          <p:stCondLst>
                                            <p:cond delay="0"/>
                                          </p:stCondLst>
                                        </p:cTn>
                                        <p:tgtEl>
                                          <p:spTgt spid="108"/>
                                        </p:tgtEl>
                                        <p:attrNameLst>
                                          <p:attrName>style.visibility</p:attrName>
                                        </p:attrNameLst>
                                      </p:cBhvr>
                                      <p:to>
                                        <p:strVal val="visible"/>
                                      </p:to>
                                    </p:set>
                                    <p:animEffect transition="in" filter="fade">
                                      <p:cBhvr>
                                        <p:cTn id="16" dur="500"/>
                                        <p:tgtEl>
                                          <p:spTgt spid="108"/>
                                        </p:tgtEl>
                                      </p:cBhvr>
                                    </p:animEffect>
                                  </p:childTnLst>
                                </p:cTn>
                              </p:par>
                              <p:par>
                                <p:cTn id="17" presetID="10" presetClass="entr" presetSubtype="0" fill="hold" nodeType="withEffect">
                                  <p:stCondLst>
                                    <p:cond delay="480"/>
                                  </p:stCondLst>
                                  <p:childTnLst>
                                    <p:set>
                                      <p:cBhvr>
                                        <p:cTn id="18" dur="1" fill="hold">
                                          <p:stCondLst>
                                            <p:cond delay="0"/>
                                          </p:stCondLst>
                                        </p:cTn>
                                        <p:tgtEl>
                                          <p:spTgt spid="109"/>
                                        </p:tgtEl>
                                        <p:attrNameLst>
                                          <p:attrName>style.visibility</p:attrName>
                                        </p:attrNameLst>
                                      </p:cBhvr>
                                      <p:to>
                                        <p:strVal val="visible"/>
                                      </p:to>
                                    </p:set>
                                    <p:animEffect transition="in" filter="fade">
                                      <p:cBhvr>
                                        <p:cTn id="19" dur="500"/>
                                        <p:tgtEl>
                                          <p:spTgt spid="109"/>
                                        </p:tgtEl>
                                      </p:cBhvr>
                                    </p:animEffect>
                                  </p:childTnLst>
                                </p:cTn>
                              </p:par>
                              <p:par>
                                <p:cTn id="20" presetID="10" presetClass="entr" presetSubtype="0" fill="hold" nodeType="withEffect">
                                  <p:stCondLst>
                                    <p:cond delay="600"/>
                                  </p:stCondLst>
                                  <p:childTnLst>
                                    <p:set>
                                      <p:cBhvr>
                                        <p:cTn id="21" dur="1" fill="hold">
                                          <p:stCondLst>
                                            <p:cond delay="0"/>
                                          </p:stCondLst>
                                        </p:cTn>
                                        <p:tgtEl>
                                          <p:spTgt spid="110"/>
                                        </p:tgtEl>
                                        <p:attrNameLst>
                                          <p:attrName>style.visibility</p:attrName>
                                        </p:attrNameLst>
                                      </p:cBhvr>
                                      <p:to>
                                        <p:strVal val="visible"/>
                                      </p:to>
                                    </p:set>
                                    <p:animEffect transition="in" filter="fade">
                                      <p:cBhvr>
                                        <p:cTn id="22" dur="500"/>
                                        <p:tgtEl>
                                          <p:spTgt spid="110"/>
                                        </p:tgtEl>
                                      </p:cBhvr>
                                    </p:animEffect>
                                  </p:childTnLst>
                                </p:cTn>
                              </p:par>
                            </p:childTnLst>
                          </p:cTn>
                        </p:par>
                        <p:par>
                          <p:cTn id="23" fill="hold">
                            <p:stCondLst>
                              <p:cond delay="1100"/>
                            </p:stCondLst>
                            <p:childTnLst>
                              <p:par>
                                <p:cTn id="24" presetID="10" presetClass="entr" presetSubtype="0" fill="hold" nodeType="afterEffect">
                                  <p:stCondLst>
                                    <p:cond delay="0"/>
                                  </p:stCondLst>
                                  <p:childTnLst>
                                    <p:set>
                                      <p:cBhvr>
                                        <p:cTn id="25" dur="1" fill="hold">
                                          <p:stCondLst>
                                            <p:cond delay="0"/>
                                          </p:stCondLst>
                                        </p:cTn>
                                        <p:tgtEl>
                                          <p:spTgt spid="111"/>
                                        </p:tgtEl>
                                        <p:attrNameLst>
                                          <p:attrName>style.visibility</p:attrName>
                                        </p:attrNameLst>
                                      </p:cBhvr>
                                      <p:to>
                                        <p:strVal val="visible"/>
                                      </p:to>
                                    </p:set>
                                    <p:animEffect transition="in" filter="fade">
                                      <p:cBhvr>
                                        <p:cTn id="26" dur="500"/>
                                        <p:tgtEl>
                                          <p:spTgt spid="111"/>
                                        </p:tgtEl>
                                      </p:cBhvr>
                                    </p:animEffect>
                                  </p:childTnLst>
                                </p:cTn>
                              </p:par>
                              <p:par>
                                <p:cTn id="27" presetID="10" presetClass="entr" presetSubtype="0" fill="hold" nodeType="withEffect">
                                  <p:stCondLst>
                                    <p:cond delay="120"/>
                                  </p:stCondLst>
                                  <p:childTnLst>
                                    <p:set>
                                      <p:cBhvr>
                                        <p:cTn id="28" dur="1" fill="hold">
                                          <p:stCondLst>
                                            <p:cond delay="0"/>
                                          </p:stCondLst>
                                        </p:cTn>
                                        <p:tgtEl>
                                          <p:spTgt spid="112"/>
                                        </p:tgtEl>
                                        <p:attrNameLst>
                                          <p:attrName>style.visibility</p:attrName>
                                        </p:attrNameLst>
                                      </p:cBhvr>
                                      <p:to>
                                        <p:strVal val="visible"/>
                                      </p:to>
                                    </p:set>
                                    <p:animEffect transition="in" filter="fade">
                                      <p:cBhvr>
                                        <p:cTn id="29" dur="500"/>
                                        <p:tgtEl>
                                          <p:spTgt spid="112"/>
                                        </p:tgtEl>
                                      </p:cBhvr>
                                    </p:animEffect>
                                  </p:childTnLst>
                                </p:cTn>
                              </p:par>
                            </p:childTnLst>
                          </p:cTn>
                        </p:par>
                        <p:par>
                          <p:cTn id="30" fill="hold">
                            <p:stCondLst>
                              <p:cond delay="1720"/>
                            </p:stCondLst>
                            <p:childTnLst>
                              <p:par>
                                <p:cTn id="31" presetID="10" presetClass="entr" presetSubtype="0" fill="hold" nodeType="afterEffect">
                                  <p:stCondLst>
                                    <p:cond delay="0"/>
                                  </p:stCondLst>
                                  <p:childTnLst>
                                    <p:set>
                                      <p:cBhvr>
                                        <p:cTn id="32" dur="1" fill="hold">
                                          <p:stCondLst>
                                            <p:cond delay="0"/>
                                          </p:stCondLst>
                                        </p:cTn>
                                        <p:tgtEl>
                                          <p:spTgt spid="113"/>
                                        </p:tgtEl>
                                        <p:attrNameLst>
                                          <p:attrName>style.visibility</p:attrName>
                                        </p:attrNameLst>
                                      </p:cBhvr>
                                      <p:to>
                                        <p:strVal val="visible"/>
                                      </p:to>
                                    </p:set>
                                    <p:animEffect transition="in" filter="fade">
                                      <p:cBhvr>
                                        <p:cTn id="33"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Các biện pháp bảo mật cơ bản</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Được kiểm thử bằng 6 ca SEC01–SEC06 trên môi trường Docker</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03 · THIẾT KẾ</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10 / 18</a:t>
            </a:r>
            <a:endParaRPr lang="en-US" sz="1000" dirty="0"/>
          </a:p>
        </p:txBody>
      </p:sp>
      <p:grpSp>
        <p:nvGrpSpPr>
          <p:cNvPr id="44" name="Group 7">
            <a:extLst>
              <a:ext uri="{FF2B5EF4-FFF2-40B4-BE49-F238E27FC236}">
                <a16:creationId xmlns:a16="http://schemas.microsoft.com/office/drawing/2014/main" id="{9BD73E79-0210-59E7-78FA-09225D129D96}"/>
              </a:ext>
            </a:extLst>
          </p:cNvPr>
          <p:cNvGrpSpPr/>
          <p:nvPr/>
        </p:nvGrpSpPr>
        <p:grpSpPr>
          <a:xfrm>
            <a:off x="548640" y="1600200"/>
            <a:ext cx="3383280" cy="4251960"/>
            <a:chOff x="548640" y="1600200"/>
            <a:chExt cx="3383280" cy="4251960"/>
          </a:xfrm>
        </p:grpSpPr>
        <p:sp>
          <p:nvSpPr>
            <p:cNvPr id="8" name="Part 1"/>
            <p:cNvSpPr/>
            <p:nvPr/>
          </p:nvSpPr>
          <p:spPr>
            <a:xfrm>
              <a:off x="548640" y="1600200"/>
              <a:ext cx="3383280" cy="4251960"/>
            </a:xfrm>
            <a:prstGeom prst="roundRect">
              <a:avLst>
                <a:gd name="adj" fmla="val 3243"/>
              </a:avLst>
            </a:prstGeom>
            <a:solidFill>
              <a:srgbClr val="0F2C59"/>
            </a:solidFill>
            <a:ln/>
            <a:effectLst>
              <a:outerShdw blurRad="127000" dist="38100" dir="5400000" algn="bl" rotWithShape="0">
                <a:srgbClr val="0F2C59">
                  <a:alpha val="12000"/>
                </a:srgbClr>
              </a:outerShdw>
            </a:effectLst>
          </p:spPr>
        </p:sp>
        <p:sp>
          <p:nvSpPr>
            <p:cNvPr id="9" name="Part 2"/>
            <p:cNvSpPr/>
            <p:nvPr/>
          </p:nvSpPr>
          <p:spPr>
            <a:xfrm>
              <a:off x="1645920" y="2057400"/>
              <a:ext cx="1188720" cy="1188720"/>
            </a:xfrm>
            <a:prstGeom prst="ellipse">
              <a:avLst/>
            </a:prstGeom>
            <a:solidFill>
              <a:srgbClr val="E5B53A"/>
            </a:solidFill>
            <a:ln/>
          </p:spPr>
        </p:sp>
        <p:pic>
          <p:nvPicPr>
            <p:cNvPr id="10" name="Part 3" descr="Biểu tượng"/>
            <p:cNvPicPr>
              <a:picLocks noChangeAspect="1"/>
            </p:cNvPicPr>
            <p:nvPr/>
          </p:nvPicPr>
          <p:blipFill>
            <a:blip r:embed="rId3"/>
            <a:stretch>
              <a:fillRect/>
            </a:stretch>
          </p:blipFill>
          <p:spPr>
            <a:xfrm>
              <a:off x="1913382" y="2324862"/>
              <a:ext cx="653796" cy="653796"/>
            </a:xfrm>
            <a:prstGeom prst="rect">
              <a:avLst/>
            </a:prstGeom>
          </p:spPr>
        </p:pic>
        <p:sp>
          <p:nvSpPr>
            <p:cNvPr id="12" name="Part 4"/>
            <p:cNvSpPr txBox="1"/>
            <p:nvPr/>
          </p:nvSpPr>
          <p:spPr>
            <a:xfrm>
              <a:off x="548640" y="4251960"/>
              <a:ext cx="3383280" cy="365760"/>
            </a:xfrm>
            <a:prstGeom prst="rect">
              <a:avLst/>
            </a:prstGeom>
            <a:noFill/>
            <a:ln/>
          </p:spPr>
          <p:txBody>
            <a:bodyPr wrap="square" lIns="0" tIns="0" rIns="0" bIns="0" rtlCol="0" anchor="t"/>
            <a:lstStyle/>
            <a:p>
              <a:pPr marL="0" indent="0" algn="ctr">
                <a:buNone/>
              </a:pPr>
              <a:r>
                <a:rPr lang="en-US" sz="1500" b="1" dirty="0">
                  <a:solidFill>
                    <a:srgbClr val="FFFFFF"/>
                  </a:solidFill>
                  <a:latin typeface="Arial" pitchFamily="34" charset="0"/>
                  <a:ea typeface="Arial" pitchFamily="34" charset="-122"/>
                  <a:cs typeface="Arial" pitchFamily="34" charset="-120"/>
                </a:rPr>
                <a:t>ca kiểm thử bảo mật đạt</a:t>
              </a:r>
              <a:endParaRPr lang="en-US" sz="1500" dirty="0"/>
            </a:p>
          </p:txBody>
        </p:sp>
        <p:sp>
          <p:nvSpPr>
            <p:cNvPr id="13" name="Part 5"/>
            <p:cNvSpPr txBox="1"/>
            <p:nvPr/>
          </p:nvSpPr>
          <p:spPr>
            <a:xfrm>
              <a:off x="868680" y="4846320"/>
              <a:ext cx="2743200" cy="822960"/>
            </a:xfrm>
            <a:prstGeom prst="rect">
              <a:avLst/>
            </a:prstGeom>
            <a:noFill/>
            <a:ln/>
          </p:spPr>
          <p:txBody>
            <a:bodyPr wrap="square" lIns="0" tIns="0" rIns="0" bIns="0" rtlCol="0" anchor="t"/>
            <a:lstStyle/>
            <a:p>
              <a:pPr marL="0" indent="0" algn="ctr">
                <a:buNone/>
              </a:pPr>
              <a:r>
                <a:rPr lang="en-US" sz="1150" dirty="0">
                  <a:solidFill>
                    <a:srgbClr val="A9B7D0"/>
                  </a:solidFill>
                  <a:latin typeface="Arial" pitchFamily="34" charset="0"/>
                  <a:ea typeface="Arial" pitchFamily="34" charset="-122"/>
                  <a:cs typeface="Arial" pitchFamily="34" charset="-120"/>
                </a:rPr>
                <a:t>CSRF · XSS · SQL injection · Upload tệp · Bảo vệ /admin · Mật khẩu</a:t>
              </a:r>
              <a:endParaRPr lang="en-US" sz="1150" dirty="0"/>
            </a:p>
          </p:txBody>
        </p:sp>
      </p:grpSp>
      <p:sp>
        <p:nvSpPr>
          <p:cNvPr id="11" name="Shape 8"/>
          <p:cNvSpPr txBox="1"/>
          <p:nvPr/>
        </p:nvSpPr>
        <p:spPr>
          <a:xfrm>
            <a:off x="548640" y="3383280"/>
            <a:ext cx="3383280" cy="868680"/>
          </a:xfrm>
          <a:prstGeom prst="rect">
            <a:avLst/>
          </a:prstGeom>
          <a:noFill/>
          <a:ln/>
        </p:spPr>
        <p:txBody>
          <a:bodyPr wrap="square" lIns="0" tIns="0" rIns="0" bIns="0" rtlCol="0" anchor="ctr"/>
          <a:lstStyle/>
          <a:p>
            <a:pPr marL="0" indent="0" algn="ctr">
              <a:buNone/>
            </a:pPr>
            <a:r>
              <a:rPr lang="en-US" sz="5400" b="1" dirty="0">
                <a:solidFill>
                  <a:srgbClr val="E5B53A"/>
                </a:solidFill>
                <a:latin typeface="Arial" pitchFamily="34" charset="0"/>
                <a:ea typeface="Arial" pitchFamily="34" charset="-122"/>
                <a:cs typeface="Arial" pitchFamily="34" charset="-120"/>
              </a:rPr>
              <a:t>6/6</a:t>
            </a:r>
            <a:endParaRPr lang="en-US" sz="5400" dirty="0"/>
          </a:p>
        </p:txBody>
      </p:sp>
      <p:grpSp>
        <p:nvGrpSpPr>
          <p:cNvPr id="45" name="Group 9">
            <a:extLst>
              <a:ext uri="{FF2B5EF4-FFF2-40B4-BE49-F238E27FC236}">
                <a16:creationId xmlns:a16="http://schemas.microsoft.com/office/drawing/2014/main" id="{7B3CA835-D5D5-3973-04F1-0984C524D794}"/>
              </a:ext>
            </a:extLst>
          </p:cNvPr>
          <p:cNvGrpSpPr/>
          <p:nvPr/>
        </p:nvGrpSpPr>
        <p:grpSpPr>
          <a:xfrm>
            <a:off x="4206240" y="1600200"/>
            <a:ext cx="3611880" cy="1325880"/>
            <a:chOff x="4206240" y="1600200"/>
            <a:chExt cx="3611880" cy="1325880"/>
          </a:xfrm>
        </p:grpSpPr>
        <p:sp>
          <p:nvSpPr>
            <p:cNvPr id="14" name="Part 1"/>
            <p:cNvSpPr/>
            <p:nvPr/>
          </p:nvSpPr>
          <p:spPr>
            <a:xfrm>
              <a:off x="4206240" y="1600200"/>
              <a:ext cx="3611880" cy="1325880"/>
            </a:xfrm>
            <a:prstGeom prst="roundRect">
              <a:avLst>
                <a:gd name="adj" fmla="val 8276"/>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15" name="Part 2"/>
            <p:cNvSpPr/>
            <p:nvPr/>
          </p:nvSpPr>
          <p:spPr>
            <a:xfrm>
              <a:off x="4434840" y="1856232"/>
              <a:ext cx="548640" cy="548640"/>
            </a:xfrm>
            <a:prstGeom prst="ellipse">
              <a:avLst/>
            </a:prstGeom>
            <a:solidFill>
              <a:srgbClr val="E8EDF5"/>
            </a:solidFill>
            <a:ln/>
          </p:spPr>
        </p:sp>
        <p:pic>
          <p:nvPicPr>
            <p:cNvPr id="16" name="Part 3" descr="Biểu tượng"/>
            <p:cNvPicPr>
              <a:picLocks noChangeAspect="1"/>
            </p:cNvPicPr>
            <p:nvPr/>
          </p:nvPicPr>
          <p:blipFill>
            <a:blip r:embed="rId4"/>
            <a:stretch>
              <a:fillRect/>
            </a:stretch>
          </p:blipFill>
          <p:spPr>
            <a:xfrm>
              <a:off x="4566514" y="1987906"/>
              <a:ext cx="285293" cy="285293"/>
            </a:xfrm>
            <a:prstGeom prst="rect">
              <a:avLst/>
            </a:prstGeom>
          </p:spPr>
        </p:pic>
        <p:sp>
          <p:nvSpPr>
            <p:cNvPr id="17" name="Part 4"/>
            <p:cNvSpPr txBox="1"/>
            <p:nvPr/>
          </p:nvSpPr>
          <p:spPr>
            <a:xfrm>
              <a:off x="5166360" y="1801368"/>
              <a:ext cx="251460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Mật khẩu băm</a:t>
              </a:r>
              <a:endParaRPr lang="en-US" sz="1500" dirty="0"/>
            </a:p>
          </p:txBody>
        </p:sp>
        <p:sp>
          <p:nvSpPr>
            <p:cNvPr id="18" name="Part 5"/>
            <p:cNvSpPr txBox="1"/>
            <p:nvPr/>
          </p:nvSpPr>
          <p:spPr>
            <a:xfrm>
              <a:off x="5166360" y="2148840"/>
              <a:ext cx="2514600" cy="713232"/>
            </a:xfrm>
            <a:prstGeom prst="rect">
              <a:avLst/>
            </a:prstGeom>
            <a:noFill/>
            <a:ln/>
          </p:spPr>
          <p:txBody>
            <a:bodyPr wrap="square" lIns="0" tIns="0" rIns="0" bIns="0" rtlCol="0" anchor="t"/>
            <a:lstStyle/>
            <a:p>
              <a:pPr marL="0" indent="0" algn="l">
                <a:buNone/>
              </a:pPr>
              <a:r>
                <a:rPr lang="en-US" sz="1200" dirty="0">
                  <a:solidFill>
                    <a:srgbClr val="374151"/>
                  </a:solidFill>
                  <a:latin typeface="Arial" pitchFamily="34" charset="0"/>
                  <a:ea typeface="Arial" pitchFamily="34" charset="-122"/>
                  <a:cs typeface="Arial" pitchFamily="34" charset="-120"/>
                </a:rPr>
                <a:t>password_hash() bcrypt, kiểm tra bằng password_verify()</a:t>
              </a:r>
              <a:endParaRPr lang="en-US" sz="1200" dirty="0"/>
            </a:p>
          </p:txBody>
        </p:sp>
      </p:grpSp>
      <p:grpSp>
        <p:nvGrpSpPr>
          <p:cNvPr id="46" name="Group 10">
            <a:extLst>
              <a:ext uri="{FF2B5EF4-FFF2-40B4-BE49-F238E27FC236}">
                <a16:creationId xmlns:a16="http://schemas.microsoft.com/office/drawing/2014/main" id="{C77D7A5E-E49A-B5F1-85F3-F436F17AC297}"/>
              </a:ext>
            </a:extLst>
          </p:cNvPr>
          <p:cNvGrpSpPr/>
          <p:nvPr/>
        </p:nvGrpSpPr>
        <p:grpSpPr>
          <a:xfrm>
            <a:off x="8028432" y="1600200"/>
            <a:ext cx="3611880" cy="1325880"/>
            <a:chOff x="8028432" y="1600200"/>
            <a:chExt cx="3611880" cy="1325880"/>
          </a:xfrm>
        </p:grpSpPr>
        <p:sp>
          <p:nvSpPr>
            <p:cNvPr id="19" name="Part 1"/>
            <p:cNvSpPr/>
            <p:nvPr/>
          </p:nvSpPr>
          <p:spPr>
            <a:xfrm>
              <a:off x="8028432" y="1600200"/>
              <a:ext cx="3611880" cy="1325880"/>
            </a:xfrm>
            <a:prstGeom prst="roundRect">
              <a:avLst>
                <a:gd name="adj" fmla="val 8276"/>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0" name="Part 2"/>
            <p:cNvSpPr/>
            <p:nvPr/>
          </p:nvSpPr>
          <p:spPr>
            <a:xfrm>
              <a:off x="8257032" y="1856232"/>
              <a:ext cx="548640" cy="548640"/>
            </a:xfrm>
            <a:prstGeom prst="ellipse">
              <a:avLst/>
            </a:prstGeom>
            <a:solidFill>
              <a:srgbClr val="E8EDF5"/>
            </a:solidFill>
            <a:ln/>
          </p:spPr>
        </p:sp>
        <p:pic>
          <p:nvPicPr>
            <p:cNvPr id="21" name="Part 3" descr="Biểu tượng"/>
            <p:cNvPicPr>
              <a:picLocks noChangeAspect="1"/>
            </p:cNvPicPr>
            <p:nvPr/>
          </p:nvPicPr>
          <p:blipFill>
            <a:blip r:embed="rId5"/>
            <a:stretch>
              <a:fillRect/>
            </a:stretch>
          </p:blipFill>
          <p:spPr>
            <a:xfrm>
              <a:off x="8388706" y="1987906"/>
              <a:ext cx="285293" cy="285293"/>
            </a:xfrm>
            <a:prstGeom prst="rect">
              <a:avLst/>
            </a:prstGeom>
          </p:spPr>
        </p:pic>
        <p:sp>
          <p:nvSpPr>
            <p:cNvPr id="22" name="Part 4"/>
            <p:cNvSpPr txBox="1"/>
            <p:nvPr/>
          </p:nvSpPr>
          <p:spPr>
            <a:xfrm>
              <a:off x="8988552" y="1801368"/>
              <a:ext cx="251460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Chống SQL injection</a:t>
              </a:r>
              <a:endParaRPr lang="en-US" sz="1500" dirty="0"/>
            </a:p>
          </p:txBody>
        </p:sp>
        <p:sp>
          <p:nvSpPr>
            <p:cNvPr id="23" name="Part 5"/>
            <p:cNvSpPr txBox="1"/>
            <p:nvPr/>
          </p:nvSpPr>
          <p:spPr>
            <a:xfrm>
              <a:off x="8988552" y="2148840"/>
              <a:ext cx="2514600" cy="713232"/>
            </a:xfrm>
            <a:prstGeom prst="rect">
              <a:avLst/>
            </a:prstGeom>
            <a:noFill/>
            <a:ln/>
          </p:spPr>
          <p:txBody>
            <a:bodyPr wrap="square" lIns="0" tIns="0" rIns="0" bIns="0" rtlCol="0" anchor="t"/>
            <a:lstStyle/>
            <a:p>
              <a:pPr marL="0" indent="0" algn="l">
                <a:buNone/>
              </a:pPr>
              <a:r>
                <a:rPr lang="en-US" sz="1200" dirty="0">
                  <a:solidFill>
                    <a:srgbClr val="374151"/>
                  </a:solidFill>
                  <a:latin typeface="Arial" pitchFamily="34" charset="0"/>
                  <a:ea typeface="Arial" pitchFamily="34" charset="-122"/>
                  <a:cs typeface="Arial" pitchFamily="34" charset="-120"/>
                </a:rPr>
                <a:t>PDO prepared statement cho mọi truy vấn</a:t>
              </a:r>
              <a:endParaRPr lang="en-US" sz="1200" dirty="0"/>
            </a:p>
          </p:txBody>
        </p:sp>
      </p:grpSp>
      <p:grpSp>
        <p:nvGrpSpPr>
          <p:cNvPr id="47" name="Group 11">
            <a:extLst>
              <a:ext uri="{FF2B5EF4-FFF2-40B4-BE49-F238E27FC236}">
                <a16:creationId xmlns:a16="http://schemas.microsoft.com/office/drawing/2014/main" id="{16673FC2-5225-F6BD-DF23-E9C1E336D01A}"/>
              </a:ext>
            </a:extLst>
          </p:cNvPr>
          <p:cNvGrpSpPr/>
          <p:nvPr/>
        </p:nvGrpSpPr>
        <p:grpSpPr>
          <a:xfrm>
            <a:off x="4206240" y="3044952"/>
            <a:ext cx="3611880" cy="1325880"/>
            <a:chOff x="4206240" y="3044952"/>
            <a:chExt cx="3611880" cy="1325880"/>
          </a:xfrm>
        </p:grpSpPr>
        <p:sp>
          <p:nvSpPr>
            <p:cNvPr id="24" name="Part 1"/>
            <p:cNvSpPr/>
            <p:nvPr/>
          </p:nvSpPr>
          <p:spPr>
            <a:xfrm>
              <a:off x="4206240" y="3044952"/>
              <a:ext cx="3611880" cy="1325880"/>
            </a:xfrm>
            <a:prstGeom prst="roundRect">
              <a:avLst>
                <a:gd name="adj" fmla="val 8276"/>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5" name="Part 2"/>
            <p:cNvSpPr/>
            <p:nvPr/>
          </p:nvSpPr>
          <p:spPr>
            <a:xfrm>
              <a:off x="4434840" y="3300984"/>
              <a:ext cx="548640" cy="548640"/>
            </a:xfrm>
            <a:prstGeom prst="ellipse">
              <a:avLst/>
            </a:prstGeom>
            <a:solidFill>
              <a:srgbClr val="E8EDF5"/>
            </a:solidFill>
            <a:ln/>
          </p:spPr>
        </p:sp>
        <p:pic>
          <p:nvPicPr>
            <p:cNvPr id="26" name="Part 3" descr="Biểu tượng"/>
            <p:cNvPicPr>
              <a:picLocks noChangeAspect="1"/>
            </p:cNvPicPr>
            <p:nvPr/>
          </p:nvPicPr>
          <p:blipFill>
            <a:blip r:embed="rId3"/>
            <a:stretch>
              <a:fillRect/>
            </a:stretch>
          </p:blipFill>
          <p:spPr>
            <a:xfrm>
              <a:off x="4566514" y="3432658"/>
              <a:ext cx="285293" cy="285293"/>
            </a:xfrm>
            <a:prstGeom prst="rect">
              <a:avLst/>
            </a:prstGeom>
          </p:spPr>
        </p:pic>
        <p:sp>
          <p:nvSpPr>
            <p:cNvPr id="27" name="Part 4"/>
            <p:cNvSpPr txBox="1"/>
            <p:nvPr/>
          </p:nvSpPr>
          <p:spPr>
            <a:xfrm>
              <a:off x="5166360" y="3246120"/>
              <a:ext cx="251460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Chống CSRF</a:t>
              </a:r>
              <a:endParaRPr lang="en-US" sz="1500" dirty="0"/>
            </a:p>
          </p:txBody>
        </p:sp>
        <p:sp>
          <p:nvSpPr>
            <p:cNvPr id="28" name="Part 5"/>
            <p:cNvSpPr txBox="1"/>
            <p:nvPr/>
          </p:nvSpPr>
          <p:spPr>
            <a:xfrm>
              <a:off x="5166360" y="3593592"/>
              <a:ext cx="2514600" cy="713232"/>
            </a:xfrm>
            <a:prstGeom prst="rect">
              <a:avLst/>
            </a:prstGeom>
            <a:noFill/>
            <a:ln/>
          </p:spPr>
          <p:txBody>
            <a:bodyPr wrap="square" lIns="0" tIns="0" rIns="0" bIns="0" rtlCol="0" anchor="t"/>
            <a:lstStyle/>
            <a:p>
              <a:pPr marL="0" indent="0" algn="l">
                <a:buNone/>
              </a:pPr>
              <a:r>
                <a:rPr lang="en-US" sz="1200" dirty="0">
                  <a:solidFill>
                    <a:srgbClr val="374151"/>
                  </a:solidFill>
                  <a:latin typeface="Arial" pitchFamily="34" charset="0"/>
                  <a:ea typeface="Arial" pitchFamily="34" charset="-122"/>
                  <a:cs typeface="Arial" pitchFamily="34" charset="-120"/>
                </a:rPr>
                <a:t>Token ẩn trong mọi form POST; thao tác xóa bắt buộc POST</a:t>
              </a:r>
              <a:endParaRPr lang="en-US" sz="1200" dirty="0"/>
            </a:p>
          </p:txBody>
        </p:sp>
      </p:grpSp>
      <p:grpSp>
        <p:nvGrpSpPr>
          <p:cNvPr id="48" name="Group 12">
            <a:extLst>
              <a:ext uri="{FF2B5EF4-FFF2-40B4-BE49-F238E27FC236}">
                <a16:creationId xmlns:a16="http://schemas.microsoft.com/office/drawing/2014/main" id="{EFB2CADC-3B80-F7E2-B5C0-EAA9B85DAA82}"/>
              </a:ext>
            </a:extLst>
          </p:cNvPr>
          <p:cNvGrpSpPr/>
          <p:nvPr/>
        </p:nvGrpSpPr>
        <p:grpSpPr>
          <a:xfrm>
            <a:off x="8028432" y="3044952"/>
            <a:ext cx="3611880" cy="1325880"/>
            <a:chOff x="8028432" y="3044952"/>
            <a:chExt cx="3611880" cy="1325880"/>
          </a:xfrm>
        </p:grpSpPr>
        <p:sp>
          <p:nvSpPr>
            <p:cNvPr id="29" name="Part 1"/>
            <p:cNvSpPr/>
            <p:nvPr/>
          </p:nvSpPr>
          <p:spPr>
            <a:xfrm>
              <a:off x="8028432" y="3044952"/>
              <a:ext cx="3611880" cy="1325880"/>
            </a:xfrm>
            <a:prstGeom prst="roundRect">
              <a:avLst>
                <a:gd name="adj" fmla="val 8276"/>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0" name="Part 2"/>
            <p:cNvSpPr/>
            <p:nvPr/>
          </p:nvSpPr>
          <p:spPr>
            <a:xfrm>
              <a:off x="8257032" y="3300984"/>
              <a:ext cx="548640" cy="548640"/>
            </a:xfrm>
            <a:prstGeom prst="ellipse">
              <a:avLst/>
            </a:prstGeom>
            <a:solidFill>
              <a:srgbClr val="E8EDF5"/>
            </a:solidFill>
            <a:ln/>
          </p:spPr>
        </p:sp>
        <p:pic>
          <p:nvPicPr>
            <p:cNvPr id="31" name="Part 3" descr="Biểu tượng"/>
            <p:cNvPicPr>
              <a:picLocks noChangeAspect="1"/>
            </p:cNvPicPr>
            <p:nvPr/>
          </p:nvPicPr>
          <p:blipFill>
            <a:blip r:embed="rId6"/>
            <a:stretch>
              <a:fillRect/>
            </a:stretch>
          </p:blipFill>
          <p:spPr>
            <a:xfrm>
              <a:off x="8388706" y="3432658"/>
              <a:ext cx="285293" cy="285293"/>
            </a:xfrm>
            <a:prstGeom prst="rect">
              <a:avLst/>
            </a:prstGeom>
          </p:spPr>
        </p:pic>
        <p:sp>
          <p:nvSpPr>
            <p:cNvPr id="32" name="Part 4"/>
            <p:cNvSpPr txBox="1"/>
            <p:nvPr/>
          </p:nvSpPr>
          <p:spPr>
            <a:xfrm>
              <a:off x="8988552" y="3246120"/>
              <a:ext cx="251460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Chống XSS</a:t>
              </a:r>
              <a:endParaRPr lang="en-US" sz="1500" dirty="0"/>
            </a:p>
          </p:txBody>
        </p:sp>
        <p:sp>
          <p:nvSpPr>
            <p:cNvPr id="33" name="Part 5"/>
            <p:cNvSpPr txBox="1"/>
            <p:nvPr/>
          </p:nvSpPr>
          <p:spPr>
            <a:xfrm>
              <a:off x="8988552" y="3593592"/>
              <a:ext cx="2514600" cy="713232"/>
            </a:xfrm>
            <a:prstGeom prst="rect">
              <a:avLst/>
            </a:prstGeom>
            <a:noFill/>
            <a:ln/>
          </p:spPr>
          <p:txBody>
            <a:bodyPr wrap="square" lIns="0" tIns="0" rIns="0" bIns="0" rtlCol="0" anchor="t"/>
            <a:lstStyle/>
            <a:p>
              <a:pPr marL="0" indent="0" algn="l">
                <a:buNone/>
              </a:pPr>
              <a:r>
                <a:rPr lang="en-US" sz="1200" dirty="0">
                  <a:solidFill>
                    <a:srgbClr val="374151"/>
                  </a:solidFill>
                  <a:latin typeface="Arial" pitchFamily="34" charset="0"/>
                  <a:ea typeface="Arial" pitchFamily="34" charset="-122"/>
                  <a:cs typeface="Arial" pitchFamily="34" charset="-120"/>
                </a:rPr>
                <a:t>Escape mọi dữ liệu xuất ra bằng e() (htmlspecialchars)</a:t>
              </a:r>
              <a:endParaRPr lang="en-US" sz="1200" dirty="0"/>
            </a:p>
          </p:txBody>
        </p:sp>
      </p:grpSp>
      <p:grpSp>
        <p:nvGrpSpPr>
          <p:cNvPr id="49" name="Group 13">
            <a:extLst>
              <a:ext uri="{FF2B5EF4-FFF2-40B4-BE49-F238E27FC236}">
                <a16:creationId xmlns:a16="http://schemas.microsoft.com/office/drawing/2014/main" id="{33C52F66-D598-6C1C-C835-433B6B42B7D5}"/>
              </a:ext>
            </a:extLst>
          </p:cNvPr>
          <p:cNvGrpSpPr/>
          <p:nvPr/>
        </p:nvGrpSpPr>
        <p:grpSpPr>
          <a:xfrm>
            <a:off x="4206240" y="4489704"/>
            <a:ext cx="3611880" cy="1325880"/>
            <a:chOff x="4206240" y="4489704"/>
            <a:chExt cx="3611880" cy="1325880"/>
          </a:xfrm>
        </p:grpSpPr>
        <p:sp>
          <p:nvSpPr>
            <p:cNvPr id="34" name="Part 1"/>
            <p:cNvSpPr/>
            <p:nvPr/>
          </p:nvSpPr>
          <p:spPr>
            <a:xfrm>
              <a:off x="4206240" y="4489704"/>
              <a:ext cx="3611880" cy="1325880"/>
            </a:xfrm>
            <a:prstGeom prst="roundRect">
              <a:avLst>
                <a:gd name="adj" fmla="val 8276"/>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35" name="Part 2"/>
            <p:cNvSpPr/>
            <p:nvPr/>
          </p:nvSpPr>
          <p:spPr>
            <a:xfrm>
              <a:off x="4434840" y="4745736"/>
              <a:ext cx="548640" cy="548640"/>
            </a:xfrm>
            <a:prstGeom prst="ellipse">
              <a:avLst/>
            </a:prstGeom>
            <a:solidFill>
              <a:srgbClr val="E8EDF5"/>
            </a:solidFill>
            <a:ln/>
          </p:spPr>
        </p:sp>
        <p:pic>
          <p:nvPicPr>
            <p:cNvPr id="36" name="Part 3" descr="Biểu tượng"/>
            <p:cNvPicPr>
              <a:picLocks noChangeAspect="1"/>
            </p:cNvPicPr>
            <p:nvPr/>
          </p:nvPicPr>
          <p:blipFill>
            <a:blip r:embed="rId7"/>
            <a:stretch>
              <a:fillRect/>
            </a:stretch>
          </p:blipFill>
          <p:spPr>
            <a:xfrm>
              <a:off x="4566514" y="4877410"/>
              <a:ext cx="285293" cy="285293"/>
            </a:xfrm>
            <a:prstGeom prst="rect">
              <a:avLst/>
            </a:prstGeom>
          </p:spPr>
        </p:pic>
        <p:sp>
          <p:nvSpPr>
            <p:cNvPr id="37" name="Part 4"/>
            <p:cNvSpPr txBox="1"/>
            <p:nvPr/>
          </p:nvSpPr>
          <p:spPr>
            <a:xfrm>
              <a:off x="5166360" y="4690872"/>
              <a:ext cx="251460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Upload an toàn</a:t>
              </a:r>
              <a:endParaRPr lang="en-US" sz="1500" dirty="0"/>
            </a:p>
          </p:txBody>
        </p:sp>
        <p:sp>
          <p:nvSpPr>
            <p:cNvPr id="38" name="Part 5"/>
            <p:cNvSpPr txBox="1"/>
            <p:nvPr/>
          </p:nvSpPr>
          <p:spPr>
            <a:xfrm>
              <a:off x="5166360" y="5038344"/>
              <a:ext cx="2514600" cy="713232"/>
            </a:xfrm>
            <a:prstGeom prst="rect">
              <a:avLst/>
            </a:prstGeom>
            <a:noFill/>
            <a:ln/>
          </p:spPr>
          <p:txBody>
            <a:bodyPr wrap="square" lIns="0" tIns="0" rIns="0" bIns="0" rtlCol="0" anchor="t"/>
            <a:lstStyle/>
            <a:p>
              <a:pPr marL="0" indent="0" algn="l">
                <a:buNone/>
              </a:pPr>
              <a:r>
                <a:rPr lang="en-US" sz="1200" dirty="0">
                  <a:solidFill>
                    <a:srgbClr val="374151"/>
                  </a:solidFill>
                  <a:latin typeface="Arial" pitchFamily="34" charset="0"/>
                  <a:ea typeface="Arial" pitchFamily="34" charset="-122"/>
                  <a:cs typeface="Arial" pitchFamily="34" charset="-120"/>
                </a:rPr>
                <a:t>Kiểm tra MIME bằng finfo, đổi tên ngẫu nhiên, chặn chạy PHP</a:t>
              </a:r>
              <a:endParaRPr lang="en-US" sz="1200" dirty="0"/>
            </a:p>
          </p:txBody>
        </p:sp>
      </p:grpSp>
      <p:grpSp>
        <p:nvGrpSpPr>
          <p:cNvPr id="50" name="Group 14">
            <a:extLst>
              <a:ext uri="{FF2B5EF4-FFF2-40B4-BE49-F238E27FC236}">
                <a16:creationId xmlns:a16="http://schemas.microsoft.com/office/drawing/2014/main" id="{E0ACC626-F9EB-24CA-77DC-32407CA38D78}"/>
              </a:ext>
            </a:extLst>
          </p:cNvPr>
          <p:cNvGrpSpPr/>
          <p:nvPr/>
        </p:nvGrpSpPr>
        <p:grpSpPr>
          <a:xfrm>
            <a:off x="8028432" y="4489704"/>
            <a:ext cx="3611880" cy="1325880"/>
            <a:chOff x="8028432" y="4489704"/>
            <a:chExt cx="3611880" cy="1325880"/>
          </a:xfrm>
        </p:grpSpPr>
        <p:sp>
          <p:nvSpPr>
            <p:cNvPr id="39" name="Part 1"/>
            <p:cNvSpPr/>
            <p:nvPr/>
          </p:nvSpPr>
          <p:spPr>
            <a:xfrm>
              <a:off x="8028432" y="4489704"/>
              <a:ext cx="3611880" cy="1325880"/>
            </a:xfrm>
            <a:prstGeom prst="roundRect">
              <a:avLst>
                <a:gd name="adj" fmla="val 8276"/>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40" name="Part 2"/>
            <p:cNvSpPr/>
            <p:nvPr/>
          </p:nvSpPr>
          <p:spPr>
            <a:xfrm>
              <a:off x="8257032" y="4745736"/>
              <a:ext cx="548640" cy="548640"/>
            </a:xfrm>
            <a:prstGeom prst="ellipse">
              <a:avLst/>
            </a:prstGeom>
            <a:solidFill>
              <a:srgbClr val="E8EDF5"/>
            </a:solidFill>
            <a:ln/>
          </p:spPr>
        </p:sp>
        <p:pic>
          <p:nvPicPr>
            <p:cNvPr id="41" name="Part 3" descr="Biểu tượng"/>
            <p:cNvPicPr>
              <a:picLocks noChangeAspect="1"/>
            </p:cNvPicPr>
            <p:nvPr/>
          </p:nvPicPr>
          <p:blipFill>
            <a:blip r:embed="rId8"/>
            <a:stretch>
              <a:fillRect/>
            </a:stretch>
          </p:blipFill>
          <p:spPr>
            <a:xfrm>
              <a:off x="8388706" y="4877410"/>
              <a:ext cx="285293" cy="285293"/>
            </a:xfrm>
            <a:prstGeom prst="rect">
              <a:avLst/>
            </a:prstGeom>
          </p:spPr>
        </p:pic>
        <p:sp>
          <p:nvSpPr>
            <p:cNvPr id="42" name="Part 4"/>
            <p:cNvSpPr txBox="1"/>
            <p:nvPr/>
          </p:nvSpPr>
          <p:spPr>
            <a:xfrm>
              <a:off x="8988552" y="4690872"/>
              <a:ext cx="2514600" cy="329184"/>
            </a:xfrm>
            <a:prstGeom prst="rect">
              <a:avLst/>
            </a:prstGeom>
            <a:noFill/>
            <a:ln/>
          </p:spPr>
          <p:txBody>
            <a:bodyPr wrap="square" lIns="0" tIns="0" rIns="0" bIns="0" rtlCol="0" anchor="t"/>
            <a:lstStyle/>
            <a:p>
              <a:pPr marL="0" indent="0" algn="l">
                <a:buNone/>
              </a:pPr>
              <a:r>
                <a:rPr lang="en-US" sz="1500" b="1" dirty="0">
                  <a:solidFill>
                    <a:srgbClr val="0F2C59"/>
                  </a:solidFill>
                  <a:latin typeface="Arial" pitchFamily="34" charset="0"/>
                  <a:ea typeface="Arial" pitchFamily="34" charset="-122"/>
                  <a:cs typeface="Arial" pitchFamily="34" charset="-120"/>
                </a:rPr>
                <a:t>Phiên &amp; phân quyền</a:t>
              </a:r>
              <a:endParaRPr lang="en-US" sz="1500" dirty="0"/>
            </a:p>
          </p:txBody>
        </p:sp>
        <p:sp>
          <p:nvSpPr>
            <p:cNvPr id="43" name="Part 5"/>
            <p:cNvSpPr txBox="1"/>
            <p:nvPr/>
          </p:nvSpPr>
          <p:spPr>
            <a:xfrm>
              <a:off x="8988552" y="5038344"/>
              <a:ext cx="2514600" cy="713232"/>
            </a:xfrm>
            <a:prstGeom prst="rect">
              <a:avLst/>
            </a:prstGeom>
            <a:noFill/>
            <a:ln/>
          </p:spPr>
          <p:txBody>
            <a:bodyPr wrap="square" lIns="0" tIns="0" rIns="0" bIns="0" rtlCol="0" anchor="t"/>
            <a:lstStyle/>
            <a:p>
              <a:pPr marL="0" indent="0" algn="l">
                <a:buNone/>
              </a:pPr>
              <a:r>
                <a:rPr lang="en-US" sz="1200" dirty="0">
                  <a:solidFill>
                    <a:srgbClr val="374151"/>
                  </a:solidFill>
                  <a:latin typeface="Arial" pitchFamily="34" charset="0"/>
                  <a:ea typeface="Arial" pitchFamily="34" charset="-122"/>
                  <a:cs typeface="Arial" pitchFamily="34" charset="-120"/>
                </a:rPr>
                <a:t>session_regenerate_id(), chặn /admin/*, vai trò admin – bien_tap</a:t>
              </a:r>
              <a:endParaRPr lang="en-US" sz="120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animEffect transition="in" filter="fade">
                                      <p:cBhvr>
                                        <p:cTn id="9" dur="500"/>
                                        <p:tgtEl>
                                          <p:spTgt spid="4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childTnLst>
                          </p:cTn>
                        </p:par>
                        <p:par>
                          <p:cTn id="15" fill="hold">
                            <p:stCondLst>
                              <p:cond delay="500"/>
                            </p:stCondLst>
                            <p:childTnLst>
                              <p:par>
                                <p:cTn id="16" presetID="42" presetClass="entr" presetSubtype="0" fill="hold" nodeType="after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50"/>
                                        <p:tgtEl>
                                          <p:spTgt spid="45"/>
                                        </p:tgtEl>
                                      </p:cBhvr>
                                    </p:animEffect>
                                    <p:anim calcmode="lin" valueType="num">
                                      <p:cBhvr>
                                        <p:cTn id="19" dur="550" fill="hold"/>
                                        <p:tgtEl>
                                          <p:spTgt spid="45"/>
                                        </p:tgtEl>
                                        <p:attrNameLst>
                                          <p:attrName>ppt_x</p:attrName>
                                        </p:attrNameLst>
                                      </p:cBhvr>
                                      <p:tavLst>
                                        <p:tav tm="0">
                                          <p:val>
                                            <p:strVal val="#ppt_x"/>
                                          </p:val>
                                        </p:tav>
                                        <p:tav tm="100000">
                                          <p:val>
                                            <p:strVal val="#ppt_x"/>
                                          </p:val>
                                        </p:tav>
                                      </p:tavLst>
                                    </p:anim>
                                    <p:anim calcmode="lin" valueType="num">
                                      <p:cBhvr>
                                        <p:cTn id="20" dur="550" fill="hold"/>
                                        <p:tgtEl>
                                          <p:spTgt spid="45"/>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12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50"/>
                                        <p:tgtEl>
                                          <p:spTgt spid="46"/>
                                        </p:tgtEl>
                                      </p:cBhvr>
                                    </p:animEffect>
                                    <p:anim calcmode="lin" valueType="num">
                                      <p:cBhvr>
                                        <p:cTn id="24" dur="550" fill="hold"/>
                                        <p:tgtEl>
                                          <p:spTgt spid="46"/>
                                        </p:tgtEl>
                                        <p:attrNameLst>
                                          <p:attrName>ppt_x</p:attrName>
                                        </p:attrNameLst>
                                      </p:cBhvr>
                                      <p:tavLst>
                                        <p:tav tm="0">
                                          <p:val>
                                            <p:strVal val="#ppt_x"/>
                                          </p:val>
                                        </p:tav>
                                        <p:tav tm="100000">
                                          <p:val>
                                            <p:strVal val="#ppt_x"/>
                                          </p:val>
                                        </p:tav>
                                      </p:tavLst>
                                    </p:anim>
                                    <p:anim calcmode="lin" valueType="num">
                                      <p:cBhvr>
                                        <p:cTn id="25" dur="550" fill="hold"/>
                                        <p:tgtEl>
                                          <p:spTgt spid="46"/>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24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550"/>
                                        <p:tgtEl>
                                          <p:spTgt spid="47"/>
                                        </p:tgtEl>
                                      </p:cBhvr>
                                    </p:animEffect>
                                    <p:anim calcmode="lin" valueType="num">
                                      <p:cBhvr>
                                        <p:cTn id="29" dur="550" fill="hold"/>
                                        <p:tgtEl>
                                          <p:spTgt spid="47"/>
                                        </p:tgtEl>
                                        <p:attrNameLst>
                                          <p:attrName>ppt_x</p:attrName>
                                        </p:attrNameLst>
                                      </p:cBhvr>
                                      <p:tavLst>
                                        <p:tav tm="0">
                                          <p:val>
                                            <p:strVal val="#ppt_x"/>
                                          </p:val>
                                        </p:tav>
                                        <p:tav tm="100000">
                                          <p:val>
                                            <p:strVal val="#ppt_x"/>
                                          </p:val>
                                        </p:tav>
                                      </p:tavLst>
                                    </p:anim>
                                    <p:anim calcmode="lin" valueType="num">
                                      <p:cBhvr>
                                        <p:cTn id="30" dur="550" fill="hold"/>
                                        <p:tgtEl>
                                          <p:spTgt spid="47"/>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360"/>
                                  </p:stCondLst>
                                  <p:childTnLst>
                                    <p:set>
                                      <p:cBhvr>
                                        <p:cTn id="32" dur="1" fill="hold">
                                          <p:stCondLst>
                                            <p:cond delay="0"/>
                                          </p:stCondLst>
                                        </p:cTn>
                                        <p:tgtEl>
                                          <p:spTgt spid="48"/>
                                        </p:tgtEl>
                                        <p:attrNameLst>
                                          <p:attrName>style.visibility</p:attrName>
                                        </p:attrNameLst>
                                      </p:cBhvr>
                                      <p:to>
                                        <p:strVal val="visible"/>
                                      </p:to>
                                    </p:set>
                                    <p:animEffect transition="in" filter="fade">
                                      <p:cBhvr>
                                        <p:cTn id="33" dur="550"/>
                                        <p:tgtEl>
                                          <p:spTgt spid="48"/>
                                        </p:tgtEl>
                                      </p:cBhvr>
                                    </p:animEffect>
                                    <p:anim calcmode="lin" valueType="num">
                                      <p:cBhvr>
                                        <p:cTn id="34" dur="550" fill="hold"/>
                                        <p:tgtEl>
                                          <p:spTgt spid="48"/>
                                        </p:tgtEl>
                                        <p:attrNameLst>
                                          <p:attrName>ppt_x</p:attrName>
                                        </p:attrNameLst>
                                      </p:cBhvr>
                                      <p:tavLst>
                                        <p:tav tm="0">
                                          <p:val>
                                            <p:strVal val="#ppt_x"/>
                                          </p:val>
                                        </p:tav>
                                        <p:tav tm="100000">
                                          <p:val>
                                            <p:strVal val="#ppt_x"/>
                                          </p:val>
                                        </p:tav>
                                      </p:tavLst>
                                    </p:anim>
                                    <p:anim calcmode="lin" valueType="num">
                                      <p:cBhvr>
                                        <p:cTn id="35" dur="550" fill="hold"/>
                                        <p:tgtEl>
                                          <p:spTgt spid="48"/>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480"/>
                                  </p:stCondLst>
                                  <p:childTnLst>
                                    <p:set>
                                      <p:cBhvr>
                                        <p:cTn id="37" dur="1" fill="hold">
                                          <p:stCondLst>
                                            <p:cond delay="0"/>
                                          </p:stCondLst>
                                        </p:cTn>
                                        <p:tgtEl>
                                          <p:spTgt spid="49"/>
                                        </p:tgtEl>
                                        <p:attrNameLst>
                                          <p:attrName>style.visibility</p:attrName>
                                        </p:attrNameLst>
                                      </p:cBhvr>
                                      <p:to>
                                        <p:strVal val="visible"/>
                                      </p:to>
                                    </p:set>
                                    <p:animEffect transition="in" filter="fade">
                                      <p:cBhvr>
                                        <p:cTn id="38" dur="550"/>
                                        <p:tgtEl>
                                          <p:spTgt spid="49"/>
                                        </p:tgtEl>
                                      </p:cBhvr>
                                    </p:animEffect>
                                    <p:anim calcmode="lin" valueType="num">
                                      <p:cBhvr>
                                        <p:cTn id="39" dur="550" fill="hold"/>
                                        <p:tgtEl>
                                          <p:spTgt spid="49"/>
                                        </p:tgtEl>
                                        <p:attrNameLst>
                                          <p:attrName>ppt_x</p:attrName>
                                        </p:attrNameLst>
                                      </p:cBhvr>
                                      <p:tavLst>
                                        <p:tav tm="0">
                                          <p:val>
                                            <p:strVal val="#ppt_x"/>
                                          </p:val>
                                        </p:tav>
                                        <p:tav tm="100000">
                                          <p:val>
                                            <p:strVal val="#ppt_x"/>
                                          </p:val>
                                        </p:tav>
                                      </p:tavLst>
                                    </p:anim>
                                    <p:anim calcmode="lin" valueType="num">
                                      <p:cBhvr>
                                        <p:cTn id="40" dur="550" fill="hold"/>
                                        <p:tgtEl>
                                          <p:spTgt spid="49"/>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60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550"/>
                                        <p:tgtEl>
                                          <p:spTgt spid="50"/>
                                        </p:tgtEl>
                                      </p:cBhvr>
                                    </p:animEffect>
                                    <p:anim calcmode="lin" valueType="num">
                                      <p:cBhvr>
                                        <p:cTn id="44" dur="550" fill="hold"/>
                                        <p:tgtEl>
                                          <p:spTgt spid="50"/>
                                        </p:tgtEl>
                                        <p:attrNameLst>
                                          <p:attrName>ppt_x</p:attrName>
                                        </p:attrNameLst>
                                      </p:cBhvr>
                                      <p:tavLst>
                                        <p:tav tm="0">
                                          <p:val>
                                            <p:strVal val="#ppt_x"/>
                                          </p:val>
                                        </p:tav>
                                        <p:tav tm="100000">
                                          <p:val>
                                            <p:strVal val="#ppt_x"/>
                                          </p:val>
                                        </p:tav>
                                      </p:tavLst>
                                    </p:anim>
                                    <p:anim calcmode="lin" valueType="num">
                                      <p:cBhvr>
                                        <p:cTn id="45" dur="550" fill="hold"/>
                                        <p:tgtEl>
                                          <p:spTgt spid="50"/>
                                        </p:tgtEl>
                                        <p:attrNameLst>
                                          <p:attrName>ppt_y</p:attrName>
                                        </p:attrNameLst>
                                      </p:cBhvr>
                                      <p:tavLst>
                                        <p:tav tm="0">
                                          <p:val>
                                            <p:strVal val="#ppt_y+.1"/>
                                          </p:val>
                                        </p:tav>
                                        <p:tav tm="100000">
                                          <p:val>
                                            <p:strVal val="#ppt_y"/>
                                          </p:val>
                                        </p:tav>
                                      </p:tavLst>
                                    </p:anim>
                                  </p:childTnLst>
                                </p:cTn>
                              </p:par>
                            </p:childTnLst>
                          </p:cTn>
                        </p:par>
                        <p:par>
                          <p:cTn id="46" fill="hold">
                            <p:stCondLst>
                              <p:cond delay="1650"/>
                            </p:stCondLst>
                            <p:childTnLst>
                              <p:par>
                                <p:cTn id="47" presetID="6" presetClass="emph" presetSubtype="0" autoRev="1" fill="hold" grpId="1" nodeType="afterEffect">
                                  <p:stCondLst>
                                    <p:cond delay="0"/>
                                  </p:stCondLst>
                                  <p:childTnLst>
                                    <p:animScale>
                                      <p:cBhvr>
                                        <p:cTn id="48" dur="400" fill="hold"/>
                                        <p:tgtEl>
                                          <p:spTgt spid="11"/>
                                        </p:tgtEl>
                                      </p:cBhvr>
                                      <p:by x="150000" y="15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Giao diện trang chủ</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Phong cách trường quốc tế: navy – vàng gold, ảnh lớn, tiêu đề in hoa</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04 · KẾT QUẢ</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11 / 18</a:t>
            </a:r>
            <a:endParaRPr lang="en-US" sz="1000" dirty="0"/>
          </a:p>
        </p:txBody>
      </p:sp>
      <p:grpSp>
        <p:nvGrpSpPr>
          <p:cNvPr id="26" name="Group 7">
            <a:extLst>
              <a:ext uri="{FF2B5EF4-FFF2-40B4-BE49-F238E27FC236}">
                <a16:creationId xmlns:a16="http://schemas.microsoft.com/office/drawing/2014/main" id="{8D5687CA-63FB-BF36-4306-7F96E16627F9}"/>
              </a:ext>
            </a:extLst>
          </p:cNvPr>
          <p:cNvGrpSpPr/>
          <p:nvPr/>
        </p:nvGrpSpPr>
        <p:grpSpPr>
          <a:xfrm>
            <a:off x="502920" y="1508760"/>
            <a:ext cx="6858000" cy="4297680"/>
            <a:chOff x="502920" y="1508760"/>
            <a:chExt cx="6858000" cy="4297680"/>
          </a:xfrm>
        </p:grpSpPr>
        <p:sp>
          <p:nvSpPr>
            <p:cNvPr id="8" name="Part 1"/>
            <p:cNvSpPr/>
            <p:nvPr/>
          </p:nvSpPr>
          <p:spPr>
            <a:xfrm>
              <a:off x="502920" y="1508760"/>
              <a:ext cx="6858000" cy="3895344"/>
            </a:xfrm>
            <a:prstGeom prst="roundRect">
              <a:avLst>
                <a:gd name="adj" fmla="val 3286"/>
              </a:avLst>
            </a:prstGeom>
            <a:solidFill>
              <a:srgbClr val="FFFFFF"/>
            </a:solidFill>
            <a:ln/>
            <a:effectLst>
              <a:outerShdw blurRad="127000" dist="38100" dir="5400000" algn="bl" rotWithShape="0">
                <a:srgbClr val="0F2C59">
                  <a:alpha val="12000"/>
                </a:srgbClr>
              </a:outerShdw>
            </a:effectLst>
          </p:spPr>
        </p:sp>
        <p:pic>
          <p:nvPicPr>
            <p:cNvPr id="9" name="Part 2" descr="Giao diện trang chủ trên máy tính"/>
            <p:cNvPicPr>
              <a:picLocks noChangeAspect="1"/>
            </p:cNvPicPr>
            <p:nvPr/>
          </p:nvPicPr>
          <p:blipFill>
            <a:blip r:embed="rId3"/>
            <a:stretch>
              <a:fillRect/>
            </a:stretch>
          </p:blipFill>
          <p:spPr>
            <a:xfrm>
              <a:off x="548640" y="1554480"/>
              <a:ext cx="6766560" cy="3803904"/>
            </a:xfrm>
            <a:prstGeom prst="rect">
              <a:avLst/>
            </a:prstGeom>
          </p:spPr>
        </p:pic>
        <p:sp>
          <p:nvSpPr>
            <p:cNvPr id="10" name="Part 3"/>
            <p:cNvSpPr txBox="1"/>
            <p:nvPr/>
          </p:nvSpPr>
          <p:spPr>
            <a:xfrm>
              <a:off x="548640" y="5532120"/>
              <a:ext cx="5669280" cy="274320"/>
            </a:xfrm>
            <a:prstGeom prst="rect">
              <a:avLst/>
            </a:prstGeom>
            <a:noFill/>
            <a:ln/>
          </p:spPr>
          <p:txBody>
            <a:bodyPr wrap="square" lIns="0" tIns="0" rIns="0" bIns="0" rtlCol="0" anchor="t"/>
            <a:lstStyle/>
            <a:p>
              <a:pPr marL="0" indent="0" algn="l">
                <a:buNone/>
              </a:pPr>
              <a:r>
                <a:rPr lang="en-US" sz="1100" i="1" dirty="0">
                  <a:solidFill>
                    <a:srgbClr val="6B7280"/>
                  </a:solidFill>
                  <a:latin typeface="Arial" pitchFamily="34" charset="0"/>
                  <a:ea typeface="Arial" pitchFamily="34" charset="-122"/>
                  <a:cs typeface="Arial" pitchFamily="34" charset="-120"/>
                </a:rPr>
                <a:t>Trang chủ trên máy tính (1366 px) và điện thoại (375 px)</a:t>
              </a:r>
              <a:endParaRPr lang="en-US" sz="1100" dirty="0"/>
            </a:p>
          </p:txBody>
        </p:sp>
      </p:grpSp>
      <p:grpSp>
        <p:nvGrpSpPr>
          <p:cNvPr id="27" name="Group 8">
            <a:extLst>
              <a:ext uri="{FF2B5EF4-FFF2-40B4-BE49-F238E27FC236}">
                <a16:creationId xmlns:a16="http://schemas.microsoft.com/office/drawing/2014/main" id="{83E490E6-ABC5-1CD6-6DC8-2A55073E39E4}"/>
              </a:ext>
            </a:extLst>
          </p:cNvPr>
          <p:cNvGrpSpPr/>
          <p:nvPr/>
        </p:nvGrpSpPr>
        <p:grpSpPr>
          <a:xfrm>
            <a:off x="6355080" y="2331720"/>
            <a:ext cx="1783080" cy="3840480"/>
            <a:chOff x="6355080" y="2331720"/>
            <a:chExt cx="1783080" cy="3840480"/>
          </a:xfrm>
        </p:grpSpPr>
        <p:sp>
          <p:nvSpPr>
            <p:cNvPr id="11" name="Part 1"/>
            <p:cNvSpPr/>
            <p:nvPr/>
          </p:nvSpPr>
          <p:spPr>
            <a:xfrm>
              <a:off x="6355080" y="2331720"/>
              <a:ext cx="1783080" cy="3840480"/>
            </a:xfrm>
            <a:prstGeom prst="roundRect">
              <a:avLst>
                <a:gd name="adj" fmla="val 10256"/>
              </a:avLst>
            </a:prstGeom>
            <a:solidFill>
              <a:srgbClr val="0A1F40"/>
            </a:solidFill>
            <a:ln/>
            <a:effectLst>
              <a:outerShdw blurRad="127000" dist="38100" dir="5400000" algn="bl" rotWithShape="0">
                <a:srgbClr val="0F2C59">
                  <a:alpha val="12000"/>
                </a:srgbClr>
              </a:outerShdw>
            </a:effectLst>
          </p:spPr>
        </p:sp>
        <p:pic>
          <p:nvPicPr>
            <p:cNvPr id="12" name="Part 2" descr="Giao diện trang chủ trên điện thoại"/>
            <p:cNvPicPr>
              <a:picLocks noChangeAspect="1"/>
            </p:cNvPicPr>
            <p:nvPr/>
          </p:nvPicPr>
          <p:blipFill>
            <a:blip r:embed="rId4"/>
            <a:stretch>
              <a:fillRect/>
            </a:stretch>
          </p:blipFill>
          <p:spPr>
            <a:xfrm>
              <a:off x="6428232" y="2404872"/>
              <a:ext cx="1636776" cy="3544214"/>
            </a:xfrm>
            <a:prstGeom prst="rect">
              <a:avLst/>
            </a:prstGeom>
          </p:spPr>
        </p:pic>
      </p:grpSp>
      <p:sp>
        <p:nvSpPr>
          <p:cNvPr id="13" name="Shape 9"/>
          <p:cNvSpPr txBox="1"/>
          <p:nvPr/>
        </p:nvSpPr>
        <p:spPr>
          <a:xfrm>
            <a:off x="8458200" y="1600200"/>
            <a:ext cx="3108960" cy="411480"/>
          </a:xfrm>
          <a:prstGeom prst="rect">
            <a:avLst/>
          </a:prstGeom>
          <a:noFill/>
          <a:ln/>
        </p:spPr>
        <p:txBody>
          <a:bodyPr wrap="square" lIns="0" tIns="0" rIns="0" bIns="0" rtlCol="0" anchor="t"/>
          <a:lstStyle/>
          <a:p>
            <a:pPr marL="0" indent="0" algn="l">
              <a:buNone/>
            </a:pPr>
            <a:r>
              <a:rPr lang="en-US" sz="1800" b="1" dirty="0">
                <a:solidFill>
                  <a:srgbClr val="0F2C59"/>
                </a:solidFill>
                <a:latin typeface="Arial" pitchFamily="34" charset="0"/>
                <a:ea typeface="Arial" pitchFamily="34" charset="-122"/>
                <a:cs typeface="Arial" pitchFamily="34" charset="-120"/>
              </a:rPr>
              <a:t>Điểm nổi bật</a:t>
            </a:r>
            <a:endParaRPr lang="en-US" sz="1800" dirty="0"/>
          </a:p>
        </p:txBody>
      </p:sp>
      <p:grpSp>
        <p:nvGrpSpPr>
          <p:cNvPr id="28" name="Group 10">
            <a:extLst>
              <a:ext uri="{FF2B5EF4-FFF2-40B4-BE49-F238E27FC236}">
                <a16:creationId xmlns:a16="http://schemas.microsoft.com/office/drawing/2014/main" id="{7AA0504F-6503-80A7-196A-FD3EED72E5AB}"/>
              </a:ext>
            </a:extLst>
          </p:cNvPr>
          <p:cNvGrpSpPr/>
          <p:nvPr/>
        </p:nvGrpSpPr>
        <p:grpSpPr>
          <a:xfrm>
            <a:off x="8458200" y="2176272"/>
            <a:ext cx="3182112" cy="822960"/>
            <a:chOff x="8458200" y="2176272"/>
            <a:chExt cx="3182112" cy="822960"/>
          </a:xfrm>
        </p:grpSpPr>
        <p:sp>
          <p:nvSpPr>
            <p:cNvPr id="14" name="Part 1"/>
            <p:cNvSpPr/>
            <p:nvPr/>
          </p:nvSpPr>
          <p:spPr>
            <a:xfrm>
              <a:off x="8458200" y="2212848"/>
              <a:ext cx="329184" cy="329184"/>
            </a:xfrm>
            <a:prstGeom prst="ellipse">
              <a:avLst/>
            </a:prstGeom>
            <a:solidFill>
              <a:srgbClr val="E5B53A"/>
            </a:solidFill>
            <a:ln/>
          </p:spPr>
        </p:sp>
        <p:pic>
          <p:nvPicPr>
            <p:cNvPr id="15" name="Part 2" descr="Biểu tượng"/>
            <p:cNvPicPr>
              <a:picLocks noChangeAspect="1"/>
            </p:cNvPicPr>
            <p:nvPr/>
          </p:nvPicPr>
          <p:blipFill>
            <a:blip r:embed="rId5"/>
            <a:stretch>
              <a:fillRect/>
            </a:stretch>
          </p:blipFill>
          <p:spPr>
            <a:xfrm>
              <a:off x="8524037" y="2278685"/>
              <a:ext cx="197510" cy="197510"/>
            </a:xfrm>
            <a:prstGeom prst="rect">
              <a:avLst/>
            </a:prstGeom>
          </p:spPr>
        </p:pic>
        <p:sp>
          <p:nvSpPr>
            <p:cNvPr id="16" name="Part 3"/>
            <p:cNvSpPr txBox="1"/>
            <p:nvPr/>
          </p:nvSpPr>
          <p:spPr>
            <a:xfrm>
              <a:off x="8942832" y="2176272"/>
              <a:ext cx="2697480" cy="822960"/>
            </a:xfrm>
            <a:prstGeom prst="rect">
              <a:avLst/>
            </a:prstGeom>
            <a:noFill/>
            <a:ln/>
          </p:spPr>
          <p:txBody>
            <a:bodyPr wrap="square" lIns="0" tIns="0" rIns="0" bIns="0" rtlCol="0" anchor="t"/>
            <a:lstStyle/>
            <a:p>
              <a:pPr marL="0" indent="0" algn="l">
                <a:buNone/>
              </a:pPr>
              <a:r>
                <a:rPr lang="en-US" sz="1300" dirty="0">
                  <a:solidFill>
                    <a:srgbClr val="374151"/>
                  </a:solidFill>
                  <a:latin typeface="Arial" pitchFamily="34" charset="0"/>
                  <a:ea typeface="Arial" pitchFamily="34" charset="-122"/>
                  <a:cs typeface="Arial" pitchFamily="34" charset="-120"/>
                </a:rPr>
                <a:t>Header: logo DNC, menu 7 mục, nút vàng “Đăng ký ngay”</a:t>
              </a:r>
              <a:endParaRPr lang="en-US" sz="1300" dirty="0"/>
            </a:p>
          </p:txBody>
        </p:sp>
      </p:grpSp>
      <p:grpSp>
        <p:nvGrpSpPr>
          <p:cNvPr id="29" name="Group 11">
            <a:extLst>
              <a:ext uri="{FF2B5EF4-FFF2-40B4-BE49-F238E27FC236}">
                <a16:creationId xmlns:a16="http://schemas.microsoft.com/office/drawing/2014/main" id="{EC99ADE7-A097-1EE8-5B6D-4B998B3B5A03}"/>
              </a:ext>
            </a:extLst>
          </p:cNvPr>
          <p:cNvGrpSpPr/>
          <p:nvPr/>
        </p:nvGrpSpPr>
        <p:grpSpPr>
          <a:xfrm>
            <a:off x="8458200" y="3090672"/>
            <a:ext cx="3182112" cy="822960"/>
            <a:chOff x="8458200" y="3090672"/>
            <a:chExt cx="3182112" cy="822960"/>
          </a:xfrm>
        </p:grpSpPr>
        <p:sp>
          <p:nvSpPr>
            <p:cNvPr id="17" name="Part 1"/>
            <p:cNvSpPr/>
            <p:nvPr/>
          </p:nvSpPr>
          <p:spPr>
            <a:xfrm>
              <a:off x="8458200" y="3127248"/>
              <a:ext cx="329184" cy="329184"/>
            </a:xfrm>
            <a:prstGeom prst="ellipse">
              <a:avLst/>
            </a:prstGeom>
            <a:solidFill>
              <a:srgbClr val="E5B53A"/>
            </a:solidFill>
            <a:ln/>
          </p:spPr>
        </p:sp>
        <p:pic>
          <p:nvPicPr>
            <p:cNvPr id="18" name="Part 2" descr="Biểu tượng"/>
            <p:cNvPicPr>
              <a:picLocks noChangeAspect="1"/>
            </p:cNvPicPr>
            <p:nvPr/>
          </p:nvPicPr>
          <p:blipFill>
            <a:blip r:embed="rId5"/>
            <a:stretch>
              <a:fillRect/>
            </a:stretch>
          </p:blipFill>
          <p:spPr>
            <a:xfrm>
              <a:off x="8524037" y="3193085"/>
              <a:ext cx="197510" cy="197510"/>
            </a:xfrm>
            <a:prstGeom prst="rect">
              <a:avLst/>
            </a:prstGeom>
          </p:spPr>
        </p:pic>
        <p:sp>
          <p:nvSpPr>
            <p:cNvPr id="19" name="Part 3"/>
            <p:cNvSpPr txBox="1"/>
            <p:nvPr/>
          </p:nvSpPr>
          <p:spPr>
            <a:xfrm>
              <a:off x="8942832" y="3090672"/>
              <a:ext cx="2697480" cy="822960"/>
            </a:xfrm>
            <a:prstGeom prst="rect">
              <a:avLst/>
            </a:prstGeom>
            <a:noFill/>
            <a:ln/>
          </p:spPr>
          <p:txBody>
            <a:bodyPr wrap="square" lIns="0" tIns="0" rIns="0" bIns="0" rtlCol="0" anchor="t"/>
            <a:lstStyle/>
            <a:p>
              <a:pPr marL="0" indent="0" algn="l">
                <a:buNone/>
              </a:pPr>
              <a:r>
                <a:rPr lang="en-US" sz="1300" dirty="0">
                  <a:solidFill>
                    <a:srgbClr val="374151"/>
                  </a:solidFill>
                  <a:latin typeface="Arial" pitchFamily="34" charset="0"/>
                  <a:ea typeface="Arial" pitchFamily="34" charset="-122"/>
                  <a:cs typeface="Arial" pitchFamily="34" charset="-120"/>
                </a:rPr>
                <a:t>Hero ảnh lớn cùng slogan “Nurturing Tomorrow's Leaders”</a:t>
              </a:r>
              <a:endParaRPr lang="en-US" sz="1300" dirty="0"/>
            </a:p>
          </p:txBody>
        </p:sp>
      </p:grpSp>
      <p:grpSp>
        <p:nvGrpSpPr>
          <p:cNvPr id="30" name="Group 12">
            <a:extLst>
              <a:ext uri="{FF2B5EF4-FFF2-40B4-BE49-F238E27FC236}">
                <a16:creationId xmlns:a16="http://schemas.microsoft.com/office/drawing/2014/main" id="{B15CD0F6-F8BD-C7E1-0EF5-50020365E314}"/>
              </a:ext>
            </a:extLst>
          </p:cNvPr>
          <p:cNvGrpSpPr/>
          <p:nvPr/>
        </p:nvGrpSpPr>
        <p:grpSpPr>
          <a:xfrm>
            <a:off x="8458200" y="4005072"/>
            <a:ext cx="3182112" cy="822960"/>
            <a:chOff x="8458200" y="4005072"/>
            <a:chExt cx="3182112" cy="822960"/>
          </a:xfrm>
        </p:grpSpPr>
        <p:sp>
          <p:nvSpPr>
            <p:cNvPr id="20" name="Part 1"/>
            <p:cNvSpPr/>
            <p:nvPr/>
          </p:nvSpPr>
          <p:spPr>
            <a:xfrm>
              <a:off x="8458200" y="4041648"/>
              <a:ext cx="329184" cy="329184"/>
            </a:xfrm>
            <a:prstGeom prst="ellipse">
              <a:avLst/>
            </a:prstGeom>
            <a:solidFill>
              <a:srgbClr val="E5B53A"/>
            </a:solidFill>
            <a:ln/>
          </p:spPr>
        </p:sp>
        <p:pic>
          <p:nvPicPr>
            <p:cNvPr id="21" name="Part 2" descr="Biểu tượng"/>
            <p:cNvPicPr>
              <a:picLocks noChangeAspect="1"/>
            </p:cNvPicPr>
            <p:nvPr/>
          </p:nvPicPr>
          <p:blipFill>
            <a:blip r:embed="rId5"/>
            <a:stretch>
              <a:fillRect/>
            </a:stretch>
          </p:blipFill>
          <p:spPr>
            <a:xfrm>
              <a:off x="8524037" y="4107485"/>
              <a:ext cx="197510" cy="197510"/>
            </a:xfrm>
            <a:prstGeom prst="rect">
              <a:avLst/>
            </a:prstGeom>
          </p:spPr>
        </p:pic>
        <p:sp>
          <p:nvSpPr>
            <p:cNvPr id="22" name="Part 3"/>
            <p:cNvSpPr txBox="1"/>
            <p:nvPr/>
          </p:nvSpPr>
          <p:spPr>
            <a:xfrm>
              <a:off x="8942832" y="4005072"/>
              <a:ext cx="2697480" cy="822960"/>
            </a:xfrm>
            <a:prstGeom prst="rect">
              <a:avLst/>
            </a:prstGeom>
            <a:noFill/>
            <a:ln/>
          </p:spPr>
          <p:txBody>
            <a:bodyPr wrap="square" lIns="0" tIns="0" rIns="0" bIns="0" rtlCol="0" anchor="t"/>
            <a:lstStyle/>
            <a:p>
              <a:pPr marL="0" indent="0" algn="l">
                <a:buNone/>
              </a:pPr>
              <a:r>
                <a:rPr lang="en-US" sz="1300" dirty="0">
                  <a:solidFill>
                    <a:srgbClr val="374151"/>
                  </a:solidFill>
                  <a:latin typeface="Arial" pitchFamily="34" charset="0"/>
                  <a:ea typeface="Arial" pitchFamily="34" charset="-122"/>
                  <a:cs typeface="Arial" pitchFamily="34" charset="-120"/>
                </a:rPr>
                <a:t>Các khối: Vì sao chọn DNC, Chương trình, Đời sống học sinh, Tin tức</a:t>
              </a:r>
              <a:endParaRPr lang="en-US" sz="1300" dirty="0"/>
            </a:p>
          </p:txBody>
        </p:sp>
      </p:grpSp>
      <p:grpSp>
        <p:nvGrpSpPr>
          <p:cNvPr id="31" name="Group 13">
            <a:extLst>
              <a:ext uri="{FF2B5EF4-FFF2-40B4-BE49-F238E27FC236}">
                <a16:creationId xmlns:a16="http://schemas.microsoft.com/office/drawing/2014/main" id="{75B3088C-8765-EE6C-27A8-E02C6DE996A8}"/>
              </a:ext>
            </a:extLst>
          </p:cNvPr>
          <p:cNvGrpSpPr/>
          <p:nvPr/>
        </p:nvGrpSpPr>
        <p:grpSpPr>
          <a:xfrm>
            <a:off x="8458200" y="4919472"/>
            <a:ext cx="3182112" cy="822960"/>
            <a:chOff x="8458200" y="4919472"/>
            <a:chExt cx="3182112" cy="822960"/>
          </a:xfrm>
        </p:grpSpPr>
        <p:sp>
          <p:nvSpPr>
            <p:cNvPr id="23" name="Part 1"/>
            <p:cNvSpPr/>
            <p:nvPr/>
          </p:nvSpPr>
          <p:spPr>
            <a:xfrm>
              <a:off x="8458200" y="4956048"/>
              <a:ext cx="329184" cy="329184"/>
            </a:xfrm>
            <a:prstGeom prst="ellipse">
              <a:avLst/>
            </a:prstGeom>
            <a:solidFill>
              <a:srgbClr val="E5B53A"/>
            </a:solidFill>
            <a:ln/>
          </p:spPr>
        </p:sp>
        <p:pic>
          <p:nvPicPr>
            <p:cNvPr id="24" name="Part 2" descr="Biểu tượng"/>
            <p:cNvPicPr>
              <a:picLocks noChangeAspect="1"/>
            </p:cNvPicPr>
            <p:nvPr/>
          </p:nvPicPr>
          <p:blipFill>
            <a:blip r:embed="rId5"/>
            <a:stretch>
              <a:fillRect/>
            </a:stretch>
          </p:blipFill>
          <p:spPr>
            <a:xfrm>
              <a:off x="8524037" y="5021885"/>
              <a:ext cx="197510" cy="197510"/>
            </a:xfrm>
            <a:prstGeom prst="rect">
              <a:avLst/>
            </a:prstGeom>
          </p:spPr>
        </p:pic>
        <p:sp>
          <p:nvSpPr>
            <p:cNvPr id="25" name="Part 3"/>
            <p:cNvSpPr txBox="1"/>
            <p:nvPr/>
          </p:nvSpPr>
          <p:spPr>
            <a:xfrm>
              <a:off x="8942832" y="4919472"/>
              <a:ext cx="2697480" cy="822960"/>
            </a:xfrm>
            <a:prstGeom prst="rect">
              <a:avLst/>
            </a:prstGeom>
            <a:noFill/>
            <a:ln/>
          </p:spPr>
          <p:txBody>
            <a:bodyPr wrap="square" lIns="0" tIns="0" rIns="0" bIns="0" rtlCol="0" anchor="t"/>
            <a:lstStyle/>
            <a:p>
              <a:pPr marL="0" indent="0" algn="l">
                <a:buNone/>
              </a:pPr>
              <a:r>
                <a:rPr lang="en-US" sz="1300" dirty="0">
                  <a:solidFill>
                    <a:srgbClr val="374151"/>
                  </a:solidFill>
                  <a:latin typeface="Arial" pitchFamily="34" charset="0"/>
                  <a:ea typeface="Arial" pitchFamily="34" charset="-122"/>
                  <a:cs typeface="Arial" pitchFamily="34" charset="-120"/>
                </a:rPr>
                <a:t>Responsive: menu thu gọn trên điện thoại</a:t>
              </a:r>
              <a:endParaRPr lang="en-US" sz="130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50"/>
                                        <p:tgtEl>
                                          <p:spTgt spid="27"/>
                                        </p:tgtEl>
                                      </p:cBhvr>
                                    </p:animEffect>
                                    <p:anim calcmode="lin" valueType="num">
                                      <p:cBhvr>
                                        <p:cTn id="12" dur="550" fill="hold"/>
                                        <p:tgtEl>
                                          <p:spTgt spid="27"/>
                                        </p:tgtEl>
                                        <p:attrNameLst>
                                          <p:attrName>ppt_x</p:attrName>
                                        </p:attrNameLst>
                                      </p:cBhvr>
                                      <p:tavLst>
                                        <p:tav tm="0">
                                          <p:val>
                                            <p:strVal val="#ppt_x"/>
                                          </p:val>
                                        </p:tav>
                                        <p:tav tm="100000">
                                          <p:val>
                                            <p:strVal val="#ppt_x"/>
                                          </p:val>
                                        </p:tav>
                                      </p:tavLst>
                                    </p:anim>
                                    <p:anim calcmode="lin" valueType="num">
                                      <p:cBhvr>
                                        <p:cTn id="13" dur="550" fill="hold"/>
                                        <p:tgtEl>
                                          <p:spTgt spid="27"/>
                                        </p:tgtEl>
                                        <p:attrNameLst>
                                          <p:attrName>ppt_y</p:attrName>
                                        </p:attrNameLst>
                                      </p:cBhvr>
                                      <p:tavLst>
                                        <p:tav tm="0">
                                          <p:val>
                                            <p:strVal val="#ppt_y+.1"/>
                                          </p:val>
                                        </p:tav>
                                        <p:tav tm="100000">
                                          <p:val>
                                            <p:strVal val="#ppt_y"/>
                                          </p:val>
                                        </p:tav>
                                      </p:tavLst>
                                    </p:anim>
                                  </p:childTnLst>
                                </p:cTn>
                              </p:par>
                            </p:childTnLst>
                          </p:cTn>
                        </p:par>
                        <p:par>
                          <p:cTn id="14" fill="hold">
                            <p:stCondLst>
                              <p:cond delay="1050"/>
                            </p:stCondLst>
                            <p:childTnLst>
                              <p:par>
                                <p:cTn id="15" presetID="10" presetClass="entr" presetSubtype="0"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nodeType="withEffect">
                                  <p:stCondLst>
                                    <p:cond delay="12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par>
                                <p:cTn id="21" presetID="10" presetClass="entr" presetSubtype="0" fill="hold" nodeType="withEffect">
                                  <p:stCondLst>
                                    <p:cond delay="24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par>
                                <p:cTn id="24" presetID="10" presetClass="entr" presetSubtype="0" fill="hold" nodeType="withEffect">
                                  <p:stCondLst>
                                    <p:cond delay="36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10" presetClass="entr" presetSubtype="0" fill="hold" nodeType="withEffect">
                                  <p:stCondLst>
                                    <p:cond delay="48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Chương trình, tin tức và thư viện ảnh</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Nội dung lấy từ CSDL – chỉ hiển thị bản ghi đang công khai</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04 · KẾT QUẢ</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12 / 18</a:t>
            </a:r>
            <a:endParaRPr lang="en-US" sz="1000" dirty="0"/>
          </a:p>
        </p:txBody>
      </p:sp>
      <p:grpSp>
        <p:nvGrpSpPr>
          <p:cNvPr id="29" name="Group 7">
            <a:extLst>
              <a:ext uri="{FF2B5EF4-FFF2-40B4-BE49-F238E27FC236}">
                <a16:creationId xmlns:a16="http://schemas.microsoft.com/office/drawing/2014/main" id="{2AFABA16-E9B9-1A87-DBC5-DABD6BB523D7}"/>
              </a:ext>
            </a:extLst>
          </p:cNvPr>
          <p:cNvGrpSpPr/>
          <p:nvPr/>
        </p:nvGrpSpPr>
        <p:grpSpPr>
          <a:xfrm>
            <a:off x="548640" y="1600200"/>
            <a:ext cx="3520440" cy="4297680"/>
            <a:chOff x="548640" y="1600200"/>
            <a:chExt cx="3520440" cy="4297680"/>
          </a:xfrm>
        </p:grpSpPr>
        <p:sp>
          <p:nvSpPr>
            <p:cNvPr id="8" name="Part 1"/>
            <p:cNvSpPr/>
            <p:nvPr/>
          </p:nvSpPr>
          <p:spPr>
            <a:xfrm>
              <a:off x="548640" y="1600200"/>
              <a:ext cx="3520440" cy="4297680"/>
            </a:xfrm>
            <a:prstGeom prst="roundRect">
              <a:avLst>
                <a:gd name="adj" fmla="val 3117"/>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pic>
          <p:nvPicPr>
            <p:cNvPr id="9" name="Part 2" descr="Trang chương trình đào tạo"/>
            <p:cNvPicPr>
              <a:picLocks noChangeAspect="1"/>
            </p:cNvPicPr>
            <p:nvPr/>
          </p:nvPicPr>
          <p:blipFill>
            <a:blip r:embed="rId3"/>
            <a:stretch>
              <a:fillRect/>
            </a:stretch>
          </p:blipFill>
          <p:spPr>
            <a:xfrm>
              <a:off x="685800" y="1737360"/>
              <a:ext cx="3246120" cy="1869948"/>
            </a:xfrm>
            <a:prstGeom prst="rect">
              <a:avLst/>
            </a:prstGeom>
          </p:spPr>
        </p:pic>
        <p:sp>
          <p:nvSpPr>
            <p:cNvPr id="10" name="Part 3"/>
            <p:cNvSpPr/>
            <p:nvPr/>
          </p:nvSpPr>
          <p:spPr>
            <a:xfrm>
              <a:off x="731520" y="3840480"/>
              <a:ext cx="658368" cy="329184"/>
            </a:xfrm>
            <a:prstGeom prst="roundRect">
              <a:avLst>
                <a:gd name="adj" fmla="val 50000"/>
              </a:avLst>
            </a:prstGeom>
            <a:solidFill>
              <a:srgbClr val="E5B53A"/>
            </a:solidFill>
            <a:ln/>
          </p:spPr>
        </p:sp>
        <p:sp>
          <p:nvSpPr>
            <p:cNvPr id="11" name="Part 4"/>
            <p:cNvSpPr txBox="1"/>
            <p:nvPr/>
          </p:nvSpPr>
          <p:spPr>
            <a:xfrm>
              <a:off x="731520" y="3840480"/>
              <a:ext cx="658368" cy="329184"/>
            </a:xfrm>
            <a:prstGeom prst="rect">
              <a:avLst/>
            </a:prstGeom>
            <a:noFill/>
            <a:ln/>
          </p:spPr>
          <p:txBody>
            <a:bodyPr wrap="square" lIns="0" tIns="0" rIns="0" bIns="0" rtlCol="0" anchor="ctr"/>
            <a:lstStyle/>
            <a:p>
              <a:pPr marL="0" indent="0" algn="ctr">
                <a:buNone/>
              </a:pPr>
              <a:r>
                <a:rPr lang="en-US" sz="1200" b="1" dirty="0">
                  <a:solidFill>
                    <a:srgbClr val="0F2C59"/>
                  </a:solidFill>
                  <a:latin typeface="Arial" pitchFamily="34" charset="0"/>
                  <a:ea typeface="Arial" pitchFamily="34" charset="-122"/>
                  <a:cs typeface="Arial" pitchFamily="34" charset="-120"/>
                </a:rPr>
                <a:t>F03</a:t>
              </a:r>
              <a:endParaRPr lang="en-US" sz="1200" dirty="0"/>
            </a:p>
          </p:txBody>
        </p:sp>
        <p:sp>
          <p:nvSpPr>
            <p:cNvPr id="12" name="Part 5"/>
            <p:cNvSpPr txBox="1"/>
            <p:nvPr/>
          </p:nvSpPr>
          <p:spPr>
            <a:xfrm>
              <a:off x="1508760" y="3803904"/>
              <a:ext cx="2468880" cy="402336"/>
            </a:xfrm>
            <a:prstGeom prst="rect">
              <a:avLst/>
            </a:prstGeom>
            <a:noFill/>
            <a:ln/>
          </p:spPr>
          <p:txBody>
            <a:bodyPr wrap="square" lIns="0" tIns="0" rIns="0" bIns="0" rtlCol="0" anchor="ctr"/>
            <a:lstStyle/>
            <a:p>
              <a:pPr marL="0" indent="0" algn="l">
                <a:buNone/>
              </a:pPr>
              <a:r>
                <a:rPr lang="en-US" sz="1550" b="1" dirty="0">
                  <a:solidFill>
                    <a:srgbClr val="0F2C59"/>
                  </a:solidFill>
                  <a:latin typeface="Arial" pitchFamily="34" charset="0"/>
                  <a:ea typeface="Arial" pitchFamily="34" charset="-122"/>
                  <a:cs typeface="Arial" pitchFamily="34" charset="-120"/>
                </a:rPr>
                <a:t>Chương trình đào tạo</a:t>
              </a:r>
              <a:endParaRPr lang="en-US" sz="1550" dirty="0"/>
            </a:p>
          </p:txBody>
        </p:sp>
        <p:sp>
          <p:nvSpPr>
            <p:cNvPr id="13" name="Part 6"/>
            <p:cNvSpPr txBox="1"/>
            <p:nvPr/>
          </p:nvSpPr>
          <p:spPr>
            <a:xfrm>
              <a:off x="731520" y="4297680"/>
              <a:ext cx="3108960" cy="274320"/>
            </a:xfrm>
            <a:prstGeom prst="rect">
              <a:avLst/>
            </a:prstGeom>
            <a:noFill/>
            <a:ln/>
          </p:spPr>
          <p:txBody>
            <a:bodyPr wrap="square" lIns="0" tIns="0" rIns="0" bIns="0" rtlCol="0" anchor="t"/>
            <a:lstStyle/>
            <a:p>
              <a:pPr marL="0" indent="0" algn="l">
                <a:buNone/>
              </a:pPr>
              <a:r>
                <a:rPr lang="en-US" sz="1100" dirty="0">
                  <a:solidFill>
                    <a:srgbClr val="8A6510"/>
                  </a:solidFill>
                  <a:latin typeface="Consolas" pitchFamily="34" charset="0"/>
                  <a:ea typeface="Consolas" pitchFamily="34" charset="-122"/>
                  <a:cs typeface="Consolas" pitchFamily="34" charset="-120"/>
                </a:rPr>
                <a:t>/chuong-trinh/{slug}</a:t>
              </a:r>
              <a:endParaRPr lang="en-US" sz="1100" dirty="0"/>
            </a:p>
          </p:txBody>
        </p:sp>
        <p:sp>
          <p:nvSpPr>
            <p:cNvPr id="14" name="Part 7"/>
            <p:cNvSpPr txBox="1"/>
            <p:nvPr/>
          </p:nvSpPr>
          <p:spPr>
            <a:xfrm>
              <a:off x="731520" y="4663440"/>
              <a:ext cx="3154680" cy="11430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374151"/>
                  </a:solidFill>
                  <a:latin typeface="Arial" pitchFamily="34" charset="0"/>
                  <a:ea typeface="Arial" pitchFamily="34" charset="-122"/>
                  <a:cs typeface="Arial" pitchFamily="34" charset="-120"/>
                </a:rPr>
                <a:t>Danh sách có icon, mô tả, ảnh</a:t>
              </a:r>
              <a:endParaRPr lang="en-US" sz="1300" dirty="0"/>
            </a:p>
            <a:p>
              <a:pPr marL="203200" indent="-203200">
                <a:spcAft>
                  <a:spcPts val="600"/>
                </a:spcAft>
                <a:buSzPct val="100000"/>
                <a:buChar char="•"/>
              </a:pPr>
              <a:r>
                <a:rPr lang="en-US" sz="1300" dirty="0">
                  <a:solidFill>
                    <a:srgbClr val="374151"/>
                  </a:solidFill>
                  <a:latin typeface="Arial" pitchFamily="34" charset="0"/>
                  <a:ea typeface="Arial" pitchFamily="34" charset="-122"/>
                  <a:cs typeface="Arial" pitchFamily="34" charset="-120"/>
                </a:rPr>
                <a:t>Chi tiết hiển thị nội dung theo slug</a:t>
              </a:r>
              <a:endParaRPr lang="en-US" sz="1300" dirty="0"/>
            </a:p>
            <a:p>
              <a:pPr marL="203200" indent="-203200">
                <a:spcAft>
                  <a:spcPts val="600"/>
                </a:spcAft>
                <a:buSzPct val="100000"/>
                <a:buChar char="•"/>
              </a:pPr>
              <a:r>
                <a:rPr lang="en-US" sz="1300" dirty="0">
                  <a:solidFill>
                    <a:srgbClr val="374151"/>
                  </a:solidFill>
                  <a:latin typeface="Arial" pitchFamily="34" charset="0"/>
                  <a:ea typeface="Arial" pitchFamily="34" charset="-122"/>
                  <a:cs typeface="Arial" pitchFamily="34" charset="-120"/>
                </a:rPr>
                <a:t>Chỉ hiện chương trình đang bật</a:t>
              </a:r>
              <a:endParaRPr lang="en-US" sz="1300" dirty="0"/>
            </a:p>
          </p:txBody>
        </p:sp>
      </p:grpSp>
      <p:grpSp>
        <p:nvGrpSpPr>
          <p:cNvPr id="30" name="Group 8">
            <a:extLst>
              <a:ext uri="{FF2B5EF4-FFF2-40B4-BE49-F238E27FC236}">
                <a16:creationId xmlns:a16="http://schemas.microsoft.com/office/drawing/2014/main" id="{44C9EA22-7F15-42CA-3525-7F683E9E5D83}"/>
              </a:ext>
            </a:extLst>
          </p:cNvPr>
          <p:cNvGrpSpPr/>
          <p:nvPr/>
        </p:nvGrpSpPr>
        <p:grpSpPr>
          <a:xfrm>
            <a:off x="4334256" y="1600200"/>
            <a:ext cx="3520440" cy="4297680"/>
            <a:chOff x="4334256" y="1600200"/>
            <a:chExt cx="3520440" cy="4297680"/>
          </a:xfrm>
        </p:grpSpPr>
        <p:sp>
          <p:nvSpPr>
            <p:cNvPr id="15" name="Part 1"/>
            <p:cNvSpPr/>
            <p:nvPr/>
          </p:nvSpPr>
          <p:spPr>
            <a:xfrm>
              <a:off x="4334256" y="1600200"/>
              <a:ext cx="3520440" cy="4297680"/>
            </a:xfrm>
            <a:prstGeom prst="roundRect">
              <a:avLst>
                <a:gd name="adj" fmla="val 3117"/>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pic>
          <p:nvPicPr>
            <p:cNvPr id="16" name="Part 2" descr="Trang tin tức"/>
            <p:cNvPicPr>
              <a:picLocks noChangeAspect="1"/>
            </p:cNvPicPr>
            <p:nvPr/>
          </p:nvPicPr>
          <p:blipFill>
            <a:blip r:embed="rId4"/>
            <a:stretch>
              <a:fillRect/>
            </a:stretch>
          </p:blipFill>
          <p:spPr>
            <a:xfrm>
              <a:off x="4471416" y="1737360"/>
              <a:ext cx="3246120" cy="1869948"/>
            </a:xfrm>
            <a:prstGeom prst="rect">
              <a:avLst/>
            </a:prstGeom>
          </p:spPr>
        </p:pic>
        <p:sp>
          <p:nvSpPr>
            <p:cNvPr id="17" name="Part 3"/>
            <p:cNvSpPr/>
            <p:nvPr/>
          </p:nvSpPr>
          <p:spPr>
            <a:xfrm>
              <a:off x="4517136" y="3840480"/>
              <a:ext cx="658368" cy="329184"/>
            </a:xfrm>
            <a:prstGeom prst="roundRect">
              <a:avLst>
                <a:gd name="adj" fmla="val 50000"/>
              </a:avLst>
            </a:prstGeom>
            <a:solidFill>
              <a:srgbClr val="E5B53A"/>
            </a:solidFill>
            <a:ln/>
          </p:spPr>
        </p:sp>
        <p:sp>
          <p:nvSpPr>
            <p:cNvPr id="18" name="Part 4"/>
            <p:cNvSpPr txBox="1"/>
            <p:nvPr/>
          </p:nvSpPr>
          <p:spPr>
            <a:xfrm>
              <a:off x="4517136" y="3840480"/>
              <a:ext cx="658368" cy="329184"/>
            </a:xfrm>
            <a:prstGeom prst="rect">
              <a:avLst/>
            </a:prstGeom>
            <a:noFill/>
            <a:ln/>
          </p:spPr>
          <p:txBody>
            <a:bodyPr wrap="square" lIns="0" tIns="0" rIns="0" bIns="0" rtlCol="0" anchor="ctr"/>
            <a:lstStyle/>
            <a:p>
              <a:pPr marL="0" indent="0" algn="ctr">
                <a:buNone/>
              </a:pPr>
              <a:r>
                <a:rPr lang="en-US" sz="1200" b="1" dirty="0">
                  <a:solidFill>
                    <a:srgbClr val="0F2C59"/>
                  </a:solidFill>
                  <a:latin typeface="Arial" pitchFamily="34" charset="0"/>
                  <a:ea typeface="Arial" pitchFamily="34" charset="-122"/>
                  <a:cs typeface="Arial" pitchFamily="34" charset="-120"/>
                </a:rPr>
                <a:t>F04</a:t>
              </a:r>
              <a:endParaRPr lang="en-US" sz="1200" dirty="0"/>
            </a:p>
          </p:txBody>
        </p:sp>
        <p:sp>
          <p:nvSpPr>
            <p:cNvPr id="19" name="Part 5"/>
            <p:cNvSpPr txBox="1"/>
            <p:nvPr/>
          </p:nvSpPr>
          <p:spPr>
            <a:xfrm>
              <a:off x="5294376" y="3803904"/>
              <a:ext cx="2468880" cy="402336"/>
            </a:xfrm>
            <a:prstGeom prst="rect">
              <a:avLst/>
            </a:prstGeom>
            <a:noFill/>
            <a:ln/>
          </p:spPr>
          <p:txBody>
            <a:bodyPr wrap="square" lIns="0" tIns="0" rIns="0" bIns="0" rtlCol="0" anchor="ctr"/>
            <a:lstStyle/>
            <a:p>
              <a:pPr marL="0" indent="0" algn="l">
                <a:buNone/>
              </a:pPr>
              <a:r>
                <a:rPr lang="en-US" sz="1550" b="1" dirty="0">
                  <a:solidFill>
                    <a:srgbClr val="0F2C59"/>
                  </a:solidFill>
                  <a:latin typeface="Arial" pitchFamily="34" charset="0"/>
                  <a:ea typeface="Arial" pitchFamily="34" charset="-122"/>
                  <a:cs typeface="Arial" pitchFamily="34" charset="-120"/>
                </a:rPr>
                <a:t>Tin tức – hoạt động</a:t>
              </a:r>
              <a:endParaRPr lang="en-US" sz="1550" dirty="0"/>
            </a:p>
          </p:txBody>
        </p:sp>
        <p:sp>
          <p:nvSpPr>
            <p:cNvPr id="20" name="Part 6"/>
            <p:cNvSpPr txBox="1"/>
            <p:nvPr/>
          </p:nvSpPr>
          <p:spPr>
            <a:xfrm>
              <a:off x="4517136" y="4297680"/>
              <a:ext cx="3108960" cy="274320"/>
            </a:xfrm>
            <a:prstGeom prst="rect">
              <a:avLst/>
            </a:prstGeom>
            <a:noFill/>
            <a:ln/>
          </p:spPr>
          <p:txBody>
            <a:bodyPr wrap="square" lIns="0" tIns="0" rIns="0" bIns="0" rtlCol="0" anchor="t"/>
            <a:lstStyle/>
            <a:p>
              <a:pPr marL="0" indent="0" algn="l">
                <a:buNone/>
              </a:pPr>
              <a:r>
                <a:rPr lang="en-US" sz="1100" dirty="0">
                  <a:solidFill>
                    <a:srgbClr val="8A6510"/>
                  </a:solidFill>
                  <a:latin typeface="Consolas" pitchFamily="34" charset="0"/>
                  <a:ea typeface="Consolas" pitchFamily="34" charset="-122"/>
                  <a:cs typeface="Consolas" pitchFamily="34" charset="-120"/>
                </a:rPr>
                <a:t>/tin-tuc?page=</a:t>
              </a:r>
              <a:endParaRPr lang="en-US" sz="1100" dirty="0"/>
            </a:p>
          </p:txBody>
        </p:sp>
        <p:sp>
          <p:nvSpPr>
            <p:cNvPr id="21" name="Part 7"/>
            <p:cNvSpPr txBox="1"/>
            <p:nvPr/>
          </p:nvSpPr>
          <p:spPr>
            <a:xfrm>
              <a:off x="4517136" y="4663440"/>
              <a:ext cx="3154680" cy="11430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374151"/>
                  </a:solidFill>
                  <a:latin typeface="Arial" pitchFamily="34" charset="0"/>
                  <a:ea typeface="Arial" pitchFamily="34" charset="-122"/>
                  <a:cs typeface="Arial" pitchFamily="34" charset="-120"/>
                </a:rPr>
                <a:t>Lưới thẻ tin, có phân trang</a:t>
              </a:r>
              <a:endParaRPr lang="en-US" sz="1300" dirty="0"/>
            </a:p>
            <a:p>
              <a:pPr marL="203200" indent="-203200">
                <a:spcAft>
                  <a:spcPts val="600"/>
                </a:spcAft>
                <a:buSzPct val="100000"/>
                <a:buChar char="•"/>
              </a:pPr>
              <a:r>
                <a:rPr lang="en-US" sz="1300" dirty="0">
                  <a:solidFill>
                    <a:srgbClr val="374151"/>
                  </a:solidFill>
                  <a:latin typeface="Arial" pitchFamily="34" charset="0"/>
                  <a:ea typeface="Arial" pitchFamily="34" charset="-122"/>
                  <a:cs typeface="Arial" pitchFamily="34" charset="-120"/>
                </a:rPr>
                <a:t>Chi tiết có lượt xem, tin liên quan</a:t>
              </a:r>
              <a:endParaRPr lang="en-US" sz="1300" dirty="0"/>
            </a:p>
            <a:p>
              <a:pPr marL="203200" indent="-203200">
                <a:spcAft>
                  <a:spcPts val="600"/>
                </a:spcAft>
                <a:buSzPct val="100000"/>
                <a:buChar char="•"/>
              </a:pPr>
              <a:r>
                <a:rPr lang="en-US" sz="1300" dirty="0">
                  <a:solidFill>
                    <a:srgbClr val="374151"/>
                  </a:solidFill>
                  <a:latin typeface="Arial" pitchFamily="34" charset="0"/>
                  <a:ea typeface="Arial" pitchFamily="34" charset="-122"/>
                  <a:cs typeface="Arial" pitchFamily="34" charset="-120"/>
                </a:rPr>
                <a:t>Bài nháp, bài hẹn giờ trả về 404</a:t>
              </a:r>
              <a:endParaRPr lang="en-US" sz="1300" dirty="0"/>
            </a:p>
          </p:txBody>
        </p:sp>
      </p:grpSp>
      <p:grpSp>
        <p:nvGrpSpPr>
          <p:cNvPr id="31" name="Group 9">
            <a:extLst>
              <a:ext uri="{FF2B5EF4-FFF2-40B4-BE49-F238E27FC236}">
                <a16:creationId xmlns:a16="http://schemas.microsoft.com/office/drawing/2014/main" id="{A7F910CA-545D-4B57-F2FD-75D95DF0E91F}"/>
              </a:ext>
            </a:extLst>
          </p:cNvPr>
          <p:cNvGrpSpPr/>
          <p:nvPr/>
        </p:nvGrpSpPr>
        <p:grpSpPr>
          <a:xfrm>
            <a:off x="8119872" y="1600200"/>
            <a:ext cx="3520440" cy="4297680"/>
            <a:chOff x="8119872" y="1600200"/>
            <a:chExt cx="3520440" cy="4297680"/>
          </a:xfrm>
        </p:grpSpPr>
        <p:sp>
          <p:nvSpPr>
            <p:cNvPr id="22" name="Part 1"/>
            <p:cNvSpPr/>
            <p:nvPr/>
          </p:nvSpPr>
          <p:spPr>
            <a:xfrm>
              <a:off x="8119872" y="1600200"/>
              <a:ext cx="3520440" cy="4297680"/>
            </a:xfrm>
            <a:prstGeom prst="roundRect">
              <a:avLst>
                <a:gd name="adj" fmla="val 3117"/>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pic>
          <p:nvPicPr>
            <p:cNvPr id="23" name="Part 2" descr="Trang thư viện hình ảnh"/>
            <p:cNvPicPr>
              <a:picLocks noChangeAspect="1"/>
            </p:cNvPicPr>
            <p:nvPr/>
          </p:nvPicPr>
          <p:blipFill>
            <a:blip r:embed="rId5"/>
            <a:stretch>
              <a:fillRect/>
            </a:stretch>
          </p:blipFill>
          <p:spPr>
            <a:xfrm>
              <a:off x="8257032" y="1737360"/>
              <a:ext cx="3246120" cy="1869948"/>
            </a:xfrm>
            <a:prstGeom prst="rect">
              <a:avLst/>
            </a:prstGeom>
          </p:spPr>
        </p:pic>
        <p:sp>
          <p:nvSpPr>
            <p:cNvPr id="24" name="Part 3"/>
            <p:cNvSpPr/>
            <p:nvPr/>
          </p:nvSpPr>
          <p:spPr>
            <a:xfrm>
              <a:off x="8302752" y="3840480"/>
              <a:ext cx="658368" cy="329184"/>
            </a:xfrm>
            <a:prstGeom prst="roundRect">
              <a:avLst>
                <a:gd name="adj" fmla="val 50000"/>
              </a:avLst>
            </a:prstGeom>
            <a:solidFill>
              <a:srgbClr val="E5B53A"/>
            </a:solidFill>
            <a:ln/>
          </p:spPr>
        </p:sp>
        <p:sp>
          <p:nvSpPr>
            <p:cNvPr id="25" name="Part 4"/>
            <p:cNvSpPr txBox="1"/>
            <p:nvPr/>
          </p:nvSpPr>
          <p:spPr>
            <a:xfrm>
              <a:off x="8302752" y="3840480"/>
              <a:ext cx="658368" cy="329184"/>
            </a:xfrm>
            <a:prstGeom prst="rect">
              <a:avLst/>
            </a:prstGeom>
            <a:noFill/>
            <a:ln/>
          </p:spPr>
          <p:txBody>
            <a:bodyPr wrap="square" lIns="0" tIns="0" rIns="0" bIns="0" rtlCol="0" anchor="ctr"/>
            <a:lstStyle/>
            <a:p>
              <a:pPr marL="0" indent="0" algn="ctr">
                <a:buNone/>
              </a:pPr>
              <a:r>
                <a:rPr lang="en-US" sz="1200" b="1" dirty="0">
                  <a:solidFill>
                    <a:srgbClr val="0F2C59"/>
                  </a:solidFill>
                  <a:latin typeface="Arial" pitchFamily="34" charset="0"/>
                  <a:ea typeface="Arial" pitchFamily="34" charset="-122"/>
                  <a:cs typeface="Arial" pitchFamily="34" charset="-120"/>
                </a:rPr>
                <a:t>F02</a:t>
              </a:r>
              <a:endParaRPr lang="en-US" sz="1200" dirty="0"/>
            </a:p>
          </p:txBody>
        </p:sp>
        <p:sp>
          <p:nvSpPr>
            <p:cNvPr id="26" name="Part 5"/>
            <p:cNvSpPr txBox="1"/>
            <p:nvPr/>
          </p:nvSpPr>
          <p:spPr>
            <a:xfrm>
              <a:off x="9079992" y="3803904"/>
              <a:ext cx="2468880" cy="402336"/>
            </a:xfrm>
            <a:prstGeom prst="rect">
              <a:avLst/>
            </a:prstGeom>
            <a:noFill/>
            <a:ln/>
          </p:spPr>
          <p:txBody>
            <a:bodyPr wrap="square" lIns="0" tIns="0" rIns="0" bIns="0" rtlCol="0" anchor="ctr"/>
            <a:lstStyle/>
            <a:p>
              <a:pPr marL="0" indent="0" algn="l">
                <a:buNone/>
              </a:pPr>
              <a:r>
                <a:rPr lang="en-US" sz="1550" b="1" dirty="0">
                  <a:solidFill>
                    <a:srgbClr val="0F2C59"/>
                  </a:solidFill>
                  <a:latin typeface="Arial" pitchFamily="34" charset="0"/>
                  <a:ea typeface="Arial" pitchFamily="34" charset="-122"/>
                  <a:cs typeface="Arial" pitchFamily="34" charset="-120"/>
                </a:rPr>
                <a:t>Thư viện hình ảnh</a:t>
              </a:r>
              <a:endParaRPr lang="en-US" sz="1550" dirty="0"/>
            </a:p>
          </p:txBody>
        </p:sp>
        <p:sp>
          <p:nvSpPr>
            <p:cNvPr id="27" name="Part 6"/>
            <p:cNvSpPr txBox="1"/>
            <p:nvPr/>
          </p:nvSpPr>
          <p:spPr>
            <a:xfrm>
              <a:off x="8302752" y="4297680"/>
              <a:ext cx="3108960" cy="274320"/>
            </a:xfrm>
            <a:prstGeom prst="rect">
              <a:avLst/>
            </a:prstGeom>
            <a:noFill/>
            <a:ln/>
          </p:spPr>
          <p:txBody>
            <a:bodyPr wrap="square" lIns="0" tIns="0" rIns="0" bIns="0" rtlCol="0" anchor="t"/>
            <a:lstStyle/>
            <a:p>
              <a:pPr marL="0" indent="0" algn="l">
                <a:buNone/>
              </a:pPr>
              <a:r>
                <a:rPr lang="en-US" sz="1100" dirty="0">
                  <a:solidFill>
                    <a:srgbClr val="8A6510"/>
                  </a:solidFill>
                  <a:latin typeface="Consolas" pitchFamily="34" charset="0"/>
                  <a:ea typeface="Consolas" pitchFamily="34" charset="-122"/>
                  <a:cs typeface="Consolas" pitchFamily="34" charset="-120"/>
                </a:rPr>
                <a:t>/hinh-anh?album=</a:t>
              </a:r>
              <a:endParaRPr lang="en-US" sz="1100" dirty="0"/>
            </a:p>
          </p:txBody>
        </p:sp>
        <p:sp>
          <p:nvSpPr>
            <p:cNvPr id="28" name="Part 7"/>
            <p:cNvSpPr txBox="1"/>
            <p:nvPr/>
          </p:nvSpPr>
          <p:spPr>
            <a:xfrm>
              <a:off x="8302752" y="4663440"/>
              <a:ext cx="3154680" cy="11430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374151"/>
                  </a:solidFill>
                  <a:latin typeface="Arial" pitchFamily="34" charset="0"/>
                  <a:ea typeface="Arial" pitchFamily="34" charset="-122"/>
                  <a:cs typeface="Arial" pitchFamily="34" charset="-120"/>
                </a:rPr>
                <a:t>Lưới ảnh 4 cột</a:t>
              </a:r>
              <a:endParaRPr lang="en-US" sz="1300" dirty="0"/>
            </a:p>
            <a:p>
              <a:pPr marL="203200" indent="-203200">
                <a:spcAft>
                  <a:spcPts val="600"/>
                </a:spcAft>
                <a:buSzPct val="100000"/>
                <a:buChar char="•"/>
              </a:pPr>
              <a:r>
                <a:rPr lang="en-US" sz="1300" dirty="0">
                  <a:solidFill>
                    <a:srgbClr val="374151"/>
                  </a:solidFill>
                  <a:latin typeface="Arial" pitchFamily="34" charset="0"/>
                  <a:ea typeface="Arial" pitchFamily="34" charset="-122"/>
                  <a:cs typeface="Arial" pitchFamily="34" charset="-120"/>
                </a:rPr>
                <a:t>Lọc theo album</a:t>
              </a:r>
              <a:endParaRPr lang="en-US" sz="1300" dirty="0"/>
            </a:p>
            <a:p>
              <a:pPr marL="203200" indent="-203200">
                <a:spcAft>
                  <a:spcPts val="600"/>
                </a:spcAft>
                <a:buSzPct val="100000"/>
                <a:buChar char="•"/>
              </a:pPr>
              <a:r>
                <a:rPr lang="en-US" sz="1300" dirty="0">
                  <a:solidFill>
                    <a:srgbClr val="374151"/>
                  </a:solidFill>
                  <a:latin typeface="Arial" pitchFamily="34" charset="0"/>
                  <a:ea typeface="Arial" pitchFamily="34" charset="-122"/>
                  <a:cs typeface="Arial" pitchFamily="34" charset="-120"/>
                </a:rPr>
                <a:t>Bấm ảnh mở lightbox phóng to</a:t>
              </a:r>
              <a:endParaRPr lang="en-US" sz="130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50"/>
                                        <p:tgtEl>
                                          <p:spTgt spid="29"/>
                                        </p:tgtEl>
                                      </p:cBhvr>
                                    </p:animEffect>
                                    <p:anim calcmode="lin" valueType="num">
                                      <p:cBhvr>
                                        <p:cTn id="8" dur="550" fill="hold"/>
                                        <p:tgtEl>
                                          <p:spTgt spid="29"/>
                                        </p:tgtEl>
                                        <p:attrNameLst>
                                          <p:attrName>ppt_x</p:attrName>
                                        </p:attrNameLst>
                                      </p:cBhvr>
                                      <p:tavLst>
                                        <p:tav tm="0">
                                          <p:val>
                                            <p:strVal val="#ppt_x"/>
                                          </p:val>
                                        </p:tav>
                                        <p:tav tm="100000">
                                          <p:val>
                                            <p:strVal val="#ppt_x"/>
                                          </p:val>
                                        </p:tav>
                                      </p:tavLst>
                                    </p:anim>
                                    <p:anim calcmode="lin" valueType="num">
                                      <p:cBhvr>
                                        <p:cTn id="9" dur="550" fill="hold"/>
                                        <p:tgtEl>
                                          <p:spTgt spid="2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50"/>
                                        <p:tgtEl>
                                          <p:spTgt spid="30"/>
                                        </p:tgtEl>
                                      </p:cBhvr>
                                    </p:animEffect>
                                    <p:anim calcmode="lin" valueType="num">
                                      <p:cBhvr>
                                        <p:cTn id="13" dur="550" fill="hold"/>
                                        <p:tgtEl>
                                          <p:spTgt spid="30"/>
                                        </p:tgtEl>
                                        <p:attrNameLst>
                                          <p:attrName>ppt_x</p:attrName>
                                        </p:attrNameLst>
                                      </p:cBhvr>
                                      <p:tavLst>
                                        <p:tav tm="0">
                                          <p:val>
                                            <p:strVal val="#ppt_x"/>
                                          </p:val>
                                        </p:tav>
                                        <p:tav tm="100000">
                                          <p:val>
                                            <p:strVal val="#ppt_x"/>
                                          </p:val>
                                        </p:tav>
                                      </p:tavLst>
                                    </p:anim>
                                    <p:anim calcmode="lin" valueType="num">
                                      <p:cBhvr>
                                        <p:cTn id="14" dur="55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4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50"/>
                                        <p:tgtEl>
                                          <p:spTgt spid="31"/>
                                        </p:tgtEl>
                                      </p:cBhvr>
                                    </p:animEffect>
                                    <p:anim calcmode="lin" valueType="num">
                                      <p:cBhvr>
                                        <p:cTn id="18" dur="550" fill="hold"/>
                                        <p:tgtEl>
                                          <p:spTgt spid="31"/>
                                        </p:tgtEl>
                                        <p:attrNameLst>
                                          <p:attrName>ppt_x</p:attrName>
                                        </p:attrNameLst>
                                      </p:cBhvr>
                                      <p:tavLst>
                                        <p:tav tm="0">
                                          <p:val>
                                            <p:strVal val="#ppt_x"/>
                                          </p:val>
                                        </p:tav>
                                        <p:tav tm="100000">
                                          <p:val>
                                            <p:strVal val="#ppt_x"/>
                                          </p:val>
                                        </p:tav>
                                      </p:tavLst>
                                    </p:anim>
                                    <p:anim calcmode="lin" valueType="num">
                                      <p:cBhvr>
                                        <p:cTn id="19" dur="55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Đăng ký nhập học trực tuyến</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Form 4 nhóm thông tin, kiểm tra phía máy chủ, giữ lại dữ liệu khi báo lỗi</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04 · KẾT QUẢ</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13 / 18</a:t>
            </a:r>
            <a:endParaRPr lang="en-US" sz="1000" dirty="0"/>
          </a:p>
        </p:txBody>
      </p:sp>
      <p:grpSp>
        <p:nvGrpSpPr>
          <p:cNvPr id="27" name="Group 7">
            <a:extLst>
              <a:ext uri="{FF2B5EF4-FFF2-40B4-BE49-F238E27FC236}">
                <a16:creationId xmlns:a16="http://schemas.microsoft.com/office/drawing/2014/main" id="{CD88AB4E-025E-03D9-9D6B-FF98151202C1}"/>
              </a:ext>
            </a:extLst>
          </p:cNvPr>
          <p:cNvGrpSpPr/>
          <p:nvPr/>
        </p:nvGrpSpPr>
        <p:grpSpPr>
          <a:xfrm>
            <a:off x="548640" y="1572768"/>
            <a:ext cx="4956048" cy="329184"/>
            <a:chOff x="548640" y="1572768"/>
            <a:chExt cx="4956048" cy="329184"/>
          </a:xfrm>
        </p:grpSpPr>
        <p:sp>
          <p:nvSpPr>
            <p:cNvPr id="8" name="Part 1"/>
            <p:cNvSpPr/>
            <p:nvPr/>
          </p:nvSpPr>
          <p:spPr>
            <a:xfrm>
              <a:off x="548640" y="1572768"/>
              <a:ext cx="822960" cy="329184"/>
            </a:xfrm>
            <a:prstGeom prst="roundRect">
              <a:avLst>
                <a:gd name="adj" fmla="val 50000"/>
              </a:avLst>
            </a:prstGeom>
            <a:solidFill>
              <a:srgbClr val="FEE2E2"/>
            </a:solidFill>
            <a:ln/>
          </p:spPr>
        </p:sp>
        <p:sp>
          <p:nvSpPr>
            <p:cNvPr id="9" name="Part 2"/>
            <p:cNvSpPr txBox="1"/>
            <p:nvPr/>
          </p:nvSpPr>
          <p:spPr>
            <a:xfrm>
              <a:off x="548640" y="1572768"/>
              <a:ext cx="822960" cy="329184"/>
            </a:xfrm>
            <a:prstGeom prst="rect">
              <a:avLst/>
            </a:prstGeom>
            <a:noFill/>
            <a:ln/>
          </p:spPr>
          <p:txBody>
            <a:bodyPr wrap="square" lIns="0" tIns="0" rIns="0" bIns="0" rtlCol="0" anchor="ctr"/>
            <a:lstStyle/>
            <a:p>
              <a:pPr marL="0" indent="0" algn="ctr">
                <a:buNone/>
              </a:pPr>
              <a:r>
                <a:rPr lang="en-US" sz="1150" b="1" dirty="0">
                  <a:solidFill>
                    <a:srgbClr val="B91C1C"/>
                  </a:solidFill>
                  <a:latin typeface="Arial" pitchFamily="34" charset="0"/>
                  <a:ea typeface="Arial" pitchFamily="34" charset="-122"/>
                  <a:cs typeface="Arial" pitchFamily="34" charset="-120"/>
                </a:rPr>
                <a:t>TC04</a:t>
              </a:r>
              <a:endParaRPr lang="en-US" sz="1150" dirty="0"/>
            </a:p>
          </p:txBody>
        </p:sp>
        <p:sp>
          <p:nvSpPr>
            <p:cNvPr id="10" name="Part 3"/>
            <p:cNvSpPr txBox="1"/>
            <p:nvPr/>
          </p:nvSpPr>
          <p:spPr>
            <a:xfrm>
              <a:off x="1481328" y="1572768"/>
              <a:ext cx="4023360" cy="329184"/>
            </a:xfrm>
            <a:prstGeom prst="rect">
              <a:avLst/>
            </a:prstGeom>
            <a:noFill/>
            <a:ln/>
          </p:spPr>
          <p:txBody>
            <a:bodyPr wrap="square" lIns="0" tIns="0" rIns="0" bIns="0" rtlCol="0" anchor="ctr"/>
            <a:lstStyle/>
            <a:p>
              <a:pPr marL="0" indent="0" algn="l">
                <a:buNone/>
              </a:pPr>
              <a:r>
                <a:rPr lang="en-US" sz="1350" b="1" dirty="0">
                  <a:solidFill>
                    <a:srgbClr val="0F2C59"/>
                  </a:solidFill>
                  <a:latin typeface="Arial" pitchFamily="34" charset="0"/>
                  <a:ea typeface="Arial" pitchFamily="34" charset="-122"/>
                  <a:cs typeface="Arial" pitchFamily="34" charset="-120"/>
                </a:rPr>
                <a:t>Thiếu hoặc sai email → báo lỗi, giữ dữ liệu</a:t>
              </a:r>
              <a:endParaRPr lang="en-US" sz="1350" dirty="0"/>
            </a:p>
          </p:txBody>
        </p:sp>
      </p:grpSp>
      <p:grpSp>
        <p:nvGrpSpPr>
          <p:cNvPr id="28" name="Group 8">
            <a:extLst>
              <a:ext uri="{FF2B5EF4-FFF2-40B4-BE49-F238E27FC236}">
                <a16:creationId xmlns:a16="http://schemas.microsoft.com/office/drawing/2014/main" id="{4F52DFB5-38E0-A35A-628C-3859D678D885}"/>
              </a:ext>
            </a:extLst>
          </p:cNvPr>
          <p:cNvGrpSpPr/>
          <p:nvPr/>
        </p:nvGrpSpPr>
        <p:grpSpPr>
          <a:xfrm>
            <a:off x="502920" y="2011680"/>
            <a:ext cx="4983480" cy="3922776"/>
            <a:chOff x="502920" y="2011680"/>
            <a:chExt cx="4983480" cy="3922776"/>
          </a:xfrm>
        </p:grpSpPr>
        <p:sp>
          <p:nvSpPr>
            <p:cNvPr id="11" name="Part 1"/>
            <p:cNvSpPr/>
            <p:nvPr/>
          </p:nvSpPr>
          <p:spPr>
            <a:xfrm>
              <a:off x="502920" y="2011680"/>
              <a:ext cx="4983480" cy="3922776"/>
            </a:xfrm>
            <a:prstGeom prst="roundRect">
              <a:avLst>
                <a:gd name="adj" fmla="val 3263"/>
              </a:avLst>
            </a:prstGeom>
            <a:solidFill>
              <a:srgbClr val="FFFFFF"/>
            </a:solidFill>
            <a:ln/>
            <a:effectLst>
              <a:outerShdw blurRad="127000" dist="38100" dir="5400000" algn="bl" rotWithShape="0">
                <a:srgbClr val="0F2C59">
                  <a:alpha val="12000"/>
                </a:srgbClr>
              </a:outerShdw>
            </a:effectLst>
          </p:spPr>
        </p:sp>
        <p:pic>
          <p:nvPicPr>
            <p:cNvPr id="12" name="Part 2" descr="Form đăng ký báo lỗi thiếu email"/>
            <p:cNvPicPr>
              <a:picLocks noChangeAspect="1"/>
            </p:cNvPicPr>
            <p:nvPr/>
          </p:nvPicPr>
          <p:blipFill>
            <a:blip r:embed="rId3"/>
            <a:stretch>
              <a:fillRect/>
            </a:stretch>
          </p:blipFill>
          <p:spPr>
            <a:xfrm>
              <a:off x="548640" y="2057400"/>
              <a:ext cx="4892040" cy="3831336"/>
            </a:xfrm>
            <a:prstGeom prst="rect">
              <a:avLst/>
            </a:prstGeom>
          </p:spPr>
        </p:pic>
      </p:grpSp>
      <p:grpSp>
        <p:nvGrpSpPr>
          <p:cNvPr id="29" name="Group 9">
            <a:extLst>
              <a:ext uri="{FF2B5EF4-FFF2-40B4-BE49-F238E27FC236}">
                <a16:creationId xmlns:a16="http://schemas.microsoft.com/office/drawing/2014/main" id="{F6EEE8B3-6839-5500-328F-55B52C5E7515}"/>
              </a:ext>
            </a:extLst>
          </p:cNvPr>
          <p:cNvGrpSpPr/>
          <p:nvPr/>
        </p:nvGrpSpPr>
        <p:grpSpPr>
          <a:xfrm>
            <a:off x="5852160" y="1572768"/>
            <a:ext cx="822960" cy="329184"/>
            <a:chOff x="5852160" y="1572768"/>
            <a:chExt cx="822960" cy="329184"/>
          </a:xfrm>
        </p:grpSpPr>
        <p:sp>
          <p:nvSpPr>
            <p:cNvPr id="13" name="Part 1"/>
            <p:cNvSpPr/>
            <p:nvPr/>
          </p:nvSpPr>
          <p:spPr>
            <a:xfrm>
              <a:off x="5852160" y="1572768"/>
              <a:ext cx="822960" cy="329184"/>
            </a:xfrm>
            <a:prstGeom prst="roundRect">
              <a:avLst>
                <a:gd name="adj" fmla="val 50000"/>
              </a:avLst>
            </a:prstGeom>
            <a:solidFill>
              <a:srgbClr val="DCFCE7"/>
            </a:solidFill>
            <a:ln/>
          </p:spPr>
        </p:sp>
        <p:sp>
          <p:nvSpPr>
            <p:cNvPr id="14" name="Part 2"/>
            <p:cNvSpPr txBox="1"/>
            <p:nvPr/>
          </p:nvSpPr>
          <p:spPr>
            <a:xfrm>
              <a:off x="5852160" y="1572768"/>
              <a:ext cx="822960" cy="329184"/>
            </a:xfrm>
            <a:prstGeom prst="rect">
              <a:avLst/>
            </a:prstGeom>
            <a:noFill/>
            <a:ln/>
          </p:spPr>
          <p:txBody>
            <a:bodyPr wrap="square" lIns="0" tIns="0" rIns="0" bIns="0" rtlCol="0" anchor="ctr"/>
            <a:lstStyle/>
            <a:p>
              <a:pPr marL="0" indent="0" algn="ctr">
                <a:buNone/>
              </a:pPr>
              <a:r>
                <a:rPr lang="en-US" sz="1150" b="1" dirty="0">
                  <a:solidFill>
                    <a:srgbClr val="15803D"/>
                  </a:solidFill>
                  <a:latin typeface="Arial" pitchFamily="34" charset="0"/>
                  <a:ea typeface="Arial" pitchFamily="34" charset="-122"/>
                  <a:cs typeface="Arial" pitchFamily="34" charset="-120"/>
                </a:rPr>
                <a:t>TC03</a:t>
              </a:r>
              <a:endParaRPr lang="en-US" sz="1150" dirty="0"/>
            </a:p>
          </p:txBody>
        </p:sp>
      </p:grpSp>
      <p:sp>
        <p:nvSpPr>
          <p:cNvPr id="15" name="Shape 10"/>
          <p:cNvSpPr txBox="1"/>
          <p:nvPr/>
        </p:nvSpPr>
        <p:spPr>
          <a:xfrm>
            <a:off x="6784848" y="1572768"/>
            <a:ext cx="4846320" cy="329184"/>
          </a:xfrm>
          <a:prstGeom prst="rect">
            <a:avLst/>
          </a:prstGeom>
          <a:noFill/>
          <a:ln/>
        </p:spPr>
        <p:txBody>
          <a:bodyPr wrap="square" lIns="0" tIns="0" rIns="0" bIns="0" rtlCol="0" anchor="ctr"/>
          <a:lstStyle/>
          <a:p>
            <a:pPr marL="0" indent="0" algn="l">
              <a:buNone/>
            </a:pPr>
            <a:r>
              <a:rPr lang="en-US" sz="1350" b="1" dirty="0">
                <a:solidFill>
                  <a:srgbClr val="0F2C59"/>
                </a:solidFill>
                <a:latin typeface="Arial" pitchFamily="34" charset="0"/>
                <a:ea typeface="Arial" pitchFamily="34" charset="-122"/>
                <a:cs typeface="Arial" pitchFamily="34" charset="-120"/>
              </a:rPr>
              <a:t>Dữ liệu hợp lệ → lưu hồ sơ trạng thái “moi”</a:t>
            </a:r>
            <a:endParaRPr lang="en-US" sz="1350" dirty="0"/>
          </a:p>
        </p:txBody>
      </p:sp>
      <p:grpSp>
        <p:nvGrpSpPr>
          <p:cNvPr id="30" name="Group 11">
            <a:extLst>
              <a:ext uri="{FF2B5EF4-FFF2-40B4-BE49-F238E27FC236}">
                <a16:creationId xmlns:a16="http://schemas.microsoft.com/office/drawing/2014/main" id="{D41647D1-6902-70ED-BECD-FC9D9625F408}"/>
              </a:ext>
            </a:extLst>
          </p:cNvPr>
          <p:cNvGrpSpPr/>
          <p:nvPr/>
        </p:nvGrpSpPr>
        <p:grpSpPr>
          <a:xfrm>
            <a:off x="5806440" y="2011680"/>
            <a:ext cx="5879592" cy="3209544"/>
            <a:chOff x="5806440" y="2011680"/>
            <a:chExt cx="5879592" cy="3209544"/>
          </a:xfrm>
        </p:grpSpPr>
        <p:sp>
          <p:nvSpPr>
            <p:cNvPr id="16" name="Part 1"/>
            <p:cNvSpPr/>
            <p:nvPr/>
          </p:nvSpPr>
          <p:spPr>
            <a:xfrm>
              <a:off x="5806440" y="2011680"/>
              <a:ext cx="5879592" cy="3209544"/>
            </a:xfrm>
            <a:prstGeom prst="roundRect">
              <a:avLst>
                <a:gd name="adj" fmla="val 3989"/>
              </a:avLst>
            </a:prstGeom>
            <a:solidFill>
              <a:srgbClr val="FFFFFF"/>
            </a:solidFill>
            <a:ln/>
            <a:effectLst>
              <a:outerShdw blurRad="127000" dist="38100" dir="5400000" algn="bl" rotWithShape="0">
                <a:srgbClr val="0F2C59">
                  <a:alpha val="12000"/>
                </a:srgbClr>
              </a:outerShdw>
            </a:effectLst>
          </p:spPr>
        </p:sp>
        <p:pic>
          <p:nvPicPr>
            <p:cNvPr id="17" name="Part 2" descr="Thông báo gửi đăng ký thành công"/>
            <p:cNvPicPr>
              <a:picLocks noChangeAspect="1"/>
            </p:cNvPicPr>
            <p:nvPr/>
          </p:nvPicPr>
          <p:blipFill>
            <a:blip r:embed="rId4"/>
            <a:stretch>
              <a:fillRect/>
            </a:stretch>
          </p:blipFill>
          <p:spPr>
            <a:xfrm>
              <a:off x="5852160" y="2057400"/>
              <a:ext cx="5788152" cy="3118104"/>
            </a:xfrm>
            <a:prstGeom prst="rect">
              <a:avLst/>
            </a:prstGeom>
          </p:spPr>
        </p:pic>
      </p:grpSp>
      <p:sp>
        <p:nvSpPr>
          <p:cNvPr id="18" name="Shape 12"/>
          <p:cNvSpPr txBox="1"/>
          <p:nvPr/>
        </p:nvSpPr>
        <p:spPr>
          <a:xfrm>
            <a:off x="5852160" y="5394960"/>
            <a:ext cx="777240" cy="457200"/>
          </a:xfrm>
          <a:prstGeom prst="rect">
            <a:avLst/>
          </a:prstGeom>
          <a:noFill/>
          <a:ln/>
        </p:spPr>
        <p:txBody>
          <a:bodyPr wrap="square" lIns="0" tIns="0" rIns="0" bIns="0" rtlCol="0" anchor="ctr"/>
          <a:lstStyle/>
          <a:p>
            <a:pPr marL="0" indent="0" algn="l">
              <a:buNone/>
            </a:pPr>
            <a:r>
              <a:rPr lang="en-US" sz="1250" b="1" dirty="0">
                <a:solidFill>
                  <a:srgbClr val="0F2C59"/>
                </a:solidFill>
                <a:latin typeface="Arial" pitchFamily="34" charset="0"/>
                <a:ea typeface="Arial" pitchFamily="34" charset="-122"/>
                <a:cs typeface="Arial" pitchFamily="34" charset="-120"/>
              </a:rPr>
              <a:t>4 nhóm:</a:t>
            </a:r>
            <a:endParaRPr lang="en-US" sz="1250" dirty="0"/>
          </a:p>
        </p:txBody>
      </p:sp>
      <p:grpSp>
        <p:nvGrpSpPr>
          <p:cNvPr id="31" name="Group 13">
            <a:extLst>
              <a:ext uri="{FF2B5EF4-FFF2-40B4-BE49-F238E27FC236}">
                <a16:creationId xmlns:a16="http://schemas.microsoft.com/office/drawing/2014/main" id="{63EEEC9E-85CA-BE0C-A52B-54AA38BF8876}"/>
              </a:ext>
            </a:extLst>
          </p:cNvPr>
          <p:cNvGrpSpPr/>
          <p:nvPr/>
        </p:nvGrpSpPr>
        <p:grpSpPr>
          <a:xfrm>
            <a:off x="6675120" y="5422392"/>
            <a:ext cx="960120" cy="402336"/>
            <a:chOff x="6675120" y="5422392"/>
            <a:chExt cx="960120" cy="402336"/>
          </a:xfrm>
        </p:grpSpPr>
        <p:sp>
          <p:nvSpPr>
            <p:cNvPr id="19" name="Part 1"/>
            <p:cNvSpPr/>
            <p:nvPr/>
          </p:nvSpPr>
          <p:spPr>
            <a:xfrm>
              <a:off x="6675120" y="5422392"/>
              <a:ext cx="960120" cy="402336"/>
            </a:xfrm>
            <a:prstGeom prst="roundRect">
              <a:avLst>
                <a:gd name="adj" fmla="val 50000"/>
              </a:avLst>
            </a:prstGeom>
            <a:solidFill>
              <a:srgbClr val="E8EDF5"/>
            </a:solidFill>
            <a:ln/>
          </p:spPr>
        </p:sp>
        <p:sp>
          <p:nvSpPr>
            <p:cNvPr id="20" name="Part 2"/>
            <p:cNvSpPr txBox="1"/>
            <p:nvPr/>
          </p:nvSpPr>
          <p:spPr>
            <a:xfrm>
              <a:off x="6675120" y="5422392"/>
              <a:ext cx="960120" cy="402336"/>
            </a:xfrm>
            <a:prstGeom prst="rect">
              <a:avLst/>
            </a:prstGeom>
            <a:noFill/>
            <a:ln/>
          </p:spPr>
          <p:txBody>
            <a:bodyPr wrap="square" lIns="0" tIns="0" rIns="0" bIns="0" rtlCol="0" anchor="ctr"/>
            <a:lstStyle/>
            <a:p>
              <a:pPr marL="0" indent="0" algn="ctr">
                <a:buNone/>
              </a:pPr>
              <a:r>
                <a:rPr lang="en-US" sz="1150" b="1" dirty="0">
                  <a:solidFill>
                    <a:srgbClr val="0F2C59"/>
                  </a:solidFill>
                  <a:latin typeface="Arial" pitchFamily="34" charset="0"/>
                  <a:ea typeface="Arial" pitchFamily="34" charset="-122"/>
                  <a:cs typeface="Arial" pitchFamily="34" charset="-120"/>
                </a:rPr>
                <a:t>Học sinh</a:t>
              </a:r>
              <a:endParaRPr lang="en-US" sz="1150" dirty="0"/>
            </a:p>
          </p:txBody>
        </p:sp>
      </p:grpSp>
      <p:grpSp>
        <p:nvGrpSpPr>
          <p:cNvPr id="32" name="Group 14">
            <a:extLst>
              <a:ext uri="{FF2B5EF4-FFF2-40B4-BE49-F238E27FC236}">
                <a16:creationId xmlns:a16="http://schemas.microsoft.com/office/drawing/2014/main" id="{E7FF7F79-4DDD-D1CA-7310-80683BC0981C}"/>
              </a:ext>
            </a:extLst>
          </p:cNvPr>
          <p:cNvGrpSpPr/>
          <p:nvPr/>
        </p:nvGrpSpPr>
        <p:grpSpPr>
          <a:xfrm>
            <a:off x="7726680" y="5422392"/>
            <a:ext cx="1051560" cy="402336"/>
            <a:chOff x="7726680" y="5422392"/>
            <a:chExt cx="1051560" cy="402336"/>
          </a:xfrm>
        </p:grpSpPr>
        <p:sp>
          <p:nvSpPr>
            <p:cNvPr id="21" name="Part 1"/>
            <p:cNvSpPr/>
            <p:nvPr/>
          </p:nvSpPr>
          <p:spPr>
            <a:xfrm>
              <a:off x="7726680" y="5422392"/>
              <a:ext cx="1051560" cy="402336"/>
            </a:xfrm>
            <a:prstGeom prst="roundRect">
              <a:avLst>
                <a:gd name="adj" fmla="val 50000"/>
              </a:avLst>
            </a:prstGeom>
            <a:solidFill>
              <a:srgbClr val="E8EDF5"/>
            </a:solidFill>
            <a:ln/>
          </p:spPr>
        </p:sp>
        <p:sp>
          <p:nvSpPr>
            <p:cNvPr id="22" name="Part 2"/>
            <p:cNvSpPr txBox="1"/>
            <p:nvPr/>
          </p:nvSpPr>
          <p:spPr>
            <a:xfrm>
              <a:off x="7726680" y="5422392"/>
              <a:ext cx="1051560" cy="402336"/>
            </a:xfrm>
            <a:prstGeom prst="rect">
              <a:avLst/>
            </a:prstGeom>
            <a:noFill/>
            <a:ln/>
          </p:spPr>
          <p:txBody>
            <a:bodyPr wrap="square" lIns="0" tIns="0" rIns="0" bIns="0" rtlCol="0" anchor="ctr"/>
            <a:lstStyle/>
            <a:p>
              <a:pPr marL="0" indent="0" algn="ctr">
                <a:buNone/>
              </a:pPr>
              <a:r>
                <a:rPr lang="en-US" sz="1150" b="1" dirty="0">
                  <a:solidFill>
                    <a:srgbClr val="0F2C59"/>
                  </a:solidFill>
                  <a:latin typeface="Arial" pitchFamily="34" charset="0"/>
                  <a:ea typeface="Arial" pitchFamily="34" charset="-122"/>
                  <a:cs typeface="Arial" pitchFamily="34" charset="-120"/>
                </a:rPr>
                <a:t>Phụ huynh</a:t>
              </a:r>
              <a:endParaRPr lang="en-US" sz="1150" dirty="0"/>
            </a:p>
          </p:txBody>
        </p:sp>
      </p:grpSp>
      <p:grpSp>
        <p:nvGrpSpPr>
          <p:cNvPr id="33" name="Group 15">
            <a:extLst>
              <a:ext uri="{FF2B5EF4-FFF2-40B4-BE49-F238E27FC236}">
                <a16:creationId xmlns:a16="http://schemas.microsoft.com/office/drawing/2014/main" id="{76289FB7-376A-CC66-9E09-C0A142FD3D06}"/>
              </a:ext>
            </a:extLst>
          </p:cNvPr>
          <p:cNvGrpSpPr/>
          <p:nvPr/>
        </p:nvGrpSpPr>
        <p:grpSpPr>
          <a:xfrm>
            <a:off x="8869680" y="5422392"/>
            <a:ext cx="914400" cy="402336"/>
            <a:chOff x="8869680" y="5422392"/>
            <a:chExt cx="914400" cy="402336"/>
          </a:xfrm>
        </p:grpSpPr>
        <p:sp>
          <p:nvSpPr>
            <p:cNvPr id="23" name="Part 1"/>
            <p:cNvSpPr/>
            <p:nvPr/>
          </p:nvSpPr>
          <p:spPr>
            <a:xfrm>
              <a:off x="8869680" y="5422392"/>
              <a:ext cx="914400" cy="402336"/>
            </a:xfrm>
            <a:prstGeom prst="roundRect">
              <a:avLst>
                <a:gd name="adj" fmla="val 50000"/>
              </a:avLst>
            </a:prstGeom>
            <a:solidFill>
              <a:srgbClr val="E8EDF5"/>
            </a:solidFill>
            <a:ln/>
          </p:spPr>
        </p:sp>
        <p:sp>
          <p:nvSpPr>
            <p:cNvPr id="24" name="Part 2"/>
            <p:cNvSpPr txBox="1"/>
            <p:nvPr/>
          </p:nvSpPr>
          <p:spPr>
            <a:xfrm>
              <a:off x="8869680" y="5422392"/>
              <a:ext cx="914400" cy="402336"/>
            </a:xfrm>
            <a:prstGeom prst="rect">
              <a:avLst/>
            </a:prstGeom>
            <a:noFill/>
            <a:ln/>
          </p:spPr>
          <p:txBody>
            <a:bodyPr wrap="square" lIns="0" tIns="0" rIns="0" bIns="0" rtlCol="0" anchor="ctr"/>
            <a:lstStyle/>
            <a:p>
              <a:pPr marL="0" indent="0" algn="ctr">
                <a:buNone/>
              </a:pPr>
              <a:r>
                <a:rPr lang="en-US" sz="1150" b="1" dirty="0">
                  <a:solidFill>
                    <a:srgbClr val="0F2C59"/>
                  </a:solidFill>
                  <a:latin typeface="Arial" pitchFamily="34" charset="0"/>
                  <a:ea typeface="Arial" pitchFamily="34" charset="-122"/>
                  <a:cs typeface="Arial" pitchFamily="34" charset="-120"/>
                </a:rPr>
                <a:t>Học vấn</a:t>
              </a:r>
              <a:endParaRPr lang="en-US" sz="1150" dirty="0"/>
            </a:p>
          </p:txBody>
        </p:sp>
      </p:grpSp>
      <p:grpSp>
        <p:nvGrpSpPr>
          <p:cNvPr id="34" name="Group 16">
            <a:extLst>
              <a:ext uri="{FF2B5EF4-FFF2-40B4-BE49-F238E27FC236}">
                <a16:creationId xmlns:a16="http://schemas.microsoft.com/office/drawing/2014/main" id="{FBEE4EEC-6D28-AA9E-9E5C-DE8890412AC7}"/>
              </a:ext>
            </a:extLst>
          </p:cNvPr>
          <p:cNvGrpSpPr/>
          <p:nvPr/>
        </p:nvGrpSpPr>
        <p:grpSpPr>
          <a:xfrm>
            <a:off x="9875520" y="5422392"/>
            <a:ext cx="1325880" cy="402336"/>
            <a:chOff x="9875520" y="5422392"/>
            <a:chExt cx="1325880" cy="402336"/>
          </a:xfrm>
        </p:grpSpPr>
        <p:sp>
          <p:nvSpPr>
            <p:cNvPr id="25" name="Part 1"/>
            <p:cNvSpPr/>
            <p:nvPr/>
          </p:nvSpPr>
          <p:spPr>
            <a:xfrm>
              <a:off x="9875520" y="5422392"/>
              <a:ext cx="1325880" cy="402336"/>
            </a:xfrm>
            <a:prstGeom prst="roundRect">
              <a:avLst>
                <a:gd name="adj" fmla="val 50000"/>
              </a:avLst>
            </a:prstGeom>
            <a:solidFill>
              <a:srgbClr val="E8EDF5"/>
            </a:solidFill>
            <a:ln/>
          </p:spPr>
        </p:sp>
        <p:sp>
          <p:nvSpPr>
            <p:cNvPr id="26" name="Part 2"/>
            <p:cNvSpPr txBox="1"/>
            <p:nvPr/>
          </p:nvSpPr>
          <p:spPr>
            <a:xfrm>
              <a:off x="9875520" y="5422392"/>
              <a:ext cx="1325880" cy="402336"/>
            </a:xfrm>
            <a:prstGeom prst="rect">
              <a:avLst/>
            </a:prstGeom>
            <a:noFill/>
            <a:ln/>
          </p:spPr>
          <p:txBody>
            <a:bodyPr wrap="square" lIns="0" tIns="0" rIns="0" bIns="0" rtlCol="0" anchor="ctr"/>
            <a:lstStyle/>
            <a:p>
              <a:pPr marL="0" indent="0" algn="ctr">
                <a:buNone/>
              </a:pPr>
              <a:r>
                <a:rPr lang="en-US" sz="1150" b="1" dirty="0">
                  <a:solidFill>
                    <a:srgbClr val="0F2C59"/>
                  </a:solidFill>
                  <a:latin typeface="Arial" pitchFamily="34" charset="0"/>
                  <a:ea typeface="Arial" pitchFamily="34" charset="-122"/>
                  <a:cs typeface="Arial" pitchFamily="34" charset="-120"/>
                </a:rPr>
                <a:t>Thông tin thêm</a:t>
              </a:r>
              <a:endParaRPr lang="en-US" sz="115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12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par>
                          <p:cTn id="11" fill="hold">
                            <p:stCondLst>
                              <p:cond delay="620"/>
                            </p:stCondLst>
                            <p:childTnLst>
                              <p:par>
                                <p:cTn id="12" presetID="10" presetClass="entr" presetSubtype="0" fill="hold" nodeType="after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5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entr" presetSubtype="0" fill="hold" nodeType="withEffect">
                                  <p:stCondLst>
                                    <p:cond delay="12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50"/>
                                        <p:tgtEl>
                                          <p:spTgt spid="30"/>
                                        </p:tgtEl>
                                      </p:cBhvr>
                                    </p:animEffect>
                                    <p:anim calcmode="lin" valueType="num">
                                      <p:cBhvr>
                                        <p:cTn id="21" dur="550" fill="hold"/>
                                        <p:tgtEl>
                                          <p:spTgt spid="30"/>
                                        </p:tgtEl>
                                        <p:attrNameLst>
                                          <p:attrName>ppt_x</p:attrName>
                                        </p:attrNameLst>
                                      </p:cBhvr>
                                      <p:tavLst>
                                        <p:tav tm="0">
                                          <p:val>
                                            <p:strVal val="#ppt_x"/>
                                          </p:val>
                                        </p:tav>
                                        <p:tav tm="100000">
                                          <p:val>
                                            <p:strVal val="#ppt_x"/>
                                          </p:val>
                                        </p:tav>
                                      </p:tavLst>
                                    </p:anim>
                                    <p:anim calcmode="lin" valueType="num">
                                      <p:cBhvr>
                                        <p:cTn id="22" dur="550" fill="hold"/>
                                        <p:tgtEl>
                                          <p:spTgt spid="30"/>
                                        </p:tgtEl>
                                        <p:attrNameLst>
                                          <p:attrName>ppt_y</p:attrName>
                                        </p:attrNameLst>
                                      </p:cBhvr>
                                      <p:tavLst>
                                        <p:tav tm="0">
                                          <p:val>
                                            <p:strVal val="#ppt_y+.1"/>
                                          </p:val>
                                        </p:tav>
                                        <p:tav tm="100000">
                                          <p:val>
                                            <p:strVal val="#ppt_y"/>
                                          </p:val>
                                        </p:tav>
                                      </p:tavLst>
                                    </p:anim>
                                  </p:childTnLst>
                                </p:cTn>
                              </p:par>
                            </p:childTnLst>
                          </p:cTn>
                        </p:par>
                        <p:par>
                          <p:cTn id="23" fill="hold">
                            <p:stCondLst>
                              <p:cond delay="129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53" presetClass="entr" presetSubtype="16" fill="hold" nodeType="withEffect">
                                  <p:stCondLst>
                                    <p:cond delay="120"/>
                                  </p:stCondLst>
                                  <p:childTnLst>
                                    <p:set>
                                      <p:cBhvr>
                                        <p:cTn id="28" dur="1" fill="hold">
                                          <p:stCondLst>
                                            <p:cond delay="0"/>
                                          </p:stCondLst>
                                        </p:cTn>
                                        <p:tgtEl>
                                          <p:spTgt spid="31"/>
                                        </p:tgtEl>
                                        <p:attrNameLst>
                                          <p:attrName>style.visibility</p:attrName>
                                        </p:attrNameLst>
                                      </p:cBhvr>
                                      <p:to>
                                        <p:strVal val="visible"/>
                                      </p:to>
                                    </p:set>
                                    <p:anim calcmode="lin" valueType="num">
                                      <p:cBhvr>
                                        <p:cTn id="29" dur="500" fill="hold"/>
                                        <p:tgtEl>
                                          <p:spTgt spid="31"/>
                                        </p:tgtEl>
                                        <p:attrNameLst>
                                          <p:attrName>ppt_w</p:attrName>
                                        </p:attrNameLst>
                                      </p:cBhvr>
                                      <p:tavLst>
                                        <p:tav tm="0">
                                          <p:val>
                                            <p:fltVal val="0"/>
                                          </p:val>
                                        </p:tav>
                                        <p:tav tm="100000">
                                          <p:val>
                                            <p:strVal val="#ppt_w"/>
                                          </p:val>
                                        </p:tav>
                                      </p:tavLst>
                                    </p:anim>
                                    <p:anim calcmode="lin" valueType="num">
                                      <p:cBhvr>
                                        <p:cTn id="30" dur="500" fill="hold"/>
                                        <p:tgtEl>
                                          <p:spTgt spid="31"/>
                                        </p:tgtEl>
                                        <p:attrNameLst>
                                          <p:attrName>ppt_h</p:attrName>
                                        </p:attrNameLst>
                                      </p:cBhvr>
                                      <p:tavLst>
                                        <p:tav tm="0">
                                          <p:val>
                                            <p:fltVal val="0"/>
                                          </p:val>
                                        </p:tav>
                                        <p:tav tm="100000">
                                          <p:val>
                                            <p:strVal val="#ppt_h"/>
                                          </p:val>
                                        </p:tav>
                                      </p:tavLst>
                                    </p:anim>
                                    <p:animEffect transition="in" filter="fade">
                                      <p:cBhvr>
                                        <p:cTn id="31" dur="500"/>
                                        <p:tgtEl>
                                          <p:spTgt spid="31"/>
                                        </p:tgtEl>
                                      </p:cBhvr>
                                    </p:animEffect>
                                  </p:childTnLst>
                                </p:cTn>
                              </p:par>
                              <p:par>
                                <p:cTn id="32" presetID="53" presetClass="entr" presetSubtype="16" fill="hold" nodeType="withEffect">
                                  <p:stCondLst>
                                    <p:cond delay="240"/>
                                  </p:stCondLst>
                                  <p:childTnLst>
                                    <p:set>
                                      <p:cBhvr>
                                        <p:cTn id="33" dur="1" fill="hold">
                                          <p:stCondLst>
                                            <p:cond delay="0"/>
                                          </p:stCondLst>
                                        </p:cTn>
                                        <p:tgtEl>
                                          <p:spTgt spid="32"/>
                                        </p:tgtEl>
                                        <p:attrNameLst>
                                          <p:attrName>style.visibility</p:attrName>
                                        </p:attrNameLst>
                                      </p:cBhvr>
                                      <p:to>
                                        <p:strVal val="visible"/>
                                      </p:to>
                                    </p:set>
                                    <p:anim calcmode="lin" valueType="num">
                                      <p:cBhvr>
                                        <p:cTn id="34" dur="500" fill="hold"/>
                                        <p:tgtEl>
                                          <p:spTgt spid="32"/>
                                        </p:tgtEl>
                                        <p:attrNameLst>
                                          <p:attrName>ppt_w</p:attrName>
                                        </p:attrNameLst>
                                      </p:cBhvr>
                                      <p:tavLst>
                                        <p:tav tm="0">
                                          <p:val>
                                            <p:fltVal val="0"/>
                                          </p:val>
                                        </p:tav>
                                        <p:tav tm="100000">
                                          <p:val>
                                            <p:strVal val="#ppt_w"/>
                                          </p:val>
                                        </p:tav>
                                      </p:tavLst>
                                    </p:anim>
                                    <p:anim calcmode="lin" valueType="num">
                                      <p:cBhvr>
                                        <p:cTn id="35" dur="500" fill="hold"/>
                                        <p:tgtEl>
                                          <p:spTgt spid="32"/>
                                        </p:tgtEl>
                                        <p:attrNameLst>
                                          <p:attrName>ppt_h</p:attrName>
                                        </p:attrNameLst>
                                      </p:cBhvr>
                                      <p:tavLst>
                                        <p:tav tm="0">
                                          <p:val>
                                            <p:fltVal val="0"/>
                                          </p:val>
                                        </p:tav>
                                        <p:tav tm="100000">
                                          <p:val>
                                            <p:strVal val="#ppt_h"/>
                                          </p:val>
                                        </p:tav>
                                      </p:tavLst>
                                    </p:anim>
                                    <p:animEffect transition="in" filter="fade">
                                      <p:cBhvr>
                                        <p:cTn id="36" dur="500"/>
                                        <p:tgtEl>
                                          <p:spTgt spid="32"/>
                                        </p:tgtEl>
                                      </p:cBhvr>
                                    </p:animEffect>
                                  </p:childTnLst>
                                </p:cTn>
                              </p:par>
                              <p:par>
                                <p:cTn id="37" presetID="53" presetClass="entr" presetSubtype="16" fill="hold" nodeType="withEffect">
                                  <p:stCondLst>
                                    <p:cond delay="360"/>
                                  </p:stCondLst>
                                  <p:childTnLst>
                                    <p:set>
                                      <p:cBhvr>
                                        <p:cTn id="38" dur="1" fill="hold">
                                          <p:stCondLst>
                                            <p:cond delay="0"/>
                                          </p:stCondLst>
                                        </p:cTn>
                                        <p:tgtEl>
                                          <p:spTgt spid="33"/>
                                        </p:tgtEl>
                                        <p:attrNameLst>
                                          <p:attrName>style.visibility</p:attrName>
                                        </p:attrNameLst>
                                      </p:cBhvr>
                                      <p:to>
                                        <p:strVal val="visible"/>
                                      </p:to>
                                    </p:set>
                                    <p:anim calcmode="lin" valueType="num">
                                      <p:cBhvr>
                                        <p:cTn id="39" dur="500" fill="hold"/>
                                        <p:tgtEl>
                                          <p:spTgt spid="33"/>
                                        </p:tgtEl>
                                        <p:attrNameLst>
                                          <p:attrName>ppt_w</p:attrName>
                                        </p:attrNameLst>
                                      </p:cBhvr>
                                      <p:tavLst>
                                        <p:tav tm="0">
                                          <p:val>
                                            <p:fltVal val="0"/>
                                          </p:val>
                                        </p:tav>
                                        <p:tav tm="100000">
                                          <p:val>
                                            <p:strVal val="#ppt_w"/>
                                          </p:val>
                                        </p:tav>
                                      </p:tavLst>
                                    </p:anim>
                                    <p:anim calcmode="lin" valueType="num">
                                      <p:cBhvr>
                                        <p:cTn id="40" dur="500" fill="hold"/>
                                        <p:tgtEl>
                                          <p:spTgt spid="33"/>
                                        </p:tgtEl>
                                        <p:attrNameLst>
                                          <p:attrName>ppt_h</p:attrName>
                                        </p:attrNameLst>
                                      </p:cBhvr>
                                      <p:tavLst>
                                        <p:tav tm="0">
                                          <p:val>
                                            <p:fltVal val="0"/>
                                          </p:val>
                                        </p:tav>
                                        <p:tav tm="100000">
                                          <p:val>
                                            <p:strVal val="#ppt_h"/>
                                          </p:val>
                                        </p:tav>
                                      </p:tavLst>
                                    </p:anim>
                                    <p:animEffect transition="in" filter="fade">
                                      <p:cBhvr>
                                        <p:cTn id="41" dur="500"/>
                                        <p:tgtEl>
                                          <p:spTgt spid="33"/>
                                        </p:tgtEl>
                                      </p:cBhvr>
                                    </p:animEffect>
                                  </p:childTnLst>
                                </p:cTn>
                              </p:par>
                              <p:par>
                                <p:cTn id="42" presetID="53" presetClass="entr" presetSubtype="16" fill="hold" nodeType="withEffect">
                                  <p:stCondLst>
                                    <p:cond delay="48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childTnLst>
                          </p:cTn>
                        </p:par>
                        <p:par>
                          <p:cTn id="47" fill="hold">
                            <p:stCondLst>
                              <p:cond delay="2270"/>
                            </p:stCondLst>
                            <p:childTnLst>
                              <p:par>
                                <p:cTn id="48" presetID="6" presetClass="emph" presetSubtype="0" autoRev="1" fill="hold" nodeType="afterEffect">
                                  <p:stCondLst>
                                    <p:cond delay="0"/>
                                  </p:stCondLst>
                                  <p:childTnLst>
                                    <p:animScale>
                                      <p:cBhvr>
                                        <p:cTn id="49" dur="400" fill="hold"/>
                                        <p:tgtEl>
                                          <p:spTgt spid="29"/>
                                        </p:tgtEl>
                                      </p:cBhvr>
                                      <p:by x="150000" y="15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Khu vực quản trị</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Đăng nhập bằng session – dashboard thống kê – quản lý có tìm kiếm và phân trang</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04 · KẾT QUẢ</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14 / 18</a:t>
            </a:r>
            <a:endParaRPr lang="en-US" sz="1000" dirty="0"/>
          </a:p>
        </p:txBody>
      </p:sp>
      <p:grpSp>
        <p:nvGrpSpPr>
          <p:cNvPr id="31" name="Group 7">
            <a:extLst>
              <a:ext uri="{FF2B5EF4-FFF2-40B4-BE49-F238E27FC236}">
                <a16:creationId xmlns:a16="http://schemas.microsoft.com/office/drawing/2014/main" id="{2C250D29-6F79-4598-A49F-60E329842423}"/>
              </a:ext>
            </a:extLst>
          </p:cNvPr>
          <p:cNvGrpSpPr/>
          <p:nvPr/>
        </p:nvGrpSpPr>
        <p:grpSpPr>
          <a:xfrm>
            <a:off x="502920" y="1508760"/>
            <a:ext cx="6858000" cy="4297680"/>
            <a:chOff x="502920" y="1508760"/>
            <a:chExt cx="6858000" cy="4297680"/>
          </a:xfrm>
        </p:grpSpPr>
        <p:sp>
          <p:nvSpPr>
            <p:cNvPr id="8" name="Part 1"/>
            <p:cNvSpPr/>
            <p:nvPr/>
          </p:nvSpPr>
          <p:spPr>
            <a:xfrm>
              <a:off x="502920" y="1508760"/>
              <a:ext cx="6858000" cy="3895344"/>
            </a:xfrm>
            <a:prstGeom prst="roundRect">
              <a:avLst>
                <a:gd name="adj" fmla="val 3286"/>
              </a:avLst>
            </a:prstGeom>
            <a:solidFill>
              <a:srgbClr val="FFFFFF"/>
            </a:solidFill>
            <a:ln/>
            <a:effectLst>
              <a:outerShdw blurRad="127000" dist="38100" dir="5400000" algn="bl" rotWithShape="0">
                <a:srgbClr val="0F2C59">
                  <a:alpha val="12000"/>
                </a:srgbClr>
              </a:outerShdw>
            </a:effectLst>
          </p:spPr>
        </p:sp>
        <p:pic>
          <p:nvPicPr>
            <p:cNvPr id="9" name="Part 2" descr="Dashboard khu vực quản trị"/>
            <p:cNvPicPr>
              <a:picLocks noChangeAspect="1"/>
            </p:cNvPicPr>
            <p:nvPr/>
          </p:nvPicPr>
          <p:blipFill>
            <a:blip r:embed="rId3"/>
            <a:stretch>
              <a:fillRect/>
            </a:stretch>
          </p:blipFill>
          <p:spPr>
            <a:xfrm>
              <a:off x="548640" y="1554480"/>
              <a:ext cx="6766560" cy="3803904"/>
            </a:xfrm>
            <a:prstGeom prst="rect">
              <a:avLst/>
            </a:prstGeom>
          </p:spPr>
        </p:pic>
        <p:sp>
          <p:nvSpPr>
            <p:cNvPr id="10" name="Part 3"/>
            <p:cNvSpPr txBox="1"/>
            <p:nvPr/>
          </p:nvSpPr>
          <p:spPr>
            <a:xfrm>
              <a:off x="548640" y="5532120"/>
              <a:ext cx="6583680" cy="274320"/>
            </a:xfrm>
            <a:prstGeom prst="rect">
              <a:avLst/>
            </a:prstGeom>
            <a:noFill/>
            <a:ln/>
          </p:spPr>
          <p:txBody>
            <a:bodyPr wrap="square" lIns="0" tIns="0" rIns="0" bIns="0" rtlCol="0" anchor="t"/>
            <a:lstStyle/>
            <a:p>
              <a:pPr marL="0" indent="0" algn="l">
                <a:buNone/>
              </a:pPr>
              <a:r>
                <a:rPr lang="en-US" sz="1100" i="1" dirty="0">
                  <a:solidFill>
                    <a:srgbClr val="6B7280"/>
                  </a:solidFill>
                  <a:latin typeface="Arial" pitchFamily="34" charset="0"/>
                  <a:ea typeface="Arial" pitchFamily="34" charset="-122"/>
                  <a:cs typeface="Arial" pitchFamily="34" charset="-120"/>
                </a:rPr>
                <a:t>Dashboard: 5 thẻ thống kê, bảng đăng ký mới nhất, tin gần đây</a:t>
              </a:r>
              <a:endParaRPr lang="en-US" sz="1100" dirty="0"/>
            </a:p>
          </p:txBody>
        </p:sp>
      </p:grpSp>
      <p:grpSp>
        <p:nvGrpSpPr>
          <p:cNvPr id="32" name="Group 8">
            <a:extLst>
              <a:ext uri="{FF2B5EF4-FFF2-40B4-BE49-F238E27FC236}">
                <a16:creationId xmlns:a16="http://schemas.microsoft.com/office/drawing/2014/main" id="{91F3FFAD-26B6-51D0-FD20-32F5DCFA42FC}"/>
              </a:ext>
            </a:extLst>
          </p:cNvPr>
          <p:cNvGrpSpPr/>
          <p:nvPr/>
        </p:nvGrpSpPr>
        <p:grpSpPr>
          <a:xfrm>
            <a:off x="7635240" y="1600200"/>
            <a:ext cx="4005072" cy="941832"/>
            <a:chOff x="7635240" y="1600200"/>
            <a:chExt cx="4005072" cy="941832"/>
          </a:xfrm>
        </p:grpSpPr>
        <p:sp>
          <p:nvSpPr>
            <p:cNvPr id="11" name="Part 1"/>
            <p:cNvSpPr/>
            <p:nvPr/>
          </p:nvSpPr>
          <p:spPr>
            <a:xfrm>
              <a:off x="7635240" y="1600200"/>
              <a:ext cx="4005072" cy="941832"/>
            </a:xfrm>
            <a:prstGeom prst="roundRect">
              <a:avLst>
                <a:gd name="adj" fmla="val 1165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12" name="Part 2"/>
            <p:cNvSpPr/>
            <p:nvPr/>
          </p:nvSpPr>
          <p:spPr>
            <a:xfrm>
              <a:off x="7818120" y="1810512"/>
              <a:ext cx="512064" cy="512064"/>
            </a:xfrm>
            <a:prstGeom prst="ellipse">
              <a:avLst/>
            </a:prstGeom>
            <a:solidFill>
              <a:srgbClr val="E8EDF5"/>
            </a:solidFill>
            <a:ln/>
          </p:spPr>
        </p:sp>
        <p:pic>
          <p:nvPicPr>
            <p:cNvPr id="13" name="Part 3" descr="Biểu tượng"/>
            <p:cNvPicPr>
              <a:picLocks noChangeAspect="1"/>
            </p:cNvPicPr>
            <p:nvPr/>
          </p:nvPicPr>
          <p:blipFill>
            <a:blip r:embed="rId4"/>
            <a:stretch>
              <a:fillRect/>
            </a:stretch>
          </p:blipFill>
          <p:spPr>
            <a:xfrm>
              <a:off x="7941015" y="1933407"/>
              <a:ext cx="266273" cy="266273"/>
            </a:xfrm>
            <a:prstGeom prst="rect">
              <a:avLst/>
            </a:prstGeom>
          </p:spPr>
        </p:pic>
        <p:sp>
          <p:nvSpPr>
            <p:cNvPr id="14" name="Part 4"/>
            <p:cNvSpPr txBox="1"/>
            <p:nvPr/>
          </p:nvSpPr>
          <p:spPr>
            <a:xfrm>
              <a:off x="8503920" y="1719072"/>
              <a:ext cx="3017520" cy="310896"/>
            </a:xfrm>
            <a:prstGeom prst="rect">
              <a:avLst/>
            </a:prstGeom>
            <a:noFill/>
            <a:ln/>
          </p:spPr>
          <p:txBody>
            <a:bodyPr wrap="square" lIns="0" tIns="0" rIns="0" bIns="0" rtlCol="0" anchor="t"/>
            <a:lstStyle/>
            <a:p>
              <a:pPr marL="0" indent="0" algn="l">
                <a:buNone/>
              </a:pPr>
              <a:r>
                <a:rPr lang="en-US" sz="1450" b="1" dirty="0">
                  <a:solidFill>
                    <a:srgbClr val="0F2C59"/>
                  </a:solidFill>
                  <a:latin typeface="Arial" pitchFamily="34" charset="0"/>
                  <a:ea typeface="Arial" pitchFamily="34" charset="-122"/>
                  <a:cs typeface="Arial" pitchFamily="34" charset="-120"/>
                </a:rPr>
                <a:t>Trang chính</a:t>
              </a:r>
              <a:endParaRPr lang="en-US" sz="1450" dirty="0"/>
            </a:p>
          </p:txBody>
        </p:sp>
        <p:sp>
          <p:nvSpPr>
            <p:cNvPr id="15" name="Part 5"/>
            <p:cNvSpPr txBox="1"/>
            <p:nvPr/>
          </p:nvSpPr>
          <p:spPr>
            <a:xfrm>
              <a:off x="8503920" y="2029968"/>
              <a:ext cx="3017520" cy="457200"/>
            </a:xfrm>
            <a:prstGeom prst="rect">
              <a:avLst/>
            </a:prstGeom>
            <a:noFill/>
            <a:ln/>
          </p:spPr>
          <p:txBody>
            <a:bodyPr wrap="square" lIns="0" tIns="0" rIns="0" bIns="0" rtlCol="0" anchor="t"/>
            <a:lstStyle/>
            <a:p>
              <a:pPr marL="0" indent="0" algn="l">
                <a:buNone/>
              </a:pPr>
              <a:r>
                <a:rPr lang="en-US" sz="1150" dirty="0">
                  <a:solidFill>
                    <a:srgbClr val="6B7280"/>
                  </a:solidFill>
                  <a:latin typeface="Arial" pitchFamily="34" charset="0"/>
                  <a:ea typeface="Arial" pitchFamily="34" charset="-122"/>
                  <a:cs typeface="Arial" pitchFamily="34" charset="-120"/>
                </a:rPr>
                <a:t>Thống kê nhanh, hồ sơ mới nhất, tin gần đây</a:t>
              </a:r>
              <a:endParaRPr lang="en-US" sz="1150" dirty="0"/>
            </a:p>
          </p:txBody>
        </p:sp>
      </p:grpSp>
      <p:grpSp>
        <p:nvGrpSpPr>
          <p:cNvPr id="33" name="Group 9">
            <a:extLst>
              <a:ext uri="{FF2B5EF4-FFF2-40B4-BE49-F238E27FC236}">
                <a16:creationId xmlns:a16="http://schemas.microsoft.com/office/drawing/2014/main" id="{E934ADCC-8981-71CD-FB1E-C8D8A515EF5A}"/>
              </a:ext>
            </a:extLst>
          </p:cNvPr>
          <p:cNvGrpSpPr/>
          <p:nvPr/>
        </p:nvGrpSpPr>
        <p:grpSpPr>
          <a:xfrm>
            <a:off x="7635240" y="2679192"/>
            <a:ext cx="4005072" cy="941832"/>
            <a:chOff x="7635240" y="2679192"/>
            <a:chExt cx="4005072" cy="941832"/>
          </a:xfrm>
        </p:grpSpPr>
        <p:sp>
          <p:nvSpPr>
            <p:cNvPr id="16" name="Part 1"/>
            <p:cNvSpPr/>
            <p:nvPr/>
          </p:nvSpPr>
          <p:spPr>
            <a:xfrm>
              <a:off x="7635240" y="2679192"/>
              <a:ext cx="4005072" cy="941832"/>
            </a:xfrm>
            <a:prstGeom prst="roundRect">
              <a:avLst>
                <a:gd name="adj" fmla="val 1165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17" name="Part 2"/>
            <p:cNvSpPr/>
            <p:nvPr/>
          </p:nvSpPr>
          <p:spPr>
            <a:xfrm>
              <a:off x="7818120" y="2889504"/>
              <a:ext cx="512064" cy="512064"/>
            </a:xfrm>
            <a:prstGeom prst="ellipse">
              <a:avLst/>
            </a:prstGeom>
            <a:solidFill>
              <a:srgbClr val="E8EDF5"/>
            </a:solidFill>
            <a:ln/>
          </p:spPr>
        </p:sp>
        <p:pic>
          <p:nvPicPr>
            <p:cNvPr id="18" name="Part 3" descr="Biểu tượng"/>
            <p:cNvPicPr>
              <a:picLocks noChangeAspect="1"/>
            </p:cNvPicPr>
            <p:nvPr/>
          </p:nvPicPr>
          <p:blipFill>
            <a:blip r:embed="rId5"/>
            <a:stretch>
              <a:fillRect/>
            </a:stretch>
          </p:blipFill>
          <p:spPr>
            <a:xfrm>
              <a:off x="7941015" y="3012399"/>
              <a:ext cx="266273" cy="266273"/>
            </a:xfrm>
            <a:prstGeom prst="rect">
              <a:avLst/>
            </a:prstGeom>
          </p:spPr>
        </p:pic>
        <p:sp>
          <p:nvSpPr>
            <p:cNvPr id="19" name="Part 4"/>
            <p:cNvSpPr txBox="1"/>
            <p:nvPr/>
          </p:nvSpPr>
          <p:spPr>
            <a:xfrm>
              <a:off x="8503920" y="2798064"/>
              <a:ext cx="3017520" cy="310896"/>
            </a:xfrm>
            <a:prstGeom prst="rect">
              <a:avLst/>
            </a:prstGeom>
            <a:noFill/>
            <a:ln/>
          </p:spPr>
          <p:txBody>
            <a:bodyPr wrap="square" lIns="0" tIns="0" rIns="0" bIns="0" rtlCol="0" anchor="t"/>
            <a:lstStyle/>
            <a:p>
              <a:pPr marL="0" indent="0" algn="l">
                <a:buNone/>
              </a:pPr>
              <a:r>
                <a:rPr lang="en-US" sz="1450" b="1" dirty="0">
                  <a:solidFill>
                    <a:srgbClr val="0F2C59"/>
                  </a:solidFill>
                  <a:latin typeface="Arial" pitchFamily="34" charset="0"/>
                  <a:ea typeface="Arial" pitchFamily="34" charset="-122"/>
                  <a:cs typeface="Arial" pitchFamily="34" charset="-120"/>
                </a:rPr>
                <a:t>Quản lý nội dung</a:t>
              </a:r>
              <a:endParaRPr lang="en-US" sz="1450" dirty="0"/>
            </a:p>
          </p:txBody>
        </p:sp>
        <p:sp>
          <p:nvSpPr>
            <p:cNvPr id="20" name="Part 5"/>
            <p:cNvSpPr txBox="1"/>
            <p:nvPr/>
          </p:nvSpPr>
          <p:spPr>
            <a:xfrm>
              <a:off x="8503920" y="3108960"/>
              <a:ext cx="3017520" cy="457200"/>
            </a:xfrm>
            <a:prstGeom prst="rect">
              <a:avLst/>
            </a:prstGeom>
            <a:noFill/>
            <a:ln/>
          </p:spPr>
          <p:txBody>
            <a:bodyPr wrap="square" lIns="0" tIns="0" rIns="0" bIns="0" rtlCol="0" anchor="t"/>
            <a:lstStyle/>
            <a:p>
              <a:pPr marL="0" indent="0" algn="l">
                <a:buNone/>
              </a:pPr>
              <a:r>
                <a:rPr lang="en-US" sz="1150" dirty="0">
                  <a:solidFill>
                    <a:srgbClr val="6B7280"/>
                  </a:solidFill>
                  <a:latin typeface="Arial" pitchFamily="34" charset="0"/>
                  <a:ea typeface="Arial" pitchFamily="34" charset="-122"/>
                  <a:cs typeface="Arial" pitchFamily="34" charset="-120"/>
                </a:rPr>
                <a:t>Tin tức, chương trình, hình ảnh: thêm, sửa, xóa, xem trước ảnh</a:t>
              </a:r>
              <a:endParaRPr lang="en-US" sz="1150" dirty="0"/>
            </a:p>
          </p:txBody>
        </p:sp>
      </p:grpSp>
      <p:grpSp>
        <p:nvGrpSpPr>
          <p:cNvPr id="34" name="Group 10">
            <a:extLst>
              <a:ext uri="{FF2B5EF4-FFF2-40B4-BE49-F238E27FC236}">
                <a16:creationId xmlns:a16="http://schemas.microsoft.com/office/drawing/2014/main" id="{82768854-AC20-BDC3-FBAE-1B977DECF9B2}"/>
              </a:ext>
            </a:extLst>
          </p:cNvPr>
          <p:cNvGrpSpPr/>
          <p:nvPr/>
        </p:nvGrpSpPr>
        <p:grpSpPr>
          <a:xfrm>
            <a:off x="7635240" y="3758184"/>
            <a:ext cx="4005072" cy="941832"/>
            <a:chOff x="7635240" y="3758184"/>
            <a:chExt cx="4005072" cy="941832"/>
          </a:xfrm>
        </p:grpSpPr>
        <p:sp>
          <p:nvSpPr>
            <p:cNvPr id="21" name="Part 1"/>
            <p:cNvSpPr/>
            <p:nvPr/>
          </p:nvSpPr>
          <p:spPr>
            <a:xfrm>
              <a:off x="7635240" y="3758184"/>
              <a:ext cx="4005072" cy="941832"/>
            </a:xfrm>
            <a:prstGeom prst="roundRect">
              <a:avLst>
                <a:gd name="adj" fmla="val 1165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2" name="Part 2"/>
            <p:cNvSpPr/>
            <p:nvPr/>
          </p:nvSpPr>
          <p:spPr>
            <a:xfrm>
              <a:off x="7818120" y="3968496"/>
              <a:ext cx="512064" cy="512064"/>
            </a:xfrm>
            <a:prstGeom prst="ellipse">
              <a:avLst/>
            </a:prstGeom>
            <a:solidFill>
              <a:srgbClr val="E8EDF5"/>
            </a:solidFill>
            <a:ln/>
          </p:spPr>
        </p:sp>
        <p:pic>
          <p:nvPicPr>
            <p:cNvPr id="23" name="Part 3" descr="Biểu tượng"/>
            <p:cNvPicPr>
              <a:picLocks noChangeAspect="1"/>
            </p:cNvPicPr>
            <p:nvPr/>
          </p:nvPicPr>
          <p:blipFill>
            <a:blip r:embed="rId6"/>
            <a:stretch>
              <a:fillRect/>
            </a:stretch>
          </p:blipFill>
          <p:spPr>
            <a:xfrm>
              <a:off x="7941015" y="4091391"/>
              <a:ext cx="266273" cy="266273"/>
            </a:xfrm>
            <a:prstGeom prst="rect">
              <a:avLst/>
            </a:prstGeom>
          </p:spPr>
        </p:pic>
        <p:sp>
          <p:nvSpPr>
            <p:cNvPr id="24" name="Part 4"/>
            <p:cNvSpPr txBox="1"/>
            <p:nvPr/>
          </p:nvSpPr>
          <p:spPr>
            <a:xfrm>
              <a:off x="8503920" y="3877056"/>
              <a:ext cx="3017520" cy="310896"/>
            </a:xfrm>
            <a:prstGeom prst="rect">
              <a:avLst/>
            </a:prstGeom>
            <a:noFill/>
            <a:ln/>
          </p:spPr>
          <p:txBody>
            <a:bodyPr wrap="square" lIns="0" tIns="0" rIns="0" bIns="0" rtlCol="0" anchor="t"/>
            <a:lstStyle/>
            <a:p>
              <a:pPr marL="0" indent="0" algn="l">
                <a:buNone/>
              </a:pPr>
              <a:r>
                <a:rPr lang="en-US" sz="1450" b="1" dirty="0">
                  <a:solidFill>
                    <a:srgbClr val="0F2C59"/>
                  </a:solidFill>
                  <a:latin typeface="Arial" pitchFamily="34" charset="0"/>
                  <a:ea typeface="Arial" pitchFamily="34" charset="-122"/>
                  <a:cs typeface="Arial" pitchFamily="34" charset="-120"/>
                </a:rPr>
                <a:t>Xử lý hồ sơ đăng ký</a:t>
              </a:r>
              <a:endParaRPr lang="en-US" sz="1450" dirty="0"/>
            </a:p>
          </p:txBody>
        </p:sp>
        <p:sp>
          <p:nvSpPr>
            <p:cNvPr id="25" name="Part 5"/>
            <p:cNvSpPr txBox="1"/>
            <p:nvPr/>
          </p:nvSpPr>
          <p:spPr>
            <a:xfrm>
              <a:off x="8503920" y="4187952"/>
              <a:ext cx="3017520" cy="457200"/>
            </a:xfrm>
            <a:prstGeom prst="rect">
              <a:avLst/>
            </a:prstGeom>
            <a:noFill/>
            <a:ln/>
          </p:spPr>
          <p:txBody>
            <a:bodyPr wrap="square" lIns="0" tIns="0" rIns="0" bIns="0" rtlCol="0" anchor="t"/>
            <a:lstStyle/>
            <a:p>
              <a:pPr marL="0" indent="0" algn="l">
                <a:buNone/>
              </a:pPr>
              <a:r>
                <a:rPr lang="en-US" sz="1150" dirty="0">
                  <a:solidFill>
                    <a:srgbClr val="6B7280"/>
                  </a:solidFill>
                  <a:latin typeface="Arial" pitchFamily="34" charset="0"/>
                  <a:ea typeface="Arial" pitchFamily="34" charset="-122"/>
                  <a:cs typeface="Arial" pitchFamily="34" charset="-120"/>
                </a:rPr>
                <a:t>Lọc theo trạng thái, xem chi tiết, đổi trạng thái, ghi chú</a:t>
              </a:r>
              <a:endParaRPr lang="en-US" sz="1150" dirty="0"/>
            </a:p>
          </p:txBody>
        </p:sp>
      </p:grpSp>
      <p:grpSp>
        <p:nvGrpSpPr>
          <p:cNvPr id="35" name="Group 11">
            <a:extLst>
              <a:ext uri="{FF2B5EF4-FFF2-40B4-BE49-F238E27FC236}">
                <a16:creationId xmlns:a16="http://schemas.microsoft.com/office/drawing/2014/main" id="{C9981E40-1F34-DAEE-C48C-6BE4706B885F}"/>
              </a:ext>
            </a:extLst>
          </p:cNvPr>
          <p:cNvGrpSpPr/>
          <p:nvPr/>
        </p:nvGrpSpPr>
        <p:grpSpPr>
          <a:xfrm>
            <a:off x="7635240" y="4837176"/>
            <a:ext cx="4005072" cy="941832"/>
            <a:chOff x="7635240" y="4837176"/>
            <a:chExt cx="4005072" cy="941832"/>
          </a:xfrm>
        </p:grpSpPr>
        <p:sp>
          <p:nvSpPr>
            <p:cNvPr id="26" name="Part 1"/>
            <p:cNvSpPr/>
            <p:nvPr/>
          </p:nvSpPr>
          <p:spPr>
            <a:xfrm>
              <a:off x="7635240" y="4837176"/>
              <a:ext cx="4005072" cy="941832"/>
            </a:xfrm>
            <a:prstGeom prst="roundRect">
              <a:avLst>
                <a:gd name="adj" fmla="val 1165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7" name="Part 2"/>
            <p:cNvSpPr/>
            <p:nvPr/>
          </p:nvSpPr>
          <p:spPr>
            <a:xfrm>
              <a:off x="7818120" y="5047488"/>
              <a:ext cx="512064" cy="512064"/>
            </a:xfrm>
            <a:prstGeom prst="ellipse">
              <a:avLst/>
            </a:prstGeom>
            <a:solidFill>
              <a:srgbClr val="E8EDF5"/>
            </a:solidFill>
            <a:ln/>
          </p:spPr>
        </p:sp>
        <p:pic>
          <p:nvPicPr>
            <p:cNvPr id="28" name="Part 3" descr="Biểu tượng"/>
            <p:cNvPicPr>
              <a:picLocks noChangeAspect="1"/>
            </p:cNvPicPr>
            <p:nvPr/>
          </p:nvPicPr>
          <p:blipFill>
            <a:blip r:embed="rId7"/>
            <a:stretch>
              <a:fillRect/>
            </a:stretch>
          </p:blipFill>
          <p:spPr>
            <a:xfrm>
              <a:off x="7941015" y="5170383"/>
              <a:ext cx="266273" cy="266273"/>
            </a:xfrm>
            <a:prstGeom prst="rect">
              <a:avLst/>
            </a:prstGeom>
          </p:spPr>
        </p:pic>
        <p:sp>
          <p:nvSpPr>
            <p:cNvPr id="29" name="Part 4"/>
            <p:cNvSpPr txBox="1"/>
            <p:nvPr/>
          </p:nvSpPr>
          <p:spPr>
            <a:xfrm>
              <a:off x="8503920" y="4956048"/>
              <a:ext cx="3017520" cy="310896"/>
            </a:xfrm>
            <a:prstGeom prst="rect">
              <a:avLst/>
            </a:prstGeom>
            <a:noFill/>
            <a:ln/>
          </p:spPr>
          <p:txBody>
            <a:bodyPr wrap="square" lIns="0" tIns="0" rIns="0" bIns="0" rtlCol="0" anchor="t"/>
            <a:lstStyle/>
            <a:p>
              <a:pPr marL="0" indent="0" algn="l">
                <a:buNone/>
              </a:pPr>
              <a:r>
                <a:rPr lang="en-US" sz="1450" b="1" dirty="0">
                  <a:solidFill>
                    <a:srgbClr val="0F2C59"/>
                  </a:solidFill>
                  <a:latin typeface="Arial" pitchFamily="34" charset="0"/>
                  <a:ea typeface="Arial" pitchFamily="34" charset="-122"/>
                  <a:cs typeface="Arial" pitchFamily="34" charset="-120"/>
                </a:rPr>
                <a:t>Cài đặt &amp; tài khoản</a:t>
              </a:r>
              <a:endParaRPr lang="en-US" sz="1450" dirty="0"/>
            </a:p>
          </p:txBody>
        </p:sp>
        <p:sp>
          <p:nvSpPr>
            <p:cNvPr id="30" name="Part 5"/>
            <p:cNvSpPr txBox="1"/>
            <p:nvPr/>
          </p:nvSpPr>
          <p:spPr>
            <a:xfrm>
              <a:off x="8503920" y="5266944"/>
              <a:ext cx="3017520" cy="457200"/>
            </a:xfrm>
            <a:prstGeom prst="rect">
              <a:avLst/>
            </a:prstGeom>
            <a:noFill/>
            <a:ln/>
          </p:spPr>
          <p:txBody>
            <a:bodyPr wrap="square" lIns="0" tIns="0" rIns="0" bIns="0" rtlCol="0" anchor="t"/>
            <a:lstStyle/>
            <a:p>
              <a:pPr marL="0" indent="0" algn="l">
                <a:buNone/>
              </a:pPr>
              <a:r>
                <a:rPr lang="en-US" sz="1150" dirty="0">
                  <a:solidFill>
                    <a:srgbClr val="6B7280"/>
                  </a:solidFill>
                  <a:latin typeface="Arial" pitchFamily="34" charset="0"/>
                  <a:ea typeface="Arial" pitchFamily="34" charset="-122"/>
                  <a:cs typeface="Arial" pitchFamily="34" charset="-120"/>
                </a:rPr>
                <a:t>Thông tin trường cho footer, liên hệ – chỉ vai trò admin</a:t>
              </a:r>
              <a:endParaRPr lang="en-US" sz="115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50"/>
                                        <p:tgtEl>
                                          <p:spTgt spid="32"/>
                                        </p:tgtEl>
                                      </p:cBhvr>
                                    </p:animEffect>
                                    <p:anim calcmode="lin" valueType="num">
                                      <p:cBhvr>
                                        <p:cTn id="12" dur="550" fill="hold"/>
                                        <p:tgtEl>
                                          <p:spTgt spid="32"/>
                                        </p:tgtEl>
                                        <p:attrNameLst>
                                          <p:attrName>ppt_x</p:attrName>
                                        </p:attrNameLst>
                                      </p:cBhvr>
                                      <p:tavLst>
                                        <p:tav tm="0">
                                          <p:val>
                                            <p:strVal val="#ppt_x"/>
                                          </p:val>
                                        </p:tav>
                                        <p:tav tm="100000">
                                          <p:val>
                                            <p:strVal val="#ppt_x"/>
                                          </p:val>
                                        </p:tav>
                                      </p:tavLst>
                                    </p:anim>
                                    <p:anim calcmode="lin" valueType="num">
                                      <p:cBhvr>
                                        <p:cTn id="13" dur="550" fill="hold"/>
                                        <p:tgtEl>
                                          <p:spTgt spid="32"/>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12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50"/>
                                        <p:tgtEl>
                                          <p:spTgt spid="33"/>
                                        </p:tgtEl>
                                      </p:cBhvr>
                                    </p:animEffect>
                                    <p:anim calcmode="lin" valueType="num">
                                      <p:cBhvr>
                                        <p:cTn id="17" dur="550" fill="hold"/>
                                        <p:tgtEl>
                                          <p:spTgt spid="33"/>
                                        </p:tgtEl>
                                        <p:attrNameLst>
                                          <p:attrName>ppt_x</p:attrName>
                                        </p:attrNameLst>
                                      </p:cBhvr>
                                      <p:tavLst>
                                        <p:tav tm="0">
                                          <p:val>
                                            <p:strVal val="#ppt_x"/>
                                          </p:val>
                                        </p:tav>
                                        <p:tav tm="100000">
                                          <p:val>
                                            <p:strVal val="#ppt_x"/>
                                          </p:val>
                                        </p:tav>
                                      </p:tavLst>
                                    </p:anim>
                                    <p:anim calcmode="lin" valueType="num">
                                      <p:cBhvr>
                                        <p:cTn id="18" dur="550" fill="hold"/>
                                        <p:tgtEl>
                                          <p:spTgt spid="33"/>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24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50"/>
                                        <p:tgtEl>
                                          <p:spTgt spid="34"/>
                                        </p:tgtEl>
                                      </p:cBhvr>
                                    </p:animEffect>
                                    <p:anim calcmode="lin" valueType="num">
                                      <p:cBhvr>
                                        <p:cTn id="22" dur="550" fill="hold"/>
                                        <p:tgtEl>
                                          <p:spTgt spid="34"/>
                                        </p:tgtEl>
                                        <p:attrNameLst>
                                          <p:attrName>ppt_x</p:attrName>
                                        </p:attrNameLst>
                                      </p:cBhvr>
                                      <p:tavLst>
                                        <p:tav tm="0">
                                          <p:val>
                                            <p:strVal val="#ppt_x"/>
                                          </p:val>
                                        </p:tav>
                                        <p:tav tm="100000">
                                          <p:val>
                                            <p:strVal val="#ppt_x"/>
                                          </p:val>
                                        </p:tav>
                                      </p:tavLst>
                                    </p:anim>
                                    <p:anim calcmode="lin" valueType="num">
                                      <p:cBhvr>
                                        <p:cTn id="23" dur="550" fill="hold"/>
                                        <p:tgtEl>
                                          <p:spTgt spid="34"/>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36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550"/>
                                        <p:tgtEl>
                                          <p:spTgt spid="35"/>
                                        </p:tgtEl>
                                      </p:cBhvr>
                                    </p:animEffect>
                                    <p:anim calcmode="lin" valueType="num">
                                      <p:cBhvr>
                                        <p:cTn id="27" dur="550" fill="hold"/>
                                        <p:tgtEl>
                                          <p:spTgt spid="35"/>
                                        </p:tgtEl>
                                        <p:attrNameLst>
                                          <p:attrName>ppt_x</p:attrName>
                                        </p:attrNameLst>
                                      </p:cBhvr>
                                      <p:tavLst>
                                        <p:tav tm="0">
                                          <p:val>
                                            <p:strVal val="#ppt_x"/>
                                          </p:val>
                                        </p:tav>
                                        <p:tav tm="100000">
                                          <p:val>
                                            <p:strVal val="#ppt_x"/>
                                          </p:val>
                                        </p:tav>
                                      </p:tavLst>
                                    </p:anim>
                                    <p:anim calcmode="lin" valueType="num">
                                      <p:cBhvr>
                                        <p:cTn id="28" dur="55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Kiểm thử và kết quả</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Chạy trên Docker ngày 26/09/2026 – kiểm thử hồi quy toàn bộ module M0–M9</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05 · ĐÁNH GIÁ</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15 / 18</a:t>
            </a:r>
            <a:endParaRPr lang="en-US" sz="1000" dirty="0"/>
          </a:p>
        </p:txBody>
      </p:sp>
      <p:grpSp>
        <p:nvGrpSpPr>
          <p:cNvPr id="25" name="Group 7">
            <a:extLst>
              <a:ext uri="{FF2B5EF4-FFF2-40B4-BE49-F238E27FC236}">
                <a16:creationId xmlns:a16="http://schemas.microsoft.com/office/drawing/2014/main" id="{2B8E85A3-60BC-4B9C-4CA3-2184928E6BF3}"/>
              </a:ext>
            </a:extLst>
          </p:cNvPr>
          <p:cNvGrpSpPr/>
          <p:nvPr/>
        </p:nvGrpSpPr>
        <p:grpSpPr>
          <a:xfrm>
            <a:off x="548640" y="1600200"/>
            <a:ext cx="3749040" cy="4297680"/>
            <a:chOff x="548640" y="1600200"/>
            <a:chExt cx="3749040" cy="4297680"/>
          </a:xfrm>
        </p:grpSpPr>
        <p:sp>
          <p:nvSpPr>
            <p:cNvPr id="8" name="Part 1"/>
            <p:cNvSpPr/>
            <p:nvPr/>
          </p:nvSpPr>
          <p:spPr>
            <a:xfrm>
              <a:off x="548640" y="1600200"/>
              <a:ext cx="3749040" cy="4297680"/>
            </a:xfrm>
            <a:prstGeom prst="roundRect">
              <a:avLst>
                <a:gd name="adj" fmla="val 2927"/>
              </a:avLst>
            </a:prstGeom>
            <a:solidFill>
              <a:srgbClr val="0F2C59"/>
            </a:solidFill>
            <a:ln/>
            <a:effectLst>
              <a:outerShdw blurRad="127000" dist="38100" dir="5400000" algn="bl" rotWithShape="0">
                <a:srgbClr val="0F2C59">
                  <a:alpha val="12000"/>
                </a:srgbClr>
              </a:outerShdw>
            </a:effectLst>
          </p:spPr>
        </p:sp>
        <p:sp>
          <p:nvSpPr>
            <p:cNvPr id="10" name="Part 2"/>
            <p:cNvSpPr txBox="1"/>
            <p:nvPr/>
          </p:nvSpPr>
          <p:spPr>
            <a:xfrm>
              <a:off x="548640" y="2880360"/>
              <a:ext cx="3749040" cy="36576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ca kiểm thử đạt</a:t>
              </a:r>
              <a:endParaRPr lang="en-US" sz="1700" dirty="0"/>
            </a:p>
          </p:txBody>
        </p:sp>
      </p:grpSp>
      <p:sp>
        <p:nvSpPr>
          <p:cNvPr id="9" name="Shape 8"/>
          <p:cNvSpPr txBox="1"/>
          <p:nvPr/>
        </p:nvSpPr>
        <p:spPr>
          <a:xfrm>
            <a:off x="548640" y="1783080"/>
            <a:ext cx="3749040" cy="1097280"/>
          </a:xfrm>
          <a:prstGeom prst="rect">
            <a:avLst/>
          </a:prstGeom>
          <a:noFill/>
          <a:ln/>
        </p:spPr>
        <p:txBody>
          <a:bodyPr wrap="square" lIns="0" tIns="0" rIns="0" bIns="0" rtlCol="0" anchor="ctr"/>
          <a:lstStyle/>
          <a:p>
            <a:pPr marL="0" indent="0" algn="ctr">
              <a:buNone/>
            </a:pPr>
            <a:r>
              <a:rPr lang="en-US" sz="6600" b="1" dirty="0">
                <a:solidFill>
                  <a:srgbClr val="E5B53A"/>
                </a:solidFill>
                <a:latin typeface="Arial" pitchFamily="34" charset="0"/>
                <a:ea typeface="Arial" pitchFamily="34" charset="-122"/>
                <a:cs typeface="Arial" pitchFamily="34" charset="-120"/>
              </a:rPr>
              <a:t>16/16</a:t>
            </a:r>
            <a:endParaRPr lang="en-US" sz="6600" dirty="0"/>
          </a:p>
        </p:txBody>
      </p:sp>
      <p:grpSp>
        <p:nvGrpSpPr>
          <p:cNvPr id="26" name="Group 9">
            <a:extLst>
              <a:ext uri="{FF2B5EF4-FFF2-40B4-BE49-F238E27FC236}">
                <a16:creationId xmlns:a16="http://schemas.microsoft.com/office/drawing/2014/main" id="{B3FF39D6-5422-9DD7-A896-68390714D024}"/>
              </a:ext>
            </a:extLst>
          </p:cNvPr>
          <p:cNvGrpSpPr/>
          <p:nvPr/>
        </p:nvGrpSpPr>
        <p:grpSpPr>
          <a:xfrm>
            <a:off x="822960" y="3474720"/>
            <a:ext cx="3200400" cy="457200"/>
            <a:chOff x="822960" y="3474720"/>
            <a:chExt cx="3200400" cy="457200"/>
          </a:xfrm>
        </p:grpSpPr>
        <p:sp>
          <p:nvSpPr>
            <p:cNvPr id="11" name="Part 1"/>
            <p:cNvSpPr/>
            <p:nvPr/>
          </p:nvSpPr>
          <p:spPr>
            <a:xfrm>
              <a:off x="822960" y="3474720"/>
              <a:ext cx="3200400" cy="457200"/>
            </a:xfrm>
            <a:prstGeom prst="roundRect">
              <a:avLst>
                <a:gd name="adj" fmla="val 50000"/>
              </a:avLst>
            </a:prstGeom>
            <a:solidFill>
              <a:srgbClr val="1B3E73"/>
            </a:solidFill>
            <a:ln/>
          </p:spPr>
        </p:sp>
        <p:sp>
          <p:nvSpPr>
            <p:cNvPr id="12" name="Part 2"/>
            <p:cNvSpPr txBox="1"/>
            <p:nvPr/>
          </p:nvSpPr>
          <p:spPr>
            <a:xfrm>
              <a:off x="1024128" y="3474720"/>
              <a:ext cx="2286000" cy="457200"/>
            </a:xfrm>
            <a:prstGeom prst="rect">
              <a:avLst/>
            </a:prstGeom>
            <a:noFill/>
            <a:ln/>
          </p:spPr>
          <p:txBody>
            <a:bodyPr wrap="square" lIns="0" tIns="0" rIns="0" bIns="0" rtlCol="0" anchor="ctr"/>
            <a:lstStyle/>
            <a:p>
              <a:pPr marL="0" indent="0" algn="l">
                <a:buNone/>
              </a:pPr>
              <a:r>
                <a:rPr lang="en-US" sz="1250" dirty="0">
                  <a:solidFill>
                    <a:srgbClr val="FFFFFF"/>
                  </a:solidFill>
                  <a:latin typeface="Arial" pitchFamily="34" charset="0"/>
                  <a:ea typeface="Arial" pitchFamily="34" charset="-122"/>
                  <a:cs typeface="Arial" pitchFamily="34" charset="-120"/>
                </a:rPr>
                <a:t>Chức năng TC01–TC06</a:t>
              </a:r>
              <a:endParaRPr lang="en-US" sz="1250" dirty="0"/>
            </a:p>
          </p:txBody>
        </p:sp>
        <p:sp>
          <p:nvSpPr>
            <p:cNvPr id="13" name="Part 3"/>
            <p:cNvSpPr txBox="1"/>
            <p:nvPr/>
          </p:nvSpPr>
          <p:spPr>
            <a:xfrm>
              <a:off x="3108960" y="3474720"/>
              <a:ext cx="731520" cy="457200"/>
            </a:xfrm>
            <a:prstGeom prst="rect">
              <a:avLst/>
            </a:prstGeom>
            <a:noFill/>
            <a:ln/>
          </p:spPr>
          <p:txBody>
            <a:bodyPr wrap="square" lIns="0" tIns="0" rIns="0" bIns="0" rtlCol="0" anchor="ctr"/>
            <a:lstStyle/>
            <a:p>
              <a:pPr marL="0" indent="0" algn="r">
                <a:buNone/>
              </a:pPr>
              <a:r>
                <a:rPr lang="en-US" sz="1400" b="1" dirty="0">
                  <a:solidFill>
                    <a:srgbClr val="E5B53A"/>
                  </a:solidFill>
                  <a:latin typeface="Arial" pitchFamily="34" charset="0"/>
                  <a:ea typeface="Arial" pitchFamily="34" charset="-122"/>
                  <a:cs typeface="Arial" pitchFamily="34" charset="-120"/>
                </a:rPr>
                <a:t>6/6</a:t>
              </a:r>
              <a:endParaRPr lang="en-US" sz="1400" dirty="0"/>
            </a:p>
          </p:txBody>
        </p:sp>
      </p:grpSp>
      <p:grpSp>
        <p:nvGrpSpPr>
          <p:cNvPr id="27" name="Group 10">
            <a:extLst>
              <a:ext uri="{FF2B5EF4-FFF2-40B4-BE49-F238E27FC236}">
                <a16:creationId xmlns:a16="http://schemas.microsoft.com/office/drawing/2014/main" id="{C71804D4-1599-69AC-D899-FEBC6431D02E}"/>
              </a:ext>
            </a:extLst>
          </p:cNvPr>
          <p:cNvGrpSpPr/>
          <p:nvPr/>
        </p:nvGrpSpPr>
        <p:grpSpPr>
          <a:xfrm>
            <a:off x="822960" y="4041648"/>
            <a:ext cx="3200400" cy="457200"/>
            <a:chOff x="822960" y="4041648"/>
            <a:chExt cx="3200400" cy="457200"/>
          </a:xfrm>
        </p:grpSpPr>
        <p:sp>
          <p:nvSpPr>
            <p:cNvPr id="14" name="Part 1"/>
            <p:cNvSpPr/>
            <p:nvPr/>
          </p:nvSpPr>
          <p:spPr>
            <a:xfrm>
              <a:off x="822960" y="4041648"/>
              <a:ext cx="3200400" cy="457200"/>
            </a:xfrm>
            <a:prstGeom prst="roundRect">
              <a:avLst>
                <a:gd name="adj" fmla="val 50000"/>
              </a:avLst>
            </a:prstGeom>
            <a:solidFill>
              <a:srgbClr val="1B3E73"/>
            </a:solidFill>
            <a:ln/>
          </p:spPr>
        </p:sp>
        <p:sp>
          <p:nvSpPr>
            <p:cNvPr id="15" name="Part 2"/>
            <p:cNvSpPr txBox="1"/>
            <p:nvPr/>
          </p:nvSpPr>
          <p:spPr>
            <a:xfrm>
              <a:off x="1024128" y="4041648"/>
              <a:ext cx="2286000" cy="457200"/>
            </a:xfrm>
            <a:prstGeom prst="rect">
              <a:avLst/>
            </a:prstGeom>
            <a:noFill/>
            <a:ln/>
          </p:spPr>
          <p:txBody>
            <a:bodyPr wrap="square" lIns="0" tIns="0" rIns="0" bIns="0" rtlCol="0" anchor="ctr"/>
            <a:lstStyle/>
            <a:p>
              <a:pPr marL="0" indent="0" algn="l">
                <a:buNone/>
              </a:pPr>
              <a:r>
                <a:rPr lang="en-US" sz="1250" dirty="0">
                  <a:solidFill>
                    <a:srgbClr val="FFFFFF"/>
                  </a:solidFill>
                  <a:latin typeface="Arial" pitchFamily="34" charset="0"/>
                  <a:ea typeface="Arial" pitchFamily="34" charset="-122"/>
                  <a:cs typeface="Arial" pitchFamily="34" charset="-120"/>
                </a:rPr>
                <a:t>Bảo mật SEC01–SEC06</a:t>
              </a:r>
              <a:endParaRPr lang="en-US" sz="1250" dirty="0"/>
            </a:p>
          </p:txBody>
        </p:sp>
        <p:sp>
          <p:nvSpPr>
            <p:cNvPr id="16" name="Part 3"/>
            <p:cNvSpPr txBox="1"/>
            <p:nvPr/>
          </p:nvSpPr>
          <p:spPr>
            <a:xfrm>
              <a:off x="3108960" y="4041648"/>
              <a:ext cx="731520" cy="457200"/>
            </a:xfrm>
            <a:prstGeom prst="rect">
              <a:avLst/>
            </a:prstGeom>
            <a:noFill/>
            <a:ln/>
          </p:spPr>
          <p:txBody>
            <a:bodyPr wrap="square" lIns="0" tIns="0" rIns="0" bIns="0" rtlCol="0" anchor="ctr"/>
            <a:lstStyle/>
            <a:p>
              <a:pPr marL="0" indent="0" algn="r">
                <a:buNone/>
              </a:pPr>
              <a:r>
                <a:rPr lang="en-US" sz="1400" b="1" dirty="0">
                  <a:solidFill>
                    <a:srgbClr val="E5B53A"/>
                  </a:solidFill>
                  <a:latin typeface="Arial" pitchFamily="34" charset="0"/>
                  <a:ea typeface="Arial" pitchFamily="34" charset="-122"/>
                  <a:cs typeface="Arial" pitchFamily="34" charset="-120"/>
                </a:rPr>
                <a:t>6/6</a:t>
              </a:r>
              <a:endParaRPr lang="en-US" sz="1400" dirty="0"/>
            </a:p>
          </p:txBody>
        </p:sp>
      </p:grpSp>
      <p:grpSp>
        <p:nvGrpSpPr>
          <p:cNvPr id="28" name="Group 11">
            <a:extLst>
              <a:ext uri="{FF2B5EF4-FFF2-40B4-BE49-F238E27FC236}">
                <a16:creationId xmlns:a16="http://schemas.microsoft.com/office/drawing/2014/main" id="{A553261E-9C62-D31F-83D5-CB7DD57EFC80}"/>
              </a:ext>
            </a:extLst>
          </p:cNvPr>
          <p:cNvGrpSpPr/>
          <p:nvPr/>
        </p:nvGrpSpPr>
        <p:grpSpPr>
          <a:xfrm>
            <a:off x="822960" y="4608576"/>
            <a:ext cx="3200400" cy="457200"/>
            <a:chOff x="822960" y="4608576"/>
            <a:chExt cx="3200400" cy="457200"/>
          </a:xfrm>
        </p:grpSpPr>
        <p:sp>
          <p:nvSpPr>
            <p:cNvPr id="17" name="Part 1"/>
            <p:cNvSpPr/>
            <p:nvPr/>
          </p:nvSpPr>
          <p:spPr>
            <a:xfrm>
              <a:off x="822960" y="4608576"/>
              <a:ext cx="3200400" cy="457200"/>
            </a:xfrm>
            <a:prstGeom prst="roundRect">
              <a:avLst>
                <a:gd name="adj" fmla="val 50000"/>
              </a:avLst>
            </a:prstGeom>
            <a:solidFill>
              <a:srgbClr val="1B3E73"/>
            </a:solidFill>
            <a:ln/>
          </p:spPr>
        </p:sp>
        <p:sp>
          <p:nvSpPr>
            <p:cNvPr id="18" name="Part 2"/>
            <p:cNvSpPr txBox="1"/>
            <p:nvPr/>
          </p:nvSpPr>
          <p:spPr>
            <a:xfrm>
              <a:off x="1024128" y="4608576"/>
              <a:ext cx="2286000" cy="457200"/>
            </a:xfrm>
            <a:prstGeom prst="rect">
              <a:avLst/>
            </a:prstGeom>
            <a:noFill/>
            <a:ln/>
          </p:spPr>
          <p:txBody>
            <a:bodyPr wrap="square" lIns="0" tIns="0" rIns="0" bIns="0" rtlCol="0" anchor="ctr"/>
            <a:lstStyle/>
            <a:p>
              <a:pPr marL="0" indent="0" algn="l">
                <a:buNone/>
              </a:pPr>
              <a:r>
                <a:rPr lang="en-US" sz="1250" dirty="0">
                  <a:solidFill>
                    <a:srgbClr val="FFFFFF"/>
                  </a:solidFill>
                  <a:latin typeface="Arial" pitchFamily="34" charset="0"/>
                  <a:ea typeface="Arial" pitchFamily="34" charset="-122"/>
                  <a:cs typeface="Arial" pitchFamily="34" charset="-120"/>
                </a:rPr>
                <a:t>Luồng đầu–cuối E1–E4</a:t>
              </a:r>
              <a:endParaRPr lang="en-US" sz="1250" dirty="0"/>
            </a:p>
          </p:txBody>
        </p:sp>
        <p:sp>
          <p:nvSpPr>
            <p:cNvPr id="19" name="Part 3"/>
            <p:cNvSpPr txBox="1"/>
            <p:nvPr/>
          </p:nvSpPr>
          <p:spPr>
            <a:xfrm>
              <a:off x="3108960" y="4608576"/>
              <a:ext cx="731520" cy="457200"/>
            </a:xfrm>
            <a:prstGeom prst="rect">
              <a:avLst/>
            </a:prstGeom>
            <a:noFill/>
            <a:ln/>
          </p:spPr>
          <p:txBody>
            <a:bodyPr wrap="square" lIns="0" tIns="0" rIns="0" bIns="0" rtlCol="0" anchor="ctr"/>
            <a:lstStyle/>
            <a:p>
              <a:pPr marL="0" indent="0" algn="r">
                <a:buNone/>
              </a:pPr>
              <a:r>
                <a:rPr lang="en-US" sz="1400" b="1" dirty="0">
                  <a:solidFill>
                    <a:srgbClr val="E5B53A"/>
                  </a:solidFill>
                  <a:latin typeface="Arial" pitchFamily="34" charset="0"/>
                  <a:ea typeface="Arial" pitchFamily="34" charset="-122"/>
                  <a:cs typeface="Arial" pitchFamily="34" charset="-120"/>
                </a:rPr>
                <a:t>4/4</a:t>
              </a:r>
              <a:endParaRPr lang="en-US" sz="1400" dirty="0"/>
            </a:p>
          </p:txBody>
        </p:sp>
      </p:grpSp>
      <p:sp>
        <p:nvSpPr>
          <p:cNvPr id="20" name="Shape 12"/>
          <p:cNvSpPr txBox="1"/>
          <p:nvPr/>
        </p:nvSpPr>
        <p:spPr>
          <a:xfrm>
            <a:off x="548640" y="5303520"/>
            <a:ext cx="3749040" cy="320040"/>
          </a:xfrm>
          <a:prstGeom prst="rect">
            <a:avLst/>
          </a:prstGeom>
          <a:noFill/>
          <a:ln/>
        </p:spPr>
        <p:txBody>
          <a:bodyPr wrap="square" lIns="0" tIns="0" rIns="0" bIns="0" rtlCol="0" anchor="t"/>
          <a:lstStyle/>
          <a:p>
            <a:pPr marL="0" indent="0" algn="ctr">
              <a:buNone/>
            </a:pPr>
            <a:r>
              <a:rPr lang="en-US" sz="1150" dirty="0">
                <a:solidFill>
                  <a:srgbClr val="A9B7D0"/>
                </a:solidFill>
                <a:latin typeface="Arial" pitchFamily="34" charset="0"/>
                <a:ea typeface="Arial" pitchFamily="34" charset="-122"/>
                <a:cs typeface="Arial" pitchFamily="34" charset="-120"/>
              </a:rPr>
              <a:t>0 lỗi · 0 ca chưa chạy</a:t>
            </a:r>
            <a:endParaRPr lang="en-US" sz="1150" dirty="0"/>
          </a:p>
        </p:txBody>
      </p:sp>
      <p:graphicFrame>
        <p:nvGraphicFramePr>
          <p:cNvPr id="21" name="Shape 13"/>
          <p:cNvGraphicFramePr>
            <a:graphicFrameLocks noGrp="1"/>
          </p:cNvGraphicFramePr>
          <p:nvPr>
            <p:extLst>
              <p:ext uri="{D42A27DB-BD31-4B8C-83A1-F6EECF244321}">
                <p14:modId xmlns:p14="http://schemas.microsoft.com/office/powerpoint/2010/main" val="405017740"/>
              </p:ext>
            </p:extLst>
          </p:nvPr>
        </p:nvGraphicFramePr>
        <p:xfrm>
          <a:off x="4572000" y="1600200"/>
          <a:ext cx="7068312" cy="914400"/>
        </p:xfrm>
        <a:graphic>
          <a:graphicData uri="http://schemas.openxmlformats.org/drawingml/2006/table">
            <a:tbl>
              <a:tblPr/>
              <a:tblGrid>
                <a:gridCol w="868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3822192">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38912">
                <a:tc>
                  <a:txBody>
                    <a:bodyPr/>
                    <a:lstStyle/>
                    <a:p>
                      <a:pPr marL="0" indent="0">
                        <a:buNone/>
                      </a:pPr>
                      <a:r>
                        <a:rPr lang="en-US" sz="1250" b="1" dirty="0">
                          <a:solidFill>
                            <a:srgbClr val="FFFFFF"/>
                          </a:solidFill>
                          <a:latin typeface="Arial" pitchFamily="34" charset="0"/>
                          <a:ea typeface="Arial" pitchFamily="34" charset="-122"/>
                          <a:cs typeface="Arial" pitchFamily="34" charset="-120"/>
                        </a:rPr>
                        <a:t>Mã</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0F2C59"/>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Chức năng</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0F2C59"/>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Kịch bản kiểm thử</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0F2C59"/>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Kết quả</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0F2C59"/>
                    </a:solidFill>
                  </a:tcPr>
                </a:tc>
                <a:extLst>
                  <a:ext uri="{0D108BD9-81ED-4DB2-BD59-A6C34878D82A}">
                    <a16:rowId xmlns:a16="http://schemas.microsoft.com/office/drawing/2014/main" val="10000"/>
                  </a:ext>
                </a:extLst>
              </a:tr>
              <a:tr h="475488">
                <a:tc>
                  <a:txBody>
                    <a:bodyPr/>
                    <a:lstStyle/>
                    <a:p>
                      <a:pPr marL="0" indent="0">
                        <a:buNone/>
                      </a:pPr>
                      <a:r>
                        <a:rPr lang="en-US" sz="1250" b="1" dirty="0">
                          <a:solidFill>
                            <a:srgbClr val="0F2C59"/>
                          </a:solidFill>
                          <a:latin typeface="Consolas" pitchFamily="34" charset="0"/>
                          <a:ea typeface="Consolas" pitchFamily="34" charset="-122"/>
                          <a:cs typeface="Consolas" pitchFamily="34" charset="-120"/>
                        </a:rPr>
                        <a:t>TC01</a:t>
                      </a:r>
                      <a:endParaRPr lang="en-US" sz="1250" dirty="0">
                        <a:latin typeface="Consolas" charset="0"/>
                        <a:ea typeface="Consolas" charset="0"/>
                        <a:cs typeface="Consolas"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b="1" dirty="0">
                          <a:solidFill>
                            <a:srgbClr val="0F2C59"/>
                          </a:solidFill>
                          <a:latin typeface="Arial" pitchFamily="34" charset="0"/>
                          <a:ea typeface="Arial" pitchFamily="34" charset="-122"/>
                          <a:cs typeface="Arial" pitchFamily="34" charset="-120"/>
                        </a:rPr>
                        <a:t>Trang chủ</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dirty="0">
                          <a:solidFill>
                            <a:srgbClr val="374151"/>
                          </a:solidFill>
                          <a:latin typeface="Arial" pitchFamily="34" charset="0"/>
                          <a:ea typeface="Arial" pitchFamily="34" charset="-122"/>
                          <a:cs typeface="Arial" pitchFamily="34" charset="-120"/>
                        </a:rPr>
                        <a:t>Truy cập / → hiển thị đủ các khối, không lỗi PHP</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5803D"/>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475488">
                <a:tc>
                  <a:txBody>
                    <a:bodyPr/>
                    <a:lstStyle/>
                    <a:p>
                      <a:pPr marL="0" indent="0">
                        <a:buNone/>
                      </a:pPr>
                      <a:r>
                        <a:rPr lang="en-US" sz="1250" b="1" dirty="0">
                          <a:solidFill>
                            <a:srgbClr val="0F2C59"/>
                          </a:solidFill>
                          <a:latin typeface="Consolas" pitchFamily="34" charset="0"/>
                          <a:ea typeface="Consolas" pitchFamily="34" charset="-122"/>
                          <a:cs typeface="Consolas" pitchFamily="34" charset="-120"/>
                        </a:rPr>
                        <a:t>TC02</a:t>
                      </a:r>
                      <a:endParaRPr lang="en-US" sz="1250" dirty="0">
                        <a:latin typeface="Consolas" charset="0"/>
                        <a:ea typeface="Consolas" charset="0"/>
                        <a:cs typeface="Consolas"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1250" b="1" dirty="0">
                          <a:solidFill>
                            <a:srgbClr val="0F2C59"/>
                          </a:solidFill>
                          <a:latin typeface="Arial" pitchFamily="34" charset="0"/>
                          <a:ea typeface="Arial" pitchFamily="34" charset="-122"/>
                          <a:cs typeface="Arial" pitchFamily="34" charset="-120"/>
                        </a:rPr>
                        <a:t>Tin tức</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1250" dirty="0">
                          <a:solidFill>
                            <a:srgbClr val="374151"/>
                          </a:solidFill>
                          <a:latin typeface="Arial" pitchFamily="34" charset="0"/>
                          <a:ea typeface="Arial" pitchFamily="34" charset="-122"/>
                          <a:cs typeface="Arial" pitchFamily="34" charset="-120"/>
                        </a:rPr>
                        <a:t>Bài công khai hiển thị; bài nháp trả về 404</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8FAFC"/>
                    </a:solidFill>
                  </a:tcPr>
                </a:tc>
                <a:tc>
                  <a:txBody>
                    <a:bodyPr/>
                    <a:lstStyle/>
                    <a:p>
                      <a:pPr marL="0" indent="0" algn="ctr">
                        <a:buNone/>
                      </a:pPr>
                      <a:r>
                        <a:rPr lang="en-US" sz="1250" b="1" dirty="0">
                          <a:solidFill>
                            <a:srgbClr val="15803D"/>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FCE7"/>
                    </a:solidFill>
                  </a:tcPr>
                </a:tc>
                <a:extLst>
                  <a:ext uri="{0D108BD9-81ED-4DB2-BD59-A6C34878D82A}">
                    <a16:rowId xmlns:a16="http://schemas.microsoft.com/office/drawing/2014/main" val="10002"/>
                  </a:ext>
                </a:extLst>
              </a:tr>
              <a:tr h="475488">
                <a:tc>
                  <a:txBody>
                    <a:bodyPr/>
                    <a:lstStyle/>
                    <a:p>
                      <a:pPr marL="0" indent="0">
                        <a:buNone/>
                      </a:pPr>
                      <a:r>
                        <a:rPr lang="en-US" sz="1250" b="1" dirty="0">
                          <a:solidFill>
                            <a:srgbClr val="0F2C59"/>
                          </a:solidFill>
                          <a:latin typeface="Consolas" pitchFamily="34" charset="0"/>
                          <a:ea typeface="Consolas" pitchFamily="34" charset="-122"/>
                          <a:cs typeface="Consolas" pitchFamily="34" charset="-120"/>
                        </a:rPr>
                        <a:t>TC03</a:t>
                      </a:r>
                      <a:endParaRPr lang="en-US" sz="1250" dirty="0">
                        <a:latin typeface="Consolas" charset="0"/>
                        <a:ea typeface="Consolas" charset="0"/>
                        <a:cs typeface="Consolas"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b="1" dirty="0">
                          <a:solidFill>
                            <a:srgbClr val="0F2C59"/>
                          </a:solidFill>
                          <a:latin typeface="Arial" pitchFamily="34" charset="0"/>
                          <a:ea typeface="Arial" pitchFamily="34" charset="-122"/>
                          <a:cs typeface="Arial" pitchFamily="34" charset="-120"/>
                        </a:rPr>
                        <a:t>Đăng ký</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dirty="0">
                          <a:solidFill>
                            <a:srgbClr val="374151"/>
                          </a:solidFill>
                          <a:latin typeface="Arial" pitchFamily="34" charset="0"/>
                          <a:ea typeface="Arial" pitchFamily="34" charset="-122"/>
                          <a:cs typeface="Arial" pitchFamily="34" charset="-120"/>
                        </a:rPr>
                        <a:t>Dữ liệu hợp lệ → lưu hồ sơ, trạng thái “moi”</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5803D"/>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FCE7"/>
                    </a:solidFill>
                  </a:tcPr>
                </a:tc>
                <a:extLst>
                  <a:ext uri="{0D108BD9-81ED-4DB2-BD59-A6C34878D82A}">
                    <a16:rowId xmlns:a16="http://schemas.microsoft.com/office/drawing/2014/main" val="10003"/>
                  </a:ext>
                </a:extLst>
              </a:tr>
              <a:tr h="475488">
                <a:tc>
                  <a:txBody>
                    <a:bodyPr/>
                    <a:lstStyle/>
                    <a:p>
                      <a:pPr marL="0" indent="0">
                        <a:buNone/>
                      </a:pPr>
                      <a:r>
                        <a:rPr lang="en-US" sz="1250" b="1" dirty="0">
                          <a:solidFill>
                            <a:srgbClr val="0F2C59"/>
                          </a:solidFill>
                          <a:latin typeface="Consolas" pitchFamily="34" charset="0"/>
                          <a:ea typeface="Consolas" pitchFamily="34" charset="-122"/>
                          <a:cs typeface="Consolas" pitchFamily="34" charset="-120"/>
                        </a:rPr>
                        <a:t>TC04</a:t>
                      </a:r>
                      <a:endParaRPr lang="en-US" sz="1250" dirty="0">
                        <a:latin typeface="Consolas" charset="0"/>
                        <a:ea typeface="Consolas" charset="0"/>
                        <a:cs typeface="Consolas"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1250" b="1" dirty="0">
                          <a:solidFill>
                            <a:srgbClr val="0F2C59"/>
                          </a:solidFill>
                          <a:latin typeface="Arial" pitchFamily="34" charset="0"/>
                          <a:ea typeface="Arial" pitchFamily="34" charset="-122"/>
                          <a:cs typeface="Arial" pitchFamily="34" charset="-120"/>
                        </a:rPr>
                        <a:t>Đăng ký</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1250" dirty="0">
                          <a:solidFill>
                            <a:srgbClr val="374151"/>
                          </a:solidFill>
                          <a:latin typeface="Arial" pitchFamily="34" charset="0"/>
                          <a:ea typeface="Arial" pitchFamily="34" charset="-122"/>
                          <a:cs typeface="Arial" pitchFamily="34" charset="-120"/>
                        </a:rPr>
                        <a:t>Thiếu / sai email → báo lỗi, giữ dữ liệu đã nhập</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8FAFC"/>
                    </a:solidFill>
                  </a:tcPr>
                </a:tc>
                <a:tc>
                  <a:txBody>
                    <a:bodyPr/>
                    <a:lstStyle/>
                    <a:p>
                      <a:pPr marL="0" indent="0" algn="ctr">
                        <a:buNone/>
                      </a:pPr>
                      <a:r>
                        <a:rPr lang="en-US" sz="1250" b="1" dirty="0">
                          <a:solidFill>
                            <a:srgbClr val="15803D"/>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FCE7"/>
                    </a:solidFill>
                  </a:tcPr>
                </a:tc>
                <a:extLst>
                  <a:ext uri="{0D108BD9-81ED-4DB2-BD59-A6C34878D82A}">
                    <a16:rowId xmlns:a16="http://schemas.microsoft.com/office/drawing/2014/main" val="10004"/>
                  </a:ext>
                </a:extLst>
              </a:tr>
              <a:tr h="475488">
                <a:tc>
                  <a:txBody>
                    <a:bodyPr/>
                    <a:lstStyle/>
                    <a:p>
                      <a:pPr marL="0" indent="0">
                        <a:buNone/>
                      </a:pPr>
                      <a:r>
                        <a:rPr lang="en-US" sz="1250" b="1" dirty="0">
                          <a:solidFill>
                            <a:srgbClr val="0F2C59"/>
                          </a:solidFill>
                          <a:latin typeface="Consolas" pitchFamily="34" charset="0"/>
                          <a:ea typeface="Consolas" pitchFamily="34" charset="-122"/>
                          <a:cs typeface="Consolas" pitchFamily="34" charset="-120"/>
                        </a:rPr>
                        <a:t>TC05</a:t>
                      </a:r>
                      <a:endParaRPr lang="en-US" sz="1250" dirty="0">
                        <a:latin typeface="Consolas" charset="0"/>
                        <a:ea typeface="Consolas" charset="0"/>
                        <a:cs typeface="Consolas"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b="1" dirty="0">
                          <a:solidFill>
                            <a:srgbClr val="0F2C59"/>
                          </a:solidFill>
                          <a:latin typeface="Arial" pitchFamily="34" charset="0"/>
                          <a:ea typeface="Arial" pitchFamily="34" charset="-122"/>
                          <a:cs typeface="Arial" pitchFamily="34" charset="-120"/>
                        </a:rPr>
                        <a:t>Đăng nhập</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dirty="0">
                          <a:solidFill>
                            <a:srgbClr val="374151"/>
                          </a:solidFill>
                          <a:latin typeface="Arial" pitchFamily="34" charset="0"/>
                          <a:ea typeface="Arial" pitchFamily="34" charset="-122"/>
                          <a:cs typeface="Arial" pitchFamily="34" charset="-120"/>
                        </a:rPr>
                        <a:t>Sai mật khẩu → từ chối, thông báo chung</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5803D"/>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FCE7"/>
                    </a:solidFill>
                  </a:tcPr>
                </a:tc>
                <a:extLst>
                  <a:ext uri="{0D108BD9-81ED-4DB2-BD59-A6C34878D82A}">
                    <a16:rowId xmlns:a16="http://schemas.microsoft.com/office/drawing/2014/main" val="10005"/>
                  </a:ext>
                </a:extLst>
              </a:tr>
              <a:tr h="475488">
                <a:tc>
                  <a:txBody>
                    <a:bodyPr/>
                    <a:lstStyle/>
                    <a:p>
                      <a:pPr marL="0" indent="0">
                        <a:buNone/>
                      </a:pPr>
                      <a:r>
                        <a:rPr lang="en-US" sz="1250" b="1" dirty="0">
                          <a:solidFill>
                            <a:srgbClr val="0F2C59"/>
                          </a:solidFill>
                          <a:latin typeface="Consolas" pitchFamily="34" charset="0"/>
                          <a:ea typeface="Consolas" pitchFamily="34" charset="-122"/>
                          <a:cs typeface="Consolas" pitchFamily="34" charset="-120"/>
                        </a:rPr>
                        <a:t>TC06</a:t>
                      </a:r>
                      <a:endParaRPr lang="en-US" sz="1250" dirty="0">
                        <a:latin typeface="Consolas" charset="0"/>
                        <a:ea typeface="Consolas" charset="0"/>
                        <a:cs typeface="Consolas"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1250" b="1" dirty="0">
                          <a:solidFill>
                            <a:srgbClr val="0F2C59"/>
                          </a:solidFill>
                          <a:latin typeface="Arial" pitchFamily="34" charset="0"/>
                          <a:ea typeface="Arial" pitchFamily="34" charset="-122"/>
                          <a:cs typeface="Arial" pitchFamily="34" charset="-120"/>
                        </a:rPr>
                        <a:t>Quản lý tin</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1250" dirty="0">
                          <a:solidFill>
                            <a:srgbClr val="374151"/>
                          </a:solidFill>
                          <a:latin typeface="Arial" pitchFamily="34" charset="0"/>
                          <a:ea typeface="Arial" pitchFamily="34" charset="-122"/>
                          <a:cs typeface="Arial" pitchFamily="34" charset="-120"/>
                        </a:rPr>
                        <a:t>Thêm tin công khai → hiện ở trang công khai</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8FAFC"/>
                    </a:solidFill>
                  </a:tcPr>
                </a:tc>
                <a:tc>
                  <a:txBody>
                    <a:bodyPr/>
                    <a:lstStyle/>
                    <a:p>
                      <a:pPr marL="0" indent="0" algn="ctr">
                        <a:buNone/>
                      </a:pPr>
                      <a:r>
                        <a:rPr lang="en-US" sz="1250" b="1" dirty="0">
                          <a:solidFill>
                            <a:srgbClr val="15803D"/>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marL="109728" marR="109728"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FCE7"/>
                    </a:solidFill>
                  </a:tcPr>
                </a:tc>
                <a:extLst>
                  <a:ext uri="{0D108BD9-81ED-4DB2-BD59-A6C34878D82A}">
                    <a16:rowId xmlns:a16="http://schemas.microsoft.com/office/drawing/2014/main" val="10006"/>
                  </a:ext>
                </a:extLst>
              </a:tr>
            </a:tbl>
          </a:graphicData>
        </a:graphic>
      </p:graphicFrame>
      <p:grpSp>
        <p:nvGrpSpPr>
          <p:cNvPr id="29" name="Group 14">
            <a:extLst>
              <a:ext uri="{FF2B5EF4-FFF2-40B4-BE49-F238E27FC236}">
                <a16:creationId xmlns:a16="http://schemas.microsoft.com/office/drawing/2014/main" id="{C01E98A0-FB4C-7939-A228-AA210AB6449C}"/>
              </a:ext>
            </a:extLst>
          </p:cNvPr>
          <p:cNvGrpSpPr/>
          <p:nvPr/>
        </p:nvGrpSpPr>
        <p:grpSpPr>
          <a:xfrm>
            <a:off x="4572000" y="5138928"/>
            <a:ext cx="7068312" cy="758952"/>
            <a:chOff x="4572000" y="5138928"/>
            <a:chExt cx="7068312" cy="758952"/>
          </a:xfrm>
        </p:grpSpPr>
        <p:sp>
          <p:nvSpPr>
            <p:cNvPr id="22" name="Part 1"/>
            <p:cNvSpPr/>
            <p:nvPr/>
          </p:nvSpPr>
          <p:spPr>
            <a:xfrm>
              <a:off x="4572000" y="5138928"/>
              <a:ext cx="7068312" cy="758952"/>
            </a:xfrm>
            <a:prstGeom prst="roundRect">
              <a:avLst>
                <a:gd name="adj" fmla="val 14458"/>
              </a:avLst>
            </a:prstGeom>
            <a:solidFill>
              <a:srgbClr val="E8EDF5"/>
            </a:solidFill>
            <a:ln/>
          </p:spPr>
        </p:sp>
        <p:pic>
          <p:nvPicPr>
            <p:cNvPr id="23" name="Part 2" descr="Biểu tượng"/>
            <p:cNvPicPr>
              <a:picLocks noChangeAspect="1"/>
            </p:cNvPicPr>
            <p:nvPr/>
          </p:nvPicPr>
          <p:blipFill>
            <a:blip r:embed="rId3"/>
            <a:stretch>
              <a:fillRect/>
            </a:stretch>
          </p:blipFill>
          <p:spPr>
            <a:xfrm>
              <a:off x="4773168" y="5330952"/>
              <a:ext cx="384048" cy="384048"/>
            </a:xfrm>
            <a:prstGeom prst="rect">
              <a:avLst/>
            </a:prstGeom>
          </p:spPr>
        </p:pic>
        <p:sp>
          <p:nvSpPr>
            <p:cNvPr id="24" name="Part 3"/>
            <p:cNvSpPr txBox="1"/>
            <p:nvPr/>
          </p:nvSpPr>
          <p:spPr>
            <a:xfrm>
              <a:off x="5321808" y="5138928"/>
              <a:ext cx="6172200" cy="758952"/>
            </a:xfrm>
            <a:prstGeom prst="rect">
              <a:avLst/>
            </a:prstGeom>
            <a:noFill/>
            <a:ln/>
          </p:spPr>
          <p:txBody>
            <a:bodyPr wrap="square" lIns="0" tIns="0" rIns="0" bIns="0" rtlCol="0" anchor="ctr"/>
            <a:lstStyle/>
            <a:p>
              <a:pPr marL="0" indent="0" algn="l">
                <a:buNone/>
              </a:pPr>
              <a:r>
                <a:rPr lang="en-US" sz="1250" b="1" dirty="0">
                  <a:solidFill>
                    <a:srgbClr val="0F2C59"/>
                  </a:solidFill>
                  <a:latin typeface="Arial" pitchFamily="34" charset="0"/>
                  <a:ea typeface="Arial" pitchFamily="34" charset="-122"/>
                  <a:cs typeface="Arial" pitchFamily="34" charset="-120"/>
                </a:rPr>
                <a:t>Kiểm tra bổ sung: </a:t>
              </a:r>
              <a:r>
                <a:rPr lang="en-US" sz="1250" dirty="0">
                  <a:solidFill>
                    <a:srgbClr val="0F2C59"/>
                  </a:solidFill>
                  <a:latin typeface="Arial" pitchFamily="34" charset="0"/>
                  <a:ea typeface="Arial" pitchFamily="34" charset="-122"/>
                  <a:cs typeface="Arial" pitchFamily="34" charset="-120"/>
                </a:rPr>
                <a:t>smoke 20 route · lint 67 file PHP · 18 trang × 3 độ rộng màn hình</a:t>
              </a:r>
              <a:endParaRPr lang="en-US" sz="125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par>
                          <p:cTn id="15" fill="hold">
                            <p:stCondLst>
                              <p:cond delay="500"/>
                            </p:stCondLst>
                            <p:childTnLst>
                              <p:par>
                                <p:cTn id="16" presetID="10" presetClass="entr" presetSubtype="0"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par>
                                <p:cTn id="19" presetID="10" presetClass="entr" presetSubtype="0" fill="hold" nodeType="withEffect">
                                  <p:stCondLst>
                                    <p:cond delay="12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par>
                                <p:cTn id="22" presetID="10" presetClass="entr" presetSubtype="0" fill="hold" nodeType="withEffect">
                                  <p:stCondLst>
                                    <p:cond delay="24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grpId="0" nodeType="withEffect">
                                  <p:stCondLst>
                                    <p:cond delay="36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par>
                          <p:cTn id="28" fill="hold">
                            <p:stCondLst>
                              <p:cond delay="1360"/>
                            </p:stCondLst>
                            <p:childTnLst>
                              <p:par>
                                <p:cTn id="29" presetID="10" presetClass="entr" presetSubtype="0"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par>
                          <p:cTn id="32" fill="hold">
                            <p:stCondLst>
                              <p:cond delay="1860"/>
                            </p:stCondLst>
                            <p:childTnLst>
                              <p:par>
                                <p:cTn id="33" presetID="10" presetClass="entr" presetSubtype="0" fill="hold"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00"/>
                                        <p:tgtEl>
                                          <p:spTgt spid="29"/>
                                        </p:tgtEl>
                                      </p:cBhvr>
                                    </p:animEffect>
                                  </p:childTnLst>
                                </p:cTn>
                              </p:par>
                            </p:childTnLst>
                          </p:cTn>
                        </p:par>
                        <p:par>
                          <p:cTn id="36" fill="hold">
                            <p:stCondLst>
                              <p:cond delay="2360"/>
                            </p:stCondLst>
                            <p:childTnLst>
                              <p:par>
                                <p:cTn id="37" presetID="6" presetClass="emph" presetSubtype="0" autoRev="1" fill="hold" grpId="1" nodeType="afterEffect">
                                  <p:stCondLst>
                                    <p:cond delay="0"/>
                                  </p:stCondLst>
                                  <p:childTnLst>
                                    <p:animScale>
                                      <p:cBhvr>
                                        <p:cTn id="38" dur="400" fill="hold"/>
                                        <p:tgtEl>
                                          <p:spTgt spid="9"/>
                                        </p:tgtEl>
                                      </p:cBhvr>
                                      <p:by x="150000" y="15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Cài đặt và chạy hệ thống</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Chạy lại được trên máy bất kỳ có Docker; phương án dự phòng là XAMPP</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05 · ĐÁNH GIÁ</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16 / 18</a:t>
            </a:r>
            <a:endParaRPr lang="en-US" sz="1000" dirty="0"/>
          </a:p>
        </p:txBody>
      </p:sp>
      <p:grpSp>
        <p:nvGrpSpPr>
          <p:cNvPr id="43" name="Group 7">
            <a:extLst>
              <a:ext uri="{FF2B5EF4-FFF2-40B4-BE49-F238E27FC236}">
                <a16:creationId xmlns:a16="http://schemas.microsoft.com/office/drawing/2014/main" id="{0DF90EFA-5691-98E4-4AA7-2476288E69EC}"/>
              </a:ext>
            </a:extLst>
          </p:cNvPr>
          <p:cNvGrpSpPr/>
          <p:nvPr/>
        </p:nvGrpSpPr>
        <p:grpSpPr>
          <a:xfrm>
            <a:off x="548640" y="1600200"/>
            <a:ext cx="5577840" cy="2834640"/>
            <a:chOff x="548640" y="1600200"/>
            <a:chExt cx="5577840" cy="2834640"/>
          </a:xfrm>
        </p:grpSpPr>
        <p:sp>
          <p:nvSpPr>
            <p:cNvPr id="8" name="Part 1"/>
            <p:cNvSpPr/>
            <p:nvPr/>
          </p:nvSpPr>
          <p:spPr>
            <a:xfrm>
              <a:off x="548640" y="1600200"/>
              <a:ext cx="5577840" cy="2834640"/>
            </a:xfrm>
            <a:prstGeom prst="roundRect">
              <a:avLst>
                <a:gd name="adj" fmla="val 3871"/>
              </a:avLst>
            </a:prstGeom>
            <a:solidFill>
              <a:srgbClr val="0A1F40"/>
            </a:solidFill>
            <a:ln/>
            <a:effectLst>
              <a:outerShdw blurRad="127000" dist="38100" dir="5400000" algn="bl" rotWithShape="0">
                <a:srgbClr val="0F2C59">
                  <a:alpha val="12000"/>
                </a:srgbClr>
              </a:outerShdw>
            </a:effectLst>
          </p:spPr>
        </p:sp>
        <p:sp>
          <p:nvSpPr>
            <p:cNvPr id="9" name="Part 2"/>
            <p:cNvSpPr/>
            <p:nvPr/>
          </p:nvSpPr>
          <p:spPr>
            <a:xfrm>
              <a:off x="777240" y="1783080"/>
              <a:ext cx="128016" cy="128016"/>
            </a:xfrm>
            <a:prstGeom prst="ellipse">
              <a:avLst/>
            </a:prstGeom>
            <a:solidFill>
              <a:srgbClr val="3A4E75"/>
            </a:solidFill>
            <a:ln/>
          </p:spPr>
        </p:sp>
        <p:sp>
          <p:nvSpPr>
            <p:cNvPr id="10" name="Part 3"/>
            <p:cNvSpPr/>
            <p:nvPr/>
          </p:nvSpPr>
          <p:spPr>
            <a:xfrm>
              <a:off x="996696" y="1783080"/>
              <a:ext cx="128016" cy="128016"/>
            </a:xfrm>
            <a:prstGeom prst="ellipse">
              <a:avLst/>
            </a:prstGeom>
            <a:solidFill>
              <a:srgbClr val="3A4E75"/>
            </a:solidFill>
            <a:ln/>
          </p:spPr>
        </p:sp>
        <p:sp>
          <p:nvSpPr>
            <p:cNvPr id="11" name="Part 4"/>
            <p:cNvSpPr/>
            <p:nvPr/>
          </p:nvSpPr>
          <p:spPr>
            <a:xfrm>
              <a:off x="1216152" y="1783080"/>
              <a:ext cx="128016" cy="128016"/>
            </a:xfrm>
            <a:prstGeom prst="ellipse">
              <a:avLst/>
            </a:prstGeom>
            <a:solidFill>
              <a:srgbClr val="3A4E75"/>
            </a:solidFill>
            <a:ln/>
          </p:spPr>
        </p:sp>
        <p:sp>
          <p:nvSpPr>
            <p:cNvPr id="12" name="Part 5"/>
            <p:cNvSpPr txBox="1"/>
            <p:nvPr/>
          </p:nvSpPr>
          <p:spPr>
            <a:xfrm>
              <a:off x="1554480" y="1700784"/>
              <a:ext cx="2743200" cy="292608"/>
            </a:xfrm>
            <a:prstGeom prst="rect">
              <a:avLst/>
            </a:prstGeom>
            <a:noFill/>
            <a:ln/>
          </p:spPr>
          <p:txBody>
            <a:bodyPr wrap="square" lIns="0" tIns="0" rIns="0" bIns="0" rtlCol="0" anchor="t"/>
            <a:lstStyle/>
            <a:p>
              <a:pPr marL="0" indent="0" algn="l">
                <a:buNone/>
              </a:pPr>
              <a:r>
                <a:rPr lang="en-US" sz="1200" b="1" dirty="0">
                  <a:solidFill>
                    <a:srgbClr val="E5B53A"/>
                  </a:solidFill>
                  <a:latin typeface="Arial" pitchFamily="34" charset="0"/>
                  <a:ea typeface="Arial" pitchFamily="34" charset="-122"/>
                  <a:cs typeface="Arial" pitchFamily="34" charset="-120"/>
                </a:rPr>
                <a:t>Chạy bằng Docker</a:t>
              </a:r>
              <a:endParaRPr lang="en-US" sz="1200" dirty="0"/>
            </a:p>
          </p:txBody>
        </p:sp>
      </p:grpSp>
      <p:sp>
        <p:nvSpPr>
          <p:cNvPr id="13" name="Shape 8"/>
          <p:cNvSpPr txBox="1"/>
          <p:nvPr/>
        </p:nvSpPr>
        <p:spPr>
          <a:xfrm>
            <a:off x="822960" y="2194560"/>
            <a:ext cx="5120640" cy="2103120"/>
          </a:xfrm>
          <a:prstGeom prst="rect">
            <a:avLst/>
          </a:prstGeom>
          <a:noFill/>
          <a:ln/>
        </p:spPr>
        <p:txBody>
          <a:bodyPr wrap="square" lIns="0" tIns="0" rIns="0" bIns="0" rtlCol="0" anchor="t"/>
          <a:lstStyle/>
          <a:p>
            <a:pPr marL="0" indent="0" algn="l">
              <a:lnSpc>
                <a:spcPct val="125000"/>
              </a:lnSpc>
              <a:buNone/>
            </a:pPr>
            <a:r>
              <a:rPr lang="en-US" sz="1400" dirty="0">
                <a:solidFill>
                  <a:srgbClr val="E5B53A"/>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cd docker</a:t>
            </a:r>
            <a:endParaRPr lang="en-US" sz="1400" dirty="0"/>
          </a:p>
          <a:p>
            <a:pPr marL="0" indent="0" algn="l">
              <a:lnSpc>
                <a:spcPct val="125000"/>
              </a:lnSpc>
              <a:buNone/>
            </a:pPr>
            <a:r>
              <a:rPr lang="en-US" sz="1400" dirty="0">
                <a:solidFill>
                  <a:srgbClr val="E5B53A"/>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cp .env.example .env</a:t>
            </a:r>
            <a:endParaRPr lang="en-US" sz="1400" dirty="0"/>
          </a:p>
          <a:p>
            <a:pPr marL="0" indent="0" algn="l">
              <a:lnSpc>
                <a:spcPct val="125000"/>
              </a:lnSpc>
              <a:buNone/>
            </a:pPr>
            <a:r>
              <a:rPr lang="en-US" sz="1400" dirty="0">
                <a:solidFill>
                  <a:srgbClr val="E5B53A"/>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docker compose up -d --build</a:t>
            </a:r>
            <a:endParaRPr lang="en-US" sz="1400" dirty="0"/>
          </a:p>
          <a:p>
            <a:pPr marL="0" indent="0" algn="l">
              <a:lnSpc>
                <a:spcPct val="125000"/>
              </a:lnSpc>
              <a:buNone/>
            </a:pPr>
            <a:r>
              <a:rPr lang="en-US" sz="1400" dirty="0">
                <a:solidFill>
                  <a:srgbClr val="A9B7D0"/>
                </a:solidFill>
                <a:latin typeface="Consolas" pitchFamily="34" charset="0"/>
                <a:ea typeface="Consolas" pitchFamily="34" charset="-122"/>
                <a:cs typeface="Consolas" pitchFamily="34" charset="-120"/>
              </a:rPr>
              <a:t> </a:t>
            </a:r>
            <a:endParaRPr lang="en-US" sz="1400" dirty="0"/>
          </a:p>
          <a:p>
            <a:pPr marL="0" indent="0" algn="l">
              <a:lnSpc>
                <a:spcPct val="125000"/>
              </a:lnSpc>
              <a:buNone/>
            </a:pPr>
            <a:r>
              <a:rPr lang="en-US" sz="1400" dirty="0">
                <a:solidFill>
                  <a:srgbClr val="E5B53A"/>
                </a:solidFill>
                <a:latin typeface="Consolas" pitchFamily="34" charset="0"/>
                <a:ea typeface="Consolas" pitchFamily="34" charset="-122"/>
                <a:cs typeface="Consolas" pitchFamily="34" charset="-120"/>
              </a:rPr>
              <a:t>→ </a:t>
            </a:r>
            <a:r>
              <a:rPr lang="en-US" sz="1400" dirty="0">
                <a:solidFill>
                  <a:srgbClr val="A9B7D0"/>
                </a:solidFill>
                <a:latin typeface="Consolas" pitchFamily="34" charset="0"/>
                <a:ea typeface="Consolas" pitchFamily="34" charset="-122"/>
                <a:cs typeface="Consolas" pitchFamily="34" charset="-120"/>
              </a:rPr>
              <a:t>Website     </a:t>
            </a:r>
            <a:r>
              <a:rPr lang="en-US" sz="1400" dirty="0">
                <a:solidFill>
                  <a:srgbClr val="FFFFFF"/>
                </a:solidFill>
                <a:latin typeface="Consolas" pitchFamily="34" charset="0"/>
                <a:ea typeface="Consolas" pitchFamily="34" charset="-122"/>
                <a:cs typeface="Consolas" pitchFamily="34" charset="-120"/>
              </a:rPr>
              <a:t>http://localhost:8080</a:t>
            </a:r>
            <a:endParaRPr lang="en-US" sz="1400" dirty="0"/>
          </a:p>
          <a:p>
            <a:pPr marL="0" indent="0" algn="l">
              <a:lnSpc>
                <a:spcPct val="125000"/>
              </a:lnSpc>
              <a:buNone/>
            </a:pPr>
            <a:r>
              <a:rPr lang="en-US" sz="1400" dirty="0">
                <a:solidFill>
                  <a:srgbClr val="E5B53A"/>
                </a:solidFill>
                <a:latin typeface="Consolas" pitchFamily="34" charset="0"/>
                <a:ea typeface="Consolas" pitchFamily="34" charset="-122"/>
                <a:cs typeface="Consolas" pitchFamily="34" charset="-120"/>
              </a:rPr>
              <a:t>→ </a:t>
            </a:r>
            <a:r>
              <a:rPr lang="en-US" sz="1400" dirty="0">
                <a:solidFill>
                  <a:srgbClr val="A9B7D0"/>
                </a:solidFill>
                <a:latin typeface="Consolas" pitchFamily="34" charset="0"/>
                <a:ea typeface="Consolas" pitchFamily="34" charset="-122"/>
                <a:cs typeface="Consolas" pitchFamily="34" charset="-120"/>
              </a:rPr>
              <a:t>phpMyAdmin  </a:t>
            </a:r>
            <a:r>
              <a:rPr lang="en-US" sz="1400" dirty="0">
                <a:solidFill>
                  <a:srgbClr val="FFFFFF"/>
                </a:solidFill>
                <a:latin typeface="Consolas" pitchFamily="34" charset="0"/>
                <a:ea typeface="Consolas" pitchFamily="34" charset="-122"/>
                <a:cs typeface="Consolas" pitchFamily="34" charset="-120"/>
              </a:rPr>
              <a:t>http://localhost:8081</a:t>
            </a:r>
            <a:endParaRPr lang="en-US" sz="1400" dirty="0"/>
          </a:p>
          <a:p>
            <a:pPr marL="0" indent="0" algn="l">
              <a:lnSpc>
                <a:spcPct val="125000"/>
              </a:lnSpc>
              <a:buNone/>
            </a:pPr>
            <a:r>
              <a:rPr lang="en-US" sz="1400" dirty="0">
                <a:solidFill>
                  <a:srgbClr val="E5B53A"/>
                </a:solidFill>
                <a:latin typeface="Consolas" pitchFamily="34" charset="0"/>
                <a:ea typeface="Consolas" pitchFamily="34" charset="-122"/>
                <a:cs typeface="Consolas" pitchFamily="34" charset="-120"/>
              </a:rPr>
              <a:t>→ </a:t>
            </a:r>
            <a:r>
              <a:rPr lang="en-US" sz="1400" dirty="0">
                <a:solidFill>
                  <a:srgbClr val="A9B7D0"/>
                </a:solidFill>
                <a:latin typeface="Consolas" pitchFamily="34" charset="0"/>
                <a:ea typeface="Consolas" pitchFamily="34" charset="-122"/>
                <a:cs typeface="Consolas" pitchFamily="34" charset="-120"/>
              </a:rPr>
              <a:t>MySQL 8.0   </a:t>
            </a:r>
            <a:r>
              <a:rPr lang="en-US" sz="1400" dirty="0">
                <a:solidFill>
                  <a:srgbClr val="FFFFFF"/>
                </a:solidFill>
                <a:latin typeface="Consolas" pitchFamily="34" charset="0"/>
                <a:ea typeface="Consolas" pitchFamily="34" charset="-122"/>
                <a:cs typeface="Consolas" pitchFamily="34" charset="-120"/>
              </a:rPr>
              <a:t>dnc_school (tự nạp dữ liệu)</a:t>
            </a:r>
            <a:endParaRPr lang="en-US" sz="1400" dirty="0"/>
          </a:p>
        </p:txBody>
      </p:sp>
      <p:grpSp>
        <p:nvGrpSpPr>
          <p:cNvPr id="44" name="Group 9">
            <a:extLst>
              <a:ext uri="{FF2B5EF4-FFF2-40B4-BE49-F238E27FC236}">
                <a16:creationId xmlns:a16="http://schemas.microsoft.com/office/drawing/2014/main" id="{27E22142-5B0A-A91D-A5E0-647E2CEBCB56}"/>
              </a:ext>
            </a:extLst>
          </p:cNvPr>
          <p:cNvGrpSpPr/>
          <p:nvPr/>
        </p:nvGrpSpPr>
        <p:grpSpPr>
          <a:xfrm>
            <a:off x="548640" y="4663440"/>
            <a:ext cx="5577840" cy="1234440"/>
            <a:chOff x="548640" y="4663440"/>
            <a:chExt cx="5577840" cy="1234440"/>
          </a:xfrm>
        </p:grpSpPr>
        <p:sp>
          <p:nvSpPr>
            <p:cNvPr id="14" name="Part 1"/>
            <p:cNvSpPr/>
            <p:nvPr/>
          </p:nvSpPr>
          <p:spPr>
            <a:xfrm>
              <a:off x="548640" y="4663440"/>
              <a:ext cx="5577840" cy="1234440"/>
            </a:xfrm>
            <a:prstGeom prst="roundRect">
              <a:avLst>
                <a:gd name="adj" fmla="val 8889"/>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15" name="Part 2"/>
            <p:cNvSpPr/>
            <p:nvPr/>
          </p:nvSpPr>
          <p:spPr>
            <a:xfrm>
              <a:off x="777240" y="5029200"/>
              <a:ext cx="512064" cy="512064"/>
            </a:xfrm>
            <a:prstGeom prst="ellipse">
              <a:avLst/>
            </a:prstGeom>
            <a:solidFill>
              <a:srgbClr val="E8EDF5"/>
            </a:solidFill>
            <a:ln/>
          </p:spPr>
        </p:sp>
        <p:pic>
          <p:nvPicPr>
            <p:cNvPr id="16" name="Part 3" descr="Biểu tượng"/>
            <p:cNvPicPr>
              <a:picLocks noChangeAspect="1"/>
            </p:cNvPicPr>
            <p:nvPr/>
          </p:nvPicPr>
          <p:blipFill>
            <a:blip r:embed="rId3"/>
            <a:stretch>
              <a:fillRect/>
            </a:stretch>
          </p:blipFill>
          <p:spPr>
            <a:xfrm>
              <a:off x="900135" y="5152095"/>
              <a:ext cx="266273" cy="266273"/>
            </a:xfrm>
            <a:prstGeom prst="rect">
              <a:avLst/>
            </a:prstGeom>
          </p:spPr>
        </p:pic>
        <p:sp>
          <p:nvSpPr>
            <p:cNvPr id="17" name="Part 4"/>
            <p:cNvSpPr txBox="1"/>
            <p:nvPr/>
          </p:nvSpPr>
          <p:spPr>
            <a:xfrm>
              <a:off x="1463040" y="4846320"/>
              <a:ext cx="4480560" cy="310896"/>
            </a:xfrm>
            <a:prstGeom prst="rect">
              <a:avLst/>
            </a:prstGeom>
            <a:noFill/>
            <a:ln/>
          </p:spPr>
          <p:txBody>
            <a:bodyPr wrap="square" lIns="0" tIns="0" rIns="0" bIns="0" rtlCol="0" anchor="t"/>
            <a:lstStyle/>
            <a:p>
              <a:pPr marL="0" indent="0" algn="l">
                <a:buNone/>
              </a:pPr>
              <a:r>
                <a:rPr lang="en-US" sz="1400" b="1" dirty="0">
                  <a:solidFill>
                    <a:srgbClr val="0F2C59"/>
                  </a:solidFill>
                  <a:latin typeface="Arial" pitchFamily="34" charset="0"/>
                  <a:ea typeface="Arial" pitchFamily="34" charset="-122"/>
                  <a:cs typeface="Arial" pitchFamily="34" charset="-120"/>
                </a:rPr>
                <a:t>Phương án dự phòng: XAMPP</a:t>
              </a:r>
              <a:endParaRPr lang="en-US" sz="1400" dirty="0"/>
            </a:p>
          </p:txBody>
        </p:sp>
        <p:sp>
          <p:nvSpPr>
            <p:cNvPr id="18" name="Part 5"/>
            <p:cNvSpPr txBox="1"/>
            <p:nvPr/>
          </p:nvSpPr>
          <p:spPr>
            <a:xfrm>
              <a:off x="1463040" y="5193792"/>
              <a:ext cx="4526280" cy="548640"/>
            </a:xfrm>
            <a:prstGeom prst="rect">
              <a:avLst/>
            </a:prstGeom>
            <a:noFill/>
            <a:ln/>
          </p:spPr>
          <p:txBody>
            <a:bodyPr wrap="square" lIns="0" tIns="0" rIns="0" bIns="0" rtlCol="0" anchor="t"/>
            <a:lstStyle/>
            <a:p>
              <a:pPr marL="0" indent="0" algn="l">
                <a:buNone/>
              </a:pPr>
              <a:r>
                <a:rPr lang="en-US" sz="1200" dirty="0">
                  <a:solidFill>
                    <a:srgbClr val="6B7280"/>
                  </a:solidFill>
                  <a:latin typeface="Arial" pitchFamily="34" charset="0"/>
                  <a:ea typeface="Arial" pitchFamily="34" charset="-122"/>
                  <a:cs typeface="Arial" pitchFamily="34" charset="-120"/>
                </a:rPr>
                <a:t>DocumentRoot trỏ vào src/public</a:t>
              </a:r>
              <a:endParaRPr lang="en-US" sz="1200" dirty="0"/>
            </a:p>
            <a:p>
              <a:pPr marL="0" indent="0" algn="l">
                <a:buNone/>
              </a:pPr>
              <a:r>
                <a:rPr lang="en-US" sz="1200" dirty="0">
                  <a:solidFill>
                    <a:srgbClr val="6B7280"/>
                  </a:solidFill>
                  <a:latin typeface="Arial" pitchFamily="34" charset="0"/>
                  <a:ea typeface="Arial" pitchFamily="34" charset="-122"/>
                  <a:cs typeface="Arial" pitchFamily="34" charset="-120"/>
                </a:rPr>
                <a:t>Import 01-schema.sql rồi 02-seed.sql</a:t>
              </a:r>
              <a:endParaRPr lang="en-US" sz="1200" dirty="0"/>
            </a:p>
          </p:txBody>
        </p:sp>
      </p:grpSp>
      <p:grpSp>
        <p:nvGrpSpPr>
          <p:cNvPr id="45" name="Group 10">
            <a:extLst>
              <a:ext uri="{FF2B5EF4-FFF2-40B4-BE49-F238E27FC236}">
                <a16:creationId xmlns:a16="http://schemas.microsoft.com/office/drawing/2014/main" id="{E3B2C8A4-4DC0-070C-6ACF-246BBD3A5491}"/>
              </a:ext>
            </a:extLst>
          </p:cNvPr>
          <p:cNvGrpSpPr/>
          <p:nvPr/>
        </p:nvGrpSpPr>
        <p:grpSpPr>
          <a:xfrm>
            <a:off x="6400800" y="1600200"/>
            <a:ext cx="5239512" cy="4297680"/>
            <a:chOff x="6400800" y="1600200"/>
            <a:chExt cx="5239512" cy="4297680"/>
          </a:xfrm>
        </p:grpSpPr>
        <p:sp>
          <p:nvSpPr>
            <p:cNvPr id="19" name="Part 1"/>
            <p:cNvSpPr/>
            <p:nvPr/>
          </p:nvSpPr>
          <p:spPr>
            <a:xfrm>
              <a:off x="6400800" y="1600200"/>
              <a:ext cx="5239512" cy="4297680"/>
            </a:xfrm>
            <a:prstGeom prst="roundRect">
              <a:avLst>
                <a:gd name="adj" fmla="val 2553"/>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20" name="Part 2"/>
            <p:cNvSpPr txBox="1"/>
            <p:nvPr/>
          </p:nvSpPr>
          <p:spPr>
            <a:xfrm>
              <a:off x="6675120" y="1783080"/>
              <a:ext cx="4572000" cy="365760"/>
            </a:xfrm>
            <a:prstGeom prst="rect">
              <a:avLst/>
            </a:prstGeom>
            <a:noFill/>
            <a:ln/>
          </p:spPr>
          <p:txBody>
            <a:bodyPr wrap="square" lIns="0" tIns="0" rIns="0" bIns="0" rtlCol="0" anchor="t"/>
            <a:lstStyle/>
            <a:p>
              <a:pPr marL="0" indent="0" algn="l">
                <a:buNone/>
              </a:pPr>
              <a:r>
                <a:rPr lang="en-US" sz="1600" b="1" dirty="0">
                  <a:solidFill>
                    <a:srgbClr val="0F2C59"/>
                  </a:solidFill>
                  <a:latin typeface="Arial" pitchFamily="34" charset="0"/>
                  <a:ea typeface="Arial" pitchFamily="34" charset="-122"/>
                  <a:cs typeface="Arial" pitchFamily="34" charset="-120"/>
                </a:rPr>
                <a:t>Các dịch vụ Docker Compose</a:t>
              </a:r>
              <a:endParaRPr lang="en-US" sz="1600" dirty="0"/>
            </a:p>
          </p:txBody>
        </p:sp>
      </p:grpSp>
      <p:grpSp>
        <p:nvGrpSpPr>
          <p:cNvPr id="46" name="Group 11">
            <a:extLst>
              <a:ext uri="{FF2B5EF4-FFF2-40B4-BE49-F238E27FC236}">
                <a16:creationId xmlns:a16="http://schemas.microsoft.com/office/drawing/2014/main" id="{40EA8215-C7EC-ACFA-5B25-9866D7F8DE2A}"/>
              </a:ext>
            </a:extLst>
          </p:cNvPr>
          <p:cNvGrpSpPr/>
          <p:nvPr/>
        </p:nvGrpSpPr>
        <p:grpSpPr>
          <a:xfrm>
            <a:off x="6675120" y="2313432"/>
            <a:ext cx="4709160" cy="640080"/>
            <a:chOff x="6675120" y="2313432"/>
            <a:chExt cx="4709160" cy="640080"/>
          </a:xfrm>
        </p:grpSpPr>
        <p:sp>
          <p:nvSpPr>
            <p:cNvPr id="21" name="Part 1"/>
            <p:cNvSpPr/>
            <p:nvPr/>
          </p:nvSpPr>
          <p:spPr>
            <a:xfrm>
              <a:off x="6675120" y="2331720"/>
              <a:ext cx="566928" cy="566928"/>
            </a:xfrm>
            <a:prstGeom prst="ellipse">
              <a:avLst/>
            </a:prstGeom>
            <a:solidFill>
              <a:srgbClr val="E8EDF5"/>
            </a:solidFill>
            <a:ln/>
          </p:spPr>
        </p:sp>
        <p:pic>
          <p:nvPicPr>
            <p:cNvPr id="22" name="Part 2" descr="Biểu tượng"/>
            <p:cNvPicPr>
              <a:picLocks noChangeAspect="1"/>
            </p:cNvPicPr>
            <p:nvPr/>
          </p:nvPicPr>
          <p:blipFill>
            <a:blip r:embed="rId4"/>
            <a:stretch>
              <a:fillRect/>
            </a:stretch>
          </p:blipFill>
          <p:spPr>
            <a:xfrm>
              <a:off x="6811183" y="2467783"/>
              <a:ext cx="294803" cy="294803"/>
            </a:xfrm>
            <a:prstGeom prst="rect">
              <a:avLst/>
            </a:prstGeom>
          </p:spPr>
        </p:pic>
        <p:sp>
          <p:nvSpPr>
            <p:cNvPr id="23" name="Part 3"/>
            <p:cNvSpPr txBox="1"/>
            <p:nvPr/>
          </p:nvSpPr>
          <p:spPr>
            <a:xfrm>
              <a:off x="7452360" y="2313432"/>
              <a:ext cx="2194560" cy="310896"/>
            </a:xfrm>
            <a:prstGeom prst="rect">
              <a:avLst/>
            </a:prstGeom>
            <a:noFill/>
            <a:ln/>
          </p:spPr>
          <p:txBody>
            <a:bodyPr wrap="square" lIns="0" tIns="0" rIns="0" bIns="0" rtlCol="0" anchor="t"/>
            <a:lstStyle/>
            <a:p>
              <a:pPr marL="0" indent="0" algn="l">
                <a:buNone/>
              </a:pPr>
              <a:r>
                <a:rPr lang="en-US" sz="1400" b="1" dirty="0">
                  <a:solidFill>
                    <a:srgbClr val="0F2C59"/>
                  </a:solidFill>
                  <a:latin typeface="Consolas" pitchFamily="34" charset="0"/>
                  <a:ea typeface="Consolas" pitchFamily="34" charset="-122"/>
                  <a:cs typeface="Consolas" pitchFamily="34" charset="-120"/>
                </a:rPr>
                <a:t>web</a:t>
              </a:r>
              <a:endParaRPr lang="en-US" sz="1400" dirty="0"/>
            </a:p>
          </p:txBody>
        </p:sp>
        <p:sp>
          <p:nvSpPr>
            <p:cNvPr id="26" name="Part 4"/>
            <p:cNvSpPr txBox="1"/>
            <p:nvPr/>
          </p:nvSpPr>
          <p:spPr>
            <a:xfrm>
              <a:off x="7452360" y="2660904"/>
              <a:ext cx="3931920" cy="292608"/>
            </a:xfrm>
            <a:prstGeom prst="rect">
              <a:avLst/>
            </a:prstGeom>
            <a:noFill/>
            <a:ln/>
          </p:spPr>
          <p:txBody>
            <a:bodyPr wrap="square" lIns="0" tIns="0" rIns="0" bIns="0" rtlCol="0" anchor="t"/>
            <a:lstStyle/>
            <a:p>
              <a:pPr marL="0" indent="0" algn="l">
                <a:buNone/>
              </a:pPr>
              <a:r>
                <a:rPr lang="en-US" sz="1200" dirty="0">
                  <a:solidFill>
                    <a:srgbClr val="6B7280"/>
                  </a:solidFill>
                  <a:latin typeface="Arial" pitchFamily="34" charset="0"/>
                  <a:ea typeface="Arial" pitchFamily="34" charset="-122"/>
                  <a:cs typeface="Arial" pitchFamily="34" charset="-120"/>
                </a:rPr>
                <a:t>php:8.2-apache – mount mã nguồn src/</a:t>
              </a:r>
              <a:endParaRPr lang="en-US" sz="1200" dirty="0"/>
            </a:p>
          </p:txBody>
        </p:sp>
      </p:grpSp>
      <p:grpSp>
        <p:nvGrpSpPr>
          <p:cNvPr id="47" name="Group 12">
            <a:extLst>
              <a:ext uri="{FF2B5EF4-FFF2-40B4-BE49-F238E27FC236}">
                <a16:creationId xmlns:a16="http://schemas.microsoft.com/office/drawing/2014/main" id="{37361294-9746-A9E2-DA4B-F427CE1EEFE0}"/>
              </a:ext>
            </a:extLst>
          </p:cNvPr>
          <p:cNvGrpSpPr/>
          <p:nvPr/>
        </p:nvGrpSpPr>
        <p:grpSpPr>
          <a:xfrm>
            <a:off x="10287000" y="2313432"/>
            <a:ext cx="1097280" cy="292608"/>
            <a:chOff x="10287000" y="2313432"/>
            <a:chExt cx="1097280" cy="292608"/>
          </a:xfrm>
        </p:grpSpPr>
        <p:sp>
          <p:nvSpPr>
            <p:cNvPr id="24" name="Part 1"/>
            <p:cNvSpPr/>
            <p:nvPr/>
          </p:nvSpPr>
          <p:spPr>
            <a:xfrm>
              <a:off x="10287000" y="2313432"/>
              <a:ext cx="1097280" cy="292608"/>
            </a:xfrm>
            <a:prstGeom prst="roundRect">
              <a:avLst>
                <a:gd name="adj" fmla="val 50000"/>
              </a:avLst>
            </a:prstGeom>
            <a:solidFill>
              <a:srgbClr val="FBF3DC"/>
            </a:solidFill>
            <a:ln/>
          </p:spPr>
        </p:sp>
        <p:sp>
          <p:nvSpPr>
            <p:cNvPr id="25" name="Part 2"/>
            <p:cNvSpPr txBox="1"/>
            <p:nvPr/>
          </p:nvSpPr>
          <p:spPr>
            <a:xfrm>
              <a:off x="10287000" y="2313432"/>
              <a:ext cx="1097280" cy="292608"/>
            </a:xfrm>
            <a:prstGeom prst="rect">
              <a:avLst/>
            </a:prstGeom>
            <a:noFill/>
            <a:ln/>
          </p:spPr>
          <p:txBody>
            <a:bodyPr wrap="square" lIns="0" tIns="0" rIns="0" bIns="0" rtlCol="0" anchor="ctr"/>
            <a:lstStyle/>
            <a:p>
              <a:pPr marL="0" indent="0" algn="ctr">
                <a:buNone/>
              </a:pPr>
              <a:r>
                <a:rPr lang="en-US" sz="1100" b="1" dirty="0">
                  <a:solidFill>
                    <a:srgbClr val="8A6510"/>
                  </a:solidFill>
                  <a:latin typeface="Arial" pitchFamily="34" charset="0"/>
                  <a:ea typeface="Arial" pitchFamily="34" charset="-122"/>
                  <a:cs typeface="Arial" pitchFamily="34" charset="-120"/>
                </a:rPr>
                <a:t>cổng 8080</a:t>
              </a:r>
              <a:endParaRPr lang="en-US" sz="1100" dirty="0"/>
            </a:p>
          </p:txBody>
        </p:sp>
      </p:grpSp>
      <p:grpSp>
        <p:nvGrpSpPr>
          <p:cNvPr id="48" name="Group 13">
            <a:extLst>
              <a:ext uri="{FF2B5EF4-FFF2-40B4-BE49-F238E27FC236}">
                <a16:creationId xmlns:a16="http://schemas.microsoft.com/office/drawing/2014/main" id="{28A59FB0-487E-0CE1-5F0B-B8AD8FB984EF}"/>
              </a:ext>
            </a:extLst>
          </p:cNvPr>
          <p:cNvGrpSpPr/>
          <p:nvPr/>
        </p:nvGrpSpPr>
        <p:grpSpPr>
          <a:xfrm>
            <a:off x="6675120" y="3364992"/>
            <a:ext cx="4709160" cy="640080"/>
            <a:chOff x="6675120" y="3364992"/>
            <a:chExt cx="4709160" cy="640080"/>
          </a:xfrm>
        </p:grpSpPr>
        <p:sp>
          <p:nvSpPr>
            <p:cNvPr id="27" name="Part 1"/>
            <p:cNvSpPr/>
            <p:nvPr/>
          </p:nvSpPr>
          <p:spPr>
            <a:xfrm>
              <a:off x="6675120" y="3383280"/>
              <a:ext cx="566928" cy="566928"/>
            </a:xfrm>
            <a:prstGeom prst="ellipse">
              <a:avLst/>
            </a:prstGeom>
            <a:solidFill>
              <a:srgbClr val="E5B53A"/>
            </a:solidFill>
            <a:ln/>
          </p:spPr>
        </p:sp>
        <p:pic>
          <p:nvPicPr>
            <p:cNvPr id="28" name="Part 2" descr="Biểu tượng"/>
            <p:cNvPicPr>
              <a:picLocks noChangeAspect="1"/>
            </p:cNvPicPr>
            <p:nvPr/>
          </p:nvPicPr>
          <p:blipFill>
            <a:blip r:embed="rId5"/>
            <a:stretch>
              <a:fillRect/>
            </a:stretch>
          </p:blipFill>
          <p:spPr>
            <a:xfrm>
              <a:off x="6811183" y="3519343"/>
              <a:ext cx="294803" cy="294803"/>
            </a:xfrm>
            <a:prstGeom prst="rect">
              <a:avLst/>
            </a:prstGeom>
          </p:spPr>
        </p:pic>
        <p:sp>
          <p:nvSpPr>
            <p:cNvPr id="29" name="Part 3"/>
            <p:cNvSpPr txBox="1"/>
            <p:nvPr/>
          </p:nvSpPr>
          <p:spPr>
            <a:xfrm>
              <a:off x="7452360" y="3364992"/>
              <a:ext cx="2194560" cy="310896"/>
            </a:xfrm>
            <a:prstGeom prst="rect">
              <a:avLst/>
            </a:prstGeom>
            <a:noFill/>
            <a:ln/>
          </p:spPr>
          <p:txBody>
            <a:bodyPr wrap="square" lIns="0" tIns="0" rIns="0" bIns="0" rtlCol="0" anchor="t"/>
            <a:lstStyle/>
            <a:p>
              <a:pPr marL="0" indent="0" algn="l">
                <a:buNone/>
              </a:pPr>
              <a:r>
                <a:rPr lang="en-US" sz="1400" b="1" dirty="0">
                  <a:solidFill>
                    <a:srgbClr val="0F2C59"/>
                  </a:solidFill>
                  <a:latin typeface="Consolas" pitchFamily="34" charset="0"/>
                  <a:ea typeface="Consolas" pitchFamily="34" charset="-122"/>
                  <a:cs typeface="Consolas" pitchFamily="34" charset="-120"/>
                </a:rPr>
                <a:t>db</a:t>
              </a:r>
              <a:endParaRPr lang="en-US" sz="1400" dirty="0"/>
            </a:p>
          </p:txBody>
        </p:sp>
        <p:sp>
          <p:nvSpPr>
            <p:cNvPr id="30" name="Part 4"/>
            <p:cNvSpPr/>
            <p:nvPr/>
          </p:nvSpPr>
          <p:spPr>
            <a:xfrm>
              <a:off x="10287000" y="3364992"/>
              <a:ext cx="1097280" cy="292608"/>
            </a:xfrm>
            <a:prstGeom prst="roundRect">
              <a:avLst>
                <a:gd name="adj" fmla="val 50000"/>
              </a:avLst>
            </a:prstGeom>
            <a:solidFill>
              <a:srgbClr val="FBF3DC"/>
            </a:solidFill>
            <a:ln/>
          </p:spPr>
        </p:sp>
        <p:sp>
          <p:nvSpPr>
            <p:cNvPr id="31" name="Part 5"/>
            <p:cNvSpPr txBox="1"/>
            <p:nvPr/>
          </p:nvSpPr>
          <p:spPr>
            <a:xfrm>
              <a:off x="10287000" y="3364992"/>
              <a:ext cx="1097280" cy="292608"/>
            </a:xfrm>
            <a:prstGeom prst="rect">
              <a:avLst/>
            </a:prstGeom>
            <a:noFill/>
            <a:ln/>
          </p:spPr>
          <p:txBody>
            <a:bodyPr wrap="square" lIns="0" tIns="0" rIns="0" bIns="0" rtlCol="0" anchor="ctr"/>
            <a:lstStyle/>
            <a:p>
              <a:pPr marL="0" indent="0" algn="ctr">
                <a:buNone/>
              </a:pPr>
              <a:r>
                <a:rPr lang="en-US" sz="1100" b="1" dirty="0">
                  <a:solidFill>
                    <a:srgbClr val="8A6510"/>
                  </a:solidFill>
                  <a:latin typeface="Arial" pitchFamily="34" charset="0"/>
                  <a:ea typeface="Arial" pitchFamily="34" charset="-122"/>
                  <a:cs typeface="Arial" pitchFamily="34" charset="-120"/>
                </a:rPr>
                <a:t>cổng 3306</a:t>
              </a:r>
              <a:endParaRPr lang="en-US" sz="1100" dirty="0"/>
            </a:p>
          </p:txBody>
        </p:sp>
        <p:sp>
          <p:nvSpPr>
            <p:cNvPr id="32" name="Part 6"/>
            <p:cNvSpPr txBox="1"/>
            <p:nvPr/>
          </p:nvSpPr>
          <p:spPr>
            <a:xfrm>
              <a:off x="7452360" y="3712464"/>
              <a:ext cx="3931920" cy="292608"/>
            </a:xfrm>
            <a:prstGeom prst="rect">
              <a:avLst/>
            </a:prstGeom>
            <a:noFill/>
            <a:ln/>
          </p:spPr>
          <p:txBody>
            <a:bodyPr wrap="square" lIns="0" tIns="0" rIns="0" bIns="0" rtlCol="0" anchor="t"/>
            <a:lstStyle/>
            <a:p>
              <a:pPr marL="0" indent="0" algn="l">
                <a:buNone/>
              </a:pPr>
              <a:r>
                <a:rPr lang="en-US" sz="1200" dirty="0">
                  <a:solidFill>
                    <a:srgbClr val="6B7280"/>
                  </a:solidFill>
                  <a:latin typeface="Arial" pitchFamily="34" charset="0"/>
                  <a:ea typeface="Arial" pitchFamily="34" charset="-122"/>
                  <a:cs typeface="Arial" pitchFamily="34" charset="-120"/>
                </a:rPr>
                <a:t>mysql:8.0 – tự nạp schema và dữ liệu mẫu</a:t>
              </a:r>
              <a:endParaRPr lang="en-US" sz="1200" dirty="0"/>
            </a:p>
          </p:txBody>
        </p:sp>
      </p:grpSp>
      <p:grpSp>
        <p:nvGrpSpPr>
          <p:cNvPr id="49" name="Group 14">
            <a:extLst>
              <a:ext uri="{FF2B5EF4-FFF2-40B4-BE49-F238E27FC236}">
                <a16:creationId xmlns:a16="http://schemas.microsoft.com/office/drawing/2014/main" id="{531E8913-E816-4AFF-B617-86948BFC3525}"/>
              </a:ext>
            </a:extLst>
          </p:cNvPr>
          <p:cNvGrpSpPr/>
          <p:nvPr/>
        </p:nvGrpSpPr>
        <p:grpSpPr>
          <a:xfrm>
            <a:off x="6675120" y="4416552"/>
            <a:ext cx="4709160" cy="640080"/>
            <a:chOff x="6675120" y="4416552"/>
            <a:chExt cx="4709160" cy="640080"/>
          </a:xfrm>
        </p:grpSpPr>
        <p:sp>
          <p:nvSpPr>
            <p:cNvPr id="33" name="Part 1"/>
            <p:cNvSpPr/>
            <p:nvPr/>
          </p:nvSpPr>
          <p:spPr>
            <a:xfrm>
              <a:off x="6675120" y="4434840"/>
              <a:ext cx="566928" cy="566928"/>
            </a:xfrm>
            <a:prstGeom prst="ellipse">
              <a:avLst/>
            </a:prstGeom>
            <a:solidFill>
              <a:srgbClr val="E8EDF5"/>
            </a:solidFill>
            <a:ln/>
          </p:spPr>
        </p:sp>
        <p:pic>
          <p:nvPicPr>
            <p:cNvPr id="34" name="Part 2" descr="Biểu tượng"/>
            <p:cNvPicPr>
              <a:picLocks noChangeAspect="1"/>
            </p:cNvPicPr>
            <p:nvPr/>
          </p:nvPicPr>
          <p:blipFill>
            <a:blip r:embed="rId6"/>
            <a:stretch>
              <a:fillRect/>
            </a:stretch>
          </p:blipFill>
          <p:spPr>
            <a:xfrm>
              <a:off x="6811183" y="4570903"/>
              <a:ext cx="294803" cy="294803"/>
            </a:xfrm>
            <a:prstGeom prst="rect">
              <a:avLst/>
            </a:prstGeom>
          </p:spPr>
        </p:pic>
        <p:sp>
          <p:nvSpPr>
            <p:cNvPr id="35" name="Part 3"/>
            <p:cNvSpPr txBox="1"/>
            <p:nvPr/>
          </p:nvSpPr>
          <p:spPr>
            <a:xfrm>
              <a:off x="7452360" y="4416552"/>
              <a:ext cx="2194560" cy="310896"/>
            </a:xfrm>
            <a:prstGeom prst="rect">
              <a:avLst/>
            </a:prstGeom>
            <a:noFill/>
            <a:ln/>
          </p:spPr>
          <p:txBody>
            <a:bodyPr wrap="square" lIns="0" tIns="0" rIns="0" bIns="0" rtlCol="0" anchor="t"/>
            <a:lstStyle/>
            <a:p>
              <a:pPr marL="0" indent="0" algn="l">
                <a:buNone/>
              </a:pPr>
              <a:r>
                <a:rPr lang="en-US" sz="1400" b="1" dirty="0">
                  <a:solidFill>
                    <a:srgbClr val="0F2C59"/>
                  </a:solidFill>
                  <a:latin typeface="Consolas" pitchFamily="34" charset="0"/>
                  <a:ea typeface="Consolas" pitchFamily="34" charset="-122"/>
                  <a:cs typeface="Consolas" pitchFamily="34" charset="-120"/>
                </a:rPr>
                <a:t>phpmyadmin</a:t>
              </a:r>
              <a:endParaRPr lang="en-US" sz="1400" dirty="0"/>
            </a:p>
          </p:txBody>
        </p:sp>
        <p:sp>
          <p:nvSpPr>
            <p:cNvPr id="36" name="Part 4"/>
            <p:cNvSpPr/>
            <p:nvPr/>
          </p:nvSpPr>
          <p:spPr>
            <a:xfrm>
              <a:off x="10287000" y="4416552"/>
              <a:ext cx="1097280" cy="292608"/>
            </a:xfrm>
            <a:prstGeom prst="roundRect">
              <a:avLst>
                <a:gd name="adj" fmla="val 50000"/>
              </a:avLst>
            </a:prstGeom>
            <a:solidFill>
              <a:srgbClr val="FBF3DC"/>
            </a:solidFill>
            <a:ln/>
          </p:spPr>
        </p:sp>
        <p:sp>
          <p:nvSpPr>
            <p:cNvPr id="37" name="Part 5"/>
            <p:cNvSpPr txBox="1"/>
            <p:nvPr/>
          </p:nvSpPr>
          <p:spPr>
            <a:xfrm>
              <a:off x="10287000" y="4416552"/>
              <a:ext cx="1097280" cy="292608"/>
            </a:xfrm>
            <a:prstGeom prst="rect">
              <a:avLst/>
            </a:prstGeom>
            <a:noFill/>
            <a:ln/>
          </p:spPr>
          <p:txBody>
            <a:bodyPr wrap="square" lIns="0" tIns="0" rIns="0" bIns="0" rtlCol="0" anchor="ctr"/>
            <a:lstStyle/>
            <a:p>
              <a:pPr marL="0" indent="0" algn="ctr">
                <a:buNone/>
              </a:pPr>
              <a:r>
                <a:rPr lang="en-US" sz="1100" b="1" dirty="0">
                  <a:solidFill>
                    <a:srgbClr val="8A6510"/>
                  </a:solidFill>
                  <a:latin typeface="Arial" pitchFamily="34" charset="0"/>
                  <a:ea typeface="Arial" pitchFamily="34" charset="-122"/>
                  <a:cs typeface="Arial" pitchFamily="34" charset="-120"/>
                </a:rPr>
                <a:t>cổng 8081</a:t>
              </a:r>
              <a:endParaRPr lang="en-US" sz="1100" dirty="0"/>
            </a:p>
          </p:txBody>
        </p:sp>
        <p:sp>
          <p:nvSpPr>
            <p:cNvPr id="38" name="Part 6"/>
            <p:cNvSpPr txBox="1"/>
            <p:nvPr/>
          </p:nvSpPr>
          <p:spPr>
            <a:xfrm>
              <a:off x="7452360" y="4764024"/>
              <a:ext cx="3931920" cy="292608"/>
            </a:xfrm>
            <a:prstGeom prst="rect">
              <a:avLst/>
            </a:prstGeom>
            <a:noFill/>
            <a:ln/>
          </p:spPr>
          <p:txBody>
            <a:bodyPr wrap="square" lIns="0" tIns="0" rIns="0" bIns="0" rtlCol="0" anchor="t"/>
            <a:lstStyle/>
            <a:p>
              <a:pPr marL="0" indent="0" algn="l">
                <a:buNone/>
              </a:pPr>
              <a:r>
                <a:rPr lang="en-US" sz="1200" dirty="0">
                  <a:solidFill>
                    <a:srgbClr val="6B7280"/>
                  </a:solidFill>
                  <a:latin typeface="Arial" pitchFamily="34" charset="0"/>
                  <a:ea typeface="Arial" pitchFamily="34" charset="-122"/>
                  <a:cs typeface="Arial" pitchFamily="34" charset="-120"/>
                </a:rPr>
                <a:t>phpmyadmin:5 – xem và sao lưu CSDL</a:t>
              </a:r>
              <a:endParaRPr lang="en-US" sz="1200" dirty="0"/>
            </a:p>
          </p:txBody>
        </p:sp>
      </p:grpSp>
      <p:sp>
        <p:nvSpPr>
          <p:cNvPr id="39" name="Shape 15"/>
          <p:cNvSpPr/>
          <p:nvPr/>
        </p:nvSpPr>
        <p:spPr>
          <a:xfrm>
            <a:off x="6958584" y="2935224"/>
            <a:ext cx="0" cy="411480"/>
          </a:xfrm>
          <a:prstGeom prst="line">
            <a:avLst/>
          </a:prstGeom>
          <a:noFill/>
          <a:ln w="22225">
            <a:solidFill>
              <a:srgbClr val="C9992A"/>
            </a:solidFill>
            <a:prstDash val="solid"/>
            <a:tailEnd type="triangle"/>
          </a:ln>
        </p:spPr>
      </p:sp>
      <p:sp>
        <p:nvSpPr>
          <p:cNvPr id="40" name="Shape 16"/>
          <p:cNvSpPr/>
          <p:nvPr/>
        </p:nvSpPr>
        <p:spPr>
          <a:xfrm>
            <a:off x="6958584" y="3986784"/>
            <a:ext cx="0" cy="411480"/>
          </a:xfrm>
          <a:prstGeom prst="line">
            <a:avLst/>
          </a:prstGeom>
          <a:noFill/>
          <a:ln w="22225">
            <a:solidFill>
              <a:srgbClr val="C9992A"/>
            </a:solidFill>
            <a:prstDash val="solid"/>
            <a:headEnd type="triangle"/>
          </a:ln>
        </p:spPr>
      </p:sp>
      <p:grpSp>
        <p:nvGrpSpPr>
          <p:cNvPr id="50" name="Group 17">
            <a:extLst>
              <a:ext uri="{FF2B5EF4-FFF2-40B4-BE49-F238E27FC236}">
                <a16:creationId xmlns:a16="http://schemas.microsoft.com/office/drawing/2014/main" id="{CA166CC4-36F1-A25A-CFF6-4A337583A9D7}"/>
              </a:ext>
            </a:extLst>
          </p:cNvPr>
          <p:cNvGrpSpPr/>
          <p:nvPr/>
        </p:nvGrpSpPr>
        <p:grpSpPr>
          <a:xfrm>
            <a:off x="6675120" y="5257800"/>
            <a:ext cx="4690872" cy="438912"/>
            <a:chOff x="6675120" y="5257800"/>
            <a:chExt cx="4690872" cy="438912"/>
          </a:xfrm>
        </p:grpSpPr>
        <p:sp>
          <p:nvSpPr>
            <p:cNvPr id="41" name="Part 1"/>
            <p:cNvSpPr/>
            <p:nvPr/>
          </p:nvSpPr>
          <p:spPr>
            <a:xfrm>
              <a:off x="6675120" y="5257800"/>
              <a:ext cx="4690872" cy="438912"/>
            </a:xfrm>
            <a:prstGeom prst="roundRect">
              <a:avLst>
                <a:gd name="adj" fmla="val 50000"/>
              </a:avLst>
            </a:prstGeom>
            <a:solidFill>
              <a:srgbClr val="E8EDF5"/>
            </a:solidFill>
            <a:ln/>
          </p:spPr>
        </p:sp>
        <p:sp>
          <p:nvSpPr>
            <p:cNvPr id="42" name="Part 2"/>
            <p:cNvSpPr txBox="1"/>
            <p:nvPr/>
          </p:nvSpPr>
          <p:spPr>
            <a:xfrm>
              <a:off x="6675120" y="5257800"/>
              <a:ext cx="4690872" cy="438912"/>
            </a:xfrm>
            <a:prstGeom prst="rect">
              <a:avLst/>
            </a:prstGeom>
            <a:noFill/>
            <a:ln/>
          </p:spPr>
          <p:txBody>
            <a:bodyPr wrap="square" lIns="0" tIns="0" rIns="0" bIns="0" rtlCol="0" anchor="ctr"/>
            <a:lstStyle/>
            <a:p>
              <a:pPr marL="0" indent="0" algn="ctr">
                <a:buNone/>
              </a:pPr>
              <a:r>
                <a:rPr lang="en-US" sz="1200" b="1" dirty="0">
                  <a:solidFill>
                    <a:srgbClr val="0F2C59"/>
                  </a:solidFill>
                  <a:latin typeface="Arial" pitchFamily="34" charset="0"/>
                  <a:ea typeface="Arial" pitchFamily="34" charset="-122"/>
                  <a:cs typeface="Arial" pitchFamily="34" charset="-120"/>
                </a:rPr>
                <a:t>Sửa mã nguồn là thấy ngay – không cần build lại image</a:t>
              </a:r>
              <a:endParaRPr lang="en-US" sz="1200" dirty="0"/>
            </a:p>
          </p:txBody>
        </p:sp>
      </p:gr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450"/>
                                        <p:tgtEl>
                                          <p:spTgt spid="13"/>
                                        </p:tgtEl>
                                      </p:cBhvr>
                                    </p:animEffect>
                                  </p:childTnLst>
                                </p:cTn>
                              </p:par>
                            </p:childTnLst>
                          </p:cTn>
                        </p:par>
                        <p:par>
                          <p:cTn id="12" fill="hold">
                            <p:stCondLst>
                              <p:cond delay="950"/>
                            </p:stCondLst>
                            <p:childTnLst>
                              <p:par>
                                <p:cTn id="13" presetID="10" presetClass="entr" presetSubtype="0"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childTnLst>
                          </p:cTn>
                        </p:par>
                        <p:par>
                          <p:cTn id="16" fill="hold">
                            <p:stCondLst>
                              <p:cond delay="1450"/>
                            </p:stCondLst>
                            <p:childTnLst>
                              <p:par>
                                <p:cTn id="17" presetID="10"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childTnLst>
                          </p:cTn>
                        </p:par>
                        <p:par>
                          <p:cTn id="20" fill="hold">
                            <p:stCondLst>
                              <p:cond delay="1950"/>
                            </p:stCondLst>
                            <p:childTnLst>
                              <p:par>
                                <p:cTn id="21" presetID="42" presetClass="entr" presetSubtype="0" fill="hold" nodeType="after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50"/>
                                        <p:tgtEl>
                                          <p:spTgt spid="46"/>
                                        </p:tgtEl>
                                      </p:cBhvr>
                                    </p:animEffect>
                                    <p:anim calcmode="lin" valueType="num">
                                      <p:cBhvr>
                                        <p:cTn id="24" dur="550" fill="hold"/>
                                        <p:tgtEl>
                                          <p:spTgt spid="46"/>
                                        </p:tgtEl>
                                        <p:attrNameLst>
                                          <p:attrName>ppt_x</p:attrName>
                                        </p:attrNameLst>
                                      </p:cBhvr>
                                      <p:tavLst>
                                        <p:tav tm="0">
                                          <p:val>
                                            <p:strVal val="#ppt_x"/>
                                          </p:val>
                                        </p:tav>
                                        <p:tav tm="100000">
                                          <p:val>
                                            <p:strVal val="#ppt_x"/>
                                          </p:val>
                                        </p:tav>
                                      </p:tavLst>
                                    </p:anim>
                                    <p:anim calcmode="lin" valueType="num">
                                      <p:cBhvr>
                                        <p:cTn id="25" dur="550" fill="hold"/>
                                        <p:tgtEl>
                                          <p:spTgt spid="46"/>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550"/>
                                        <p:tgtEl>
                                          <p:spTgt spid="47"/>
                                        </p:tgtEl>
                                      </p:cBhvr>
                                    </p:animEffect>
                                    <p:anim calcmode="lin" valueType="num">
                                      <p:cBhvr>
                                        <p:cTn id="29" dur="550" fill="hold"/>
                                        <p:tgtEl>
                                          <p:spTgt spid="47"/>
                                        </p:tgtEl>
                                        <p:attrNameLst>
                                          <p:attrName>ppt_x</p:attrName>
                                        </p:attrNameLst>
                                      </p:cBhvr>
                                      <p:tavLst>
                                        <p:tav tm="0">
                                          <p:val>
                                            <p:strVal val="#ppt_x"/>
                                          </p:val>
                                        </p:tav>
                                        <p:tav tm="100000">
                                          <p:val>
                                            <p:strVal val="#ppt_x"/>
                                          </p:val>
                                        </p:tav>
                                      </p:tavLst>
                                    </p:anim>
                                    <p:anim calcmode="lin" valueType="num">
                                      <p:cBhvr>
                                        <p:cTn id="30" dur="550" fill="hold"/>
                                        <p:tgtEl>
                                          <p:spTgt spid="47"/>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120"/>
                                  </p:stCondLst>
                                  <p:childTnLst>
                                    <p:set>
                                      <p:cBhvr>
                                        <p:cTn id="32" dur="1" fill="hold">
                                          <p:stCondLst>
                                            <p:cond delay="0"/>
                                          </p:stCondLst>
                                        </p:cTn>
                                        <p:tgtEl>
                                          <p:spTgt spid="48"/>
                                        </p:tgtEl>
                                        <p:attrNameLst>
                                          <p:attrName>style.visibility</p:attrName>
                                        </p:attrNameLst>
                                      </p:cBhvr>
                                      <p:to>
                                        <p:strVal val="visible"/>
                                      </p:to>
                                    </p:set>
                                    <p:animEffect transition="in" filter="fade">
                                      <p:cBhvr>
                                        <p:cTn id="33" dur="550"/>
                                        <p:tgtEl>
                                          <p:spTgt spid="48"/>
                                        </p:tgtEl>
                                      </p:cBhvr>
                                    </p:animEffect>
                                    <p:anim calcmode="lin" valueType="num">
                                      <p:cBhvr>
                                        <p:cTn id="34" dur="550" fill="hold"/>
                                        <p:tgtEl>
                                          <p:spTgt spid="48"/>
                                        </p:tgtEl>
                                        <p:attrNameLst>
                                          <p:attrName>ppt_x</p:attrName>
                                        </p:attrNameLst>
                                      </p:cBhvr>
                                      <p:tavLst>
                                        <p:tav tm="0">
                                          <p:val>
                                            <p:strVal val="#ppt_x"/>
                                          </p:val>
                                        </p:tav>
                                        <p:tav tm="100000">
                                          <p:val>
                                            <p:strVal val="#ppt_x"/>
                                          </p:val>
                                        </p:tav>
                                      </p:tavLst>
                                    </p:anim>
                                    <p:anim calcmode="lin" valueType="num">
                                      <p:cBhvr>
                                        <p:cTn id="35" dur="550" fill="hold"/>
                                        <p:tgtEl>
                                          <p:spTgt spid="48"/>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240"/>
                                  </p:stCondLst>
                                  <p:childTnLst>
                                    <p:set>
                                      <p:cBhvr>
                                        <p:cTn id="37" dur="1" fill="hold">
                                          <p:stCondLst>
                                            <p:cond delay="0"/>
                                          </p:stCondLst>
                                        </p:cTn>
                                        <p:tgtEl>
                                          <p:spTgt spid="49"/>
                                        </p:tgtEl>
                                        <p:attrNameLst>
                                          <p:attrName>style.visibility</p:attrName>
                                        </p:attrNameLst>
                                      </p:cBhvr>
                                      <p:to>
                                        <p:strVal val="visible"/>
                                      </p:to>
                                    </p:set>
                                    <p:animEffect transition="in" filter="fade">
                                      <p:cBhvr>
                                        <p:cTn id="38" dur="550"/>
                                        <p:tgtEl>
                                          <p:spTgt spid="49"/>
                                        </p:tgtEl>
                                      </p:cBhvr>
                                    </p:animEffect>
                                    <p:anim calcmode="lin" valueType="num">
                                      <p:cBhvr>
                                        <p:cTn id="39" dur="550" fill="hold"/>
                                        <p:tgtEl>
                                          <p:spTgt spid="49"/>
                                        </p:tgtEl>
                                        <p:attrNameLst>
                                          <p:attrName>ppt_x</p:attrName>
                                        </p:attrNameLst>
                                      </p:cBhvr>
                                      <p:tavLst>
                                        <p:tav tm="0">
                                          <p:val>
                                            <p:strVal val="#ppt_x"/>
                                          </p:val>
                                        </p:tav>
                                        <p:tav tm="100000">
                                          <p:val>
                                            <p:strVal val="#ppt_x"/>
                                          </p:val>
                                        </p:tav>
                                      </p:tavLst>
                                    </p:anim>
                                    <p:anim calcmode="lin" valueType="num">
                                      <p:cBhvr>
                                        <p:cTn id="40" dur="550" fill="hold"/>
                                        <p:tgtEl>
                                          <p:spTgt spid="49"/>
                                        </p:tgtEl>
                                        <p:attrNameLst>
                                          <p:attrName>ppt_y</p:attrName>
                                        </p:attrNameLst>
                                      </p:cBhvr>
                                      <p:tavLst>
                                        <p:tav tm="0">
                                          <p:val>
                                            <p:strVal val="#ppt_y+.1"/>
                                          </p:val>
                                        </p:tav>
                                        <p:tav tm="100000">
                                          <p:val>
                                            <p:strVal val="#ppt_y"/>
                                          </p:val>
                                        </p:tav>
                                      </p:tavLst>
                                    </p:anim>
                                  </p:childTnLst>
                                </p:cTn>
                              </p:par>
                            </p:childTnLst>
                          </p:cTn>
                        </p:par>
                        <p:par>
                          <p:cTn id="41" fill="hold">
                            <p:stCondLst>
                              <p:cond delay="2740"/>
                            </p:stCondLst>
                            <p:childTnLst>
                              <p:par>
                                <p:cTn id="42" presetID="22" presetClass="entr" presetSubtype="1" fill="hold" nodeType="after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wipe(up)">
                                      <p:cBhvr>
                                        <p:cTn id="44" dur="350"/>
                                        <p:tgtEl>
                                          <p:spTgt spid="39"/>
                                        </p:tgtEl>
                                      </p:cBhvr>
                                    </p:animEffect>
                                  </p:childTnLst>
                                </p:cTn>
                              </p:par>
                              <p:par>
                                <p:cTn id="45" presetID="22" presetClass="entr" presetSubtype="4" fill="hold" nodeType="withEffect">
                                  <p:stCondLst>
                                    <p:cond delay="120"/>
                                  </p:stCondLst>
                                  <p:childTnLst>
                                    <p:set>
                                      <p:cBhvr>
                                        <p:cTn id="46" dur="1" fill="hold">
                                          <p:stCondLst>
                                            <p:cond delay="0"/>
                                          </p:stCondLst>
                                        </p:cTn>
                                        <p:tgtEl>
                                          <p:spTgt spid="40"/>
                                        </p:tgtEl>
                                        <p:attrNameLst>
                                          <p:attrName>style.visibility</p:attrName>
                                        </p:attrNameLst>
                                      </p:cBhvr>
                                      <p:to>
                                        <p:strVal val="visible"/>
                                      </p:to>
                                    </p:set>
                                    <p:animEffect transition="in" filter="wipe(down)">
                                      <p:cBhvr>
                                        <p:cTn id="47" dur="350"/>
                                        <p:tgtEl>
                                          <p:spTgt spid="40"/>
                                        </p:tgtEl>
                                      </p:cBhvr>
                                    </p:animEffect>
                                  </p:childTnLst>
                                </p:cTn>
                              </p:par>
                            </p:childTnLst>
                          </p:cTn>
                        </p:par>
                        <p:par>
                          <p:cTn id="48" fill="hold">
                            <p:stCondLst>
                              <p:cond delay="3210"/>
                            </p:stCondLst>
                            <p:childTnLst>
                              <p:par>
                                <p:cTn id="49" presetID="10" presetClass="entr" presetSubtype="0" fill="hold" nodeType="afterEffect">
                                  <p:stCondLst>
                                    <p:cond delay="0"/>
                                  </p:stCondLst>
                                  <p:childTnLst>
                                    <p:set>
                                      <p:cBhvr>
                                        <p:cTn id="50" dur="1" fill="hold">
                                          <p:stCondLst>
                                            <p:cond delay="0"/>
                                          </p:stCondLst>
                                        </p:cTn>
                                        <p:tgtEl>
                                          <p:spTgt spid="50"/>
                                        </p:tgtEl>
                                        <p:attrNameLst>
                                          <p:attrName>style.visibility</p:attrName>
                                        </p:attrNameLst>
                                      </p:cBhvr>
                                      <p:to>
                                        <p:strVal val="visible"/>
                                      </p:to>
                                    </p:set>
                                    <p:animEffect transition="in" filter="fade">
                                      <p:cBhvr>
                                        <p:cTn id="51" dur="500"/>
                                        <p:tgtEl>
                                          <p:spTgt spid="50"/>
                                        </p:tgtEl>
                                      </p:cBhvr>
                                    </p:animEffect>
                                  </p:childTnLst>
                                </p:cTn>
                              </p:par>
                            </p:childTnLst>
                          </p:cTn>
                        </p:par>
                        <p:par>
                          <p:cTn id="52" fill="hold">
                            <p:stCondLst>
                              <p:cond delay="3710"/>
                            </p:stCondLst>
                            <p:childTnLst>
                              <p:par>
                                <p:cTn id="53" presetID="6" presetClass="emph" presetSubtype="0" autoRev="1" fill="hold" nodeType="afterEffect">
                                  <p:stCondLst>
                                    <p:cond delay="0"/>
                                  </p:stCondLst>
                                  <p:childTnLst>
                                    <p:animScale>
                                      <p:cBhvr>
                                        <p:cTn id="54" dur="400" fill="hold"/>
                                        <p:tgtEl>
                                          <p:spTgt spid="47"/>
                                        </p:tgtEl>
                                      </p:cBhvr>
                                      <p:by x="150000" y="15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9"/>
        </a:solidFill>
        <a:effectLst/>
      </p:bgPr>
    </p:bg>
    <p:spTree>
      <p:nvGrpSpPr>
        <p:cNvPr id="1" name=""/>
        <p:cNvGrpSpPr/>
        <p:nvPr/>
      </p:nvGrpSpPr>
      <p:grpSpPr>
        <a:xfrm>
          <a:off x="0" y="0"/>
          <a:ext cx="0" cy="0"/>
          <a:chOff x="0" y="0"/>
          <a:chExt cx="0" cy="0"/>
        </a:xfrm>
      </p:grpSpPr>
      <p:sp>
        <p:nvSpPr>
          <p:cNvPr id="2" name="Shape 1"/>
          <p:cNvSpPr txBox="1"/>
          <p:nvPr/>
        </p:nvSpPr>
        <p:spPr>
          <a:xfrm>
            <a:off x="548640" y="365760"/>
            <a:ext cx="9144000" cy="566928"/>
          </a:xfrm>
          <a:prstGeom prst="rect">
            <a:avLst/>
          </a:prstGeom>
          <a:noFill/>
          <a:ln/>
        </p:spPr>
        <p:txBody>
          <a:bodyPr wrap="square" lIns="0" tIns="0" rIns="0" bIns="0" rtlCol="0" anchor="ctr"/>
          <a:lstStyle/>
          <a:p>
            <a:pPr marL="0" indent="0" algn="l">
              <a:buNone/>
            </a:pPr>
            <a:r>
              <a:rPr lang="en-US" sz="2800" b="1" dirty="0">
                <a:solidFill>
                  <a:srgbClr val="0F2C59"/>
                </a:solidFill>
                <a:latin typeface="Arial" pitchFamily="34" charset="0"/>
                <a:ea typeface="Arial" pitchFamily="34" charset="-122"/>
                <a:cs typeface="Arial" pitchFamily="34" charset="-120"/>
              </a:rPr>
              <a:t>Mã nguồn và video thuyết trình</a:t>
            </a:r>
            <a:endParaRPr lang="en-US" sz="2800" dirty="0"/>
          </a:p>
        </p:txBody>
      </p:sp>
      <p:sp>
        <p:nvSpPr>
          <p:cNvPr id="3" name="Shape 2"/>
          <p:cNvSpPr txBox="1"/>
          <p:nvPr/>
        </p:nvSpPr>
        <p:spPr>
          <a:xfrm>
            <a:off x="548640" y="932688"/>
            <a:ext cx="9235440" cy="329184"/>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Đường dẫn nộp bài đồ án</a:t>
            </a:r>
            <a:endParaRPr lang="en-US" sz="1400" dirty="0"/>
          </a:p>
        </p:txBody>
      </p:sp>
      <p:sp>
        <p:nvSpPr>
          <p:cNvPr id="4" name="Shape 3"/>
          <p:cNvSpPr/>
          <p:nvPr/>
        </p:nvSpPr>
        <p:spPr>
          <a:xfrm>
            <a:off x="9994392" y="484632"/>
            <a:ext cx="1645920" cy="329184"/>
          </a:xfrm>
          <a:prstGeom prst="roundRect">
            <a:avLst>
              <a:gd name="adj" fmla="val 50000"/>
            </a:avLst>
          </a:prstGeom>
          <a:solidFill>
            <a:srgbClr val="FBF3DC"/>
          </a:solidFill>
          <a:ln/>
        </p:spPr>
      </p:sp>
      <p:sp>
        <p:nvSpPr>
          <p:cNvPr id="5" name="Shape 4"/>
          <p:cNvSpPr txBox="1"/>
          <p:nvPr/>
        </p:nvSpPr>
        <p:spPr>
          <a:xfrm>
            <a:off x="9994392" y="484632"/>
            <a:ext cx="1645920" cy="329184"/>
          </a:xfrm>
          <a:prstGeom prst="rect">
            <a:avLst/>
          </a:prstGeom>
          <a:noFill/>
          <a:ln/>
        </p:spPr>
        <p:txBody>
          <a:bodyPr wrap="square" lIns="0" tIns="0" rIns="0" bIns="0" rtlCol="0" anchor="ctr"/>
          <a:lstStyle/>
          <a:p>
            <a:pPr marL="0" indent="0" algn="ctr">
              <a:buNone/>
            </a:pPr>
            <a:r>
              <a:rPr lang="en-US" sz="950" b="1" kern="0" spc="100" dirty="0">
                <a:solidFill>
                  <a:srgbClr val="8A6510"/>
                </a:solidFill>
                <a:latin typeface="Arial" pitchFamily="34" charset="0"/>
                <a:ea typeface="Arial" pitchFamily="34" charset="-122"/>
                <a:cs typeface="Arial" pitchFamily="34" charset="-120"/>
              </a:rPr>
              <a:t>TỔNG KẾT</a:t>
            </a:r>
            <a:endParaRPr lang="en-US" sz="950" dirty="0"/>
          </a:p>
        </p:txBody>
      </p:sp>
      <p:sp>
        <p:nvSpPr>
          <p:cNvPr id="6" name="Shape 5"/>
          <p:cNvSpPr txBox="1"/>
          <p:nvPr/>
        </p:nvSpPr>
        <p:spPr>
          <a:xfrm>
            <a:off x="548640" y="6419088"/>
            <a:ext cx="6858000" cy="237744"/>
          </a:xfrm>
          <a:prstGeom prst="rect">
            <a:avLst/>
          </a:prstGeom>
          <a:noFill/>
          <a:ln/>
        </p:spPr>
        <p:txBody>
          <a:bodyPr wrap="square" lIns="0" tIns="0" rIns="0" bIns="0" rtlCol="0" anchor="t"/>
          <a:lstStyle/>
          <a:p>
            <a:pPr marL="0" indent="0" algn="l">
              <a:buNone/>
            </a:pPr>
            <a:r>
              <a:rPr lang="en-US" sz="900" dirty="0">
                <a:solidFill>
                  <a:srgbClr val="9CA3AF"/>
                </a:solidFill>
                <a:latin typeface="Arial" pitchFamily="34" charset="0"/>
                <a:ea typeface="Arial" pitchFamily="34" charset="-122"/>
                <a:cs typeface="Arial" pitchFamily="34" charset="-120"/>
              </a:rPr>
              <a:t>Website Trường Trung học Quốc tế DNC  ·  Huỳnh Chí Khải – DX24TT8</a:t>
            </a:r>
            <a:endParaRPr lang="en-US" sz="900" dirty="0"/>
          </a:p>
        </p:txBody>
      </p:sp>
      <p:sp>
        <p:nvSpPr>
          <p:cNvPr id="7" name="Shape 6"/>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000" b="1" dirty="0">
                <a:solidFill>
                  <a:srgbClr val="0F2C59"/>
                </a:solidFill>
                <a:latin typeface="Arial" pitchFamily="34" charset="0"/>
                <a:ea typeface="Arial" pitchFamily="34" charset="-122"/>
                <a:cs typeface="Arial" pitchFamily="34" charset="-120"/>
              </a:rPr>
              <a:t>17 / 18</a:t>
            </a:r>
            <a:endParaRPr lang="en-US" sz="1000" dirty="0"/>
          </a:p>
        </p:txBody>
      </p:sp>
      <p:grpSp>
        <p:nvGrpSpPr>
          <p:cNvPr id="22" name="Group 7">
            <a:extLst>
              <a:ext uri="{FF2B5EF4-FFF2-40B4-BE49-F238E27FC236}">
                <a16:creationId xmlns:a16="http://schemas.microsoft.com/office/drawing/2014/main" id="{30818623-AD27-44C0-CCFF-750FB1376C1F}"/>
              </a:ext>
            </a:extLst>
          </p:cNvPr>
          <p:cNvGrpSpPr/>
          <p:nvPr/>
        </p:nvGrpSpPr>
        <p:grpSpPr>
          <a:xfrm>
            <a:off x="548640" y="1600200"/>
            <a:ext cx="7543800" cy="2743200"/>
            <a:chOff x="548640" y="1600200"/>
            <a:chExt cx="7543800" cy="2743200"/>
          </a:xfrm>
        </p:grpSpPr>
        <p:sp>
          <p:nvSpPr>
            <p:cNvPr id="8" name="Part 1"/>
            <p:cNvSpPr/>
            <p:nvPr/>
          </p:nvSpPr>
          <p:spPr>
            <a:xfrm>
              <a:off x="548640" y="1600200"/>
              <a:ext cx="7543800" cy="2743200"/>
            </a:xfrm>
            <a:prstGeom prst="roundRect">
              <a:avLst>
                <a:gd name="adj" fmla="val 4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sp>
          <p:nvSpPr>
            <p:cNvPr id="9" name="Part 2"/>
            <p:cNvSpPr/>
            <p:nvPr/>
          </p:nvSpPr>
          <p:spPr>
            <a:xfrm>
              <a:off x="868680" y="1874520"/>
              <a:ext cx="822960" cy="822960"/>
            </a:xfrm>
            <a:prstGeom prst="ellipse">
              <a:avLst/>
            </a:prstGeom>
            <a:solidFill>
              <a:srgbClr val="0F2C59"/>
            </a:solidFill>
            <a:ln/>
          </p:spPr>
        </p:sp>
        <p:pic>
          <p:nvPicPr>
            <p:cNvPr id="10" name="Part 3" descr="Biểu tượng"/>
            <p:cNvPicPr>
              <a:picLocks noChangeAspect="1"/>
            </p:cNvPicPr>
            <p:nvPr/>
          </p:nvPicPr>
          <p:blipFill>
            <a:blip r:embed="rId3"/>
            <a:stretch>
              <a:fillRect/>
            </a:stretch>
          </p:blipFill>
          <p:spPr>
            <a:xfrm>
              <a:off x="1053846" y="2059686"/>
              <a:ext cx="452628" cy="452628"/>
            </a:xfrm>
            <a:prstGeom prst="rect">
              <a:avLst/>
            </a:prstGeom>
          </p:spPr>
        </p:pic>
        <p:sp>
          <p:nvSpPr>
            <p:cNvPr id="11" name="Part 4"/>
            <p:cNvSpPr txBox="1"/>
            <p:nvPr/>
          </p:nvSpPr>
          <p:spPr>
            <a:xfrm>
              <a:off x="1920240" y="1874520"/>
              <a:ext cx="5852160" cy="822960"/>
            </a:xfrm>
            <a:prstGeom prst="rect">
              <a:avLst/>
            </a:prstGeom>
            <a:noFill/>
            <a:ln/>
          </p:spPr>
          <p:txBody>
            <a:bodyPr wrap="square" lIns="0" tIns="0" rIns="0" bIns="0" rtlCol="0" anchor="ctr"/>
            <a:lstStyle/>
            <a:p>
              <a:pPr marL="0" indent="0" algn="l">
                <a:buNone/>
              </a:pPr>
              <a:r>
                <a:rPr lang="en-US" sz="2200" b="1" dirty="0">
                  <a:solidFill>
                    <a:srgbClr val="0F2C59"/>
                  </a:solidFill>
                  <a:latin typeface="Arial" pitchFamily="34" charset="0"/>
                  <a:ea typeface="Arial" pitchFamily="34" charset="-122"/>
                  <a:cs typeface="Arial" pitchFamily="34" charset="-120"/>
                </a:rPr>
                <a:t>Mã nguồn trên GitHub</a:t>
              </a:r>
              <a:endParaRPr lang="en-US" sz="2200" dirty="0"/>
            </a:p>
          </p:txBody>
        </p:sp>
        <p:sp>
          <p:nvSpPr>
            <p:cNvPr id="13" name="Part 5"/>
            <p:cNvSpPr txBox="1"/>
            <p:nvPr/>
          </p:nvSpPr>
          <p:spPr>
            <a:xfrm>
              <a:off x="868680" y="3639312"/>
              <a:ext cx="7040880" cy="566928"/>
            </a:xfrm>
            <a:prstGeom prst="rect">
              <a:avLst/>
            </a:prstGeom>
            <a:noFill/>
            <a:ln/>
          </p:spPr>
          <p:txBody>
            <a:bodyPr wrap="square" lIns="0" tIns="0" rIns="0" bIns="0" rtlCol="0" anchor="t"/>
            <a:lstStyle/>
            <a:p>
              <a:pPr marL="0" indent="0" algn="l">
                <a:buNone/>
              </a:pPr>
              <a:r>
                <a:rPr lang="en-US" sz="1250" dirty="0">
                  <a:solidFill>
                    <a:srgbClr val="6B7280"/>
                  </a:solidFill>
                  <a:latin typeface="Arial" pitchFamily="34" charset="0"/>
                  <a:ea typeface="Arial" pitchFamily="34" charset="-122"/>
                  <a:cs typeface="Arial" pitchFamily="34" charset="-120"/>
                </a:rPr>
                <a:t>Gồm mã nguồn PHP (thư mục src), cấu hình Docker và SQL khởi tạo (thư mục docker), báo cáo tiến độ và README hướng dẫn cài đặt.</a:t>
              </a:r>
              <a:endParaRPr lang="en-US" sz="1250" dirty="0"/>
            </a:p>
          </p:txBody>
        </p:sp>
      </p:grpSp>
      <p:sp>
        <p:nvSpPr>
          <p:cNvPr id="12" name="Shape 8"/>
          <p:cNvSpPr txBox="1"/>
          <p:nvPr/>
        </p:nvSpPr>
        <p:spPr>
          <a:xfrm>
            <a:off x="868680" y="2852928"/>
            <a:ext cx="7040880" cy="658368"/>
          </a:xfrm>
          <a:prstGeom prst="rect">
            <a:avLst/>
          </a:prstGeom>
          <a:noFill/>
          <a:ln/>
        </p:spPr>
        <p:txBody>
          <a:bodyPr wrap="square" lIns="0" tIns="0" rIns="0" bIns="0" rtlCol="0" anchor="t"/>
          <a:lstStyle/>
          <a:p>
            <a:pPr marL="0" indent="0" algn="l">
              <a:buNone/>
            </a:pPr>
            <a:r>
              <a:rPr lang="en-US" sz="1500" u="sng" dirty="0">
                <a:solidFill>
                  <a:srgbClr val="0F2C59"/>
                </a:solidFill>
                <a:uFill>
                  <a:solidFill>
                    <a:srgbClr val="0F2C59"/>
                  </a:solidFill>
                </a:uFill>
                <a:latin typeface="Arial" pitchFamily="34" charset="0"/>
                <a:ea typeface="Arial" pitchFamily="34" charset="-122"/>
                <a:cs typeface="Arial" pitchFamily="34" charset="-120"/>
                <a:hlinkClick r:id="rId4" tooltip="Mở repository trên GitHub">
                  <a:extLst>
                    <a:ext uri="{A12FA001-AC4F-418D-AE19-62706E023703}">
                      <ahyp:hlinkClr xmlns:ahyp="http://schemas.microsoft.com/office/drawing/2018/hyperlinkcolor" val="tx"/>
                    </a:ext>
                  </a:extLst>
                </a:hlinkClick>
              </a:rPr>
              <a:t>https://github.com/trikhaihuynh/</a:t>
            </a:r>
            <a:endParaRPr lang="en-US" sz="1500" dirty="0"/>
          </a:p>
          <a:p>
            <a:pPr marL="0" indent="0" algn="l">
              <a:buNone/>
            </a:pPr>
            <a:r>
              <a:rPr lang="en-US" sz="1500" u="sng" dirty="0">
                <a:solidFill>
                  <a:srgbClr val="0F2C59"/>
                </a:solidFill>
                <a:uFill>
                  <a:solidFill>
                    <a:srgbClr val="0F2C59"/>
                  </a:solidFill>
                </a:uFill>
                <a:latin typeface="Arial" pitchFamily="34" charset="0"/>
                <a:ea typeface="Arial" pitchFamily="34" charset="-122"/>
                <a:cs typeface="Arial" pitchFamily="34" charset="-120"/>
                <a:hlinkClick r:id="rId4" tooltip="Mở repository trên GitHub">
                  <a:extLst>
                    <a:ext uri="{A12FA001-AC4F-418D-AE19-62706E023703}">
                      <ahyp:hlinkClr xmlns:ahyp="http://schemas.microsoft.com/office/drawing/2018/hyperlinkcolor" val="tx"/>
                    </a:ext>
                  </a:extLst>
                </a:hlinkClick>
              </a:rPr>
              <a:t>csn-dx24tt8-huynhchikhai-truongtrunghocquoctednc-php</a:t>
            </a:r>
            <a:endParaRPr lang="en-US" sz="1500" dirty="0"/>
          </a:p>
        </p:txBody>
      </p:sp>
      <p:grpSp>
        <p:nvGrpSpPr>
          <p:cNvPr id="23" name="Group 9">
            <a:extLst>
              <a:ext uri="{FF2B5EF4-FFF2-40B4-BE49-F238E27FC236}">
                <a16:creationId xmlns:a16="http://schemas.microsoft.com/office/drawing/2014/main" id="{AFD8AABA-1FD1-632C-D71E-C4E00C267C19}"/>
              </a:ext>
            </a:extLst>
          </p:cNvPr>
          <p:cNvGrpSpPr/>
          <p:nvPr/>
        </p:nvGrpSpPr>
        <p:grpSpPr>
          <a:xfrm>
            <a:off x="8321040" y="1600200"/>
            <a:ext cx="3319272" cy="2743200"/>
            <a:chOff x="8321040" y="1600200"/>
            <a:chExt cx="3319272" cy="2743200"/>
          </a:xfrm>
        </p:grpSpPr>
        <p:sp>
          <p:nvSpPr>
            <p:cNvPr id="14" name="Part 1"/>
            <p:cNvSpPr/>
            <p:nvPr/>
          </p:nvSpPr>
          <p:spPr>
            <a:xfrm>
              <a:off x="8321040" y="1600200"/>
              <a:ext cx="3319272" cy="2743200"/>
            </a:xfrm>
            <a:prstGeom prst="roundRect">
              <a:avLst>
                <a:gd name="adj" fmla="val 4000"/>
              </a:avLst>
            </a:prstGeom>
            <a:solidFill>
              <a:srgbClr val="FFFFFF"/>
            </a:solidFill>
            <a:ln w="9525">
              <a:solidFill>
                <a:srgbClr val="E5E7EB"/>
              </a:solidFill>
              <a:prstDash val="solid"/>
            </a:ln>
            <a:effectLst>
              <a:outerShdw blurRad="127000" dist="38100" dir="5400000" algn="bl" rotWithShape="0">
                <a:srgbClr val="0F2C59">
                  <a:alpha val="12000"/>
                </a:srgbClr>
              </a:outerShdw>
            </a:effectLst>
          </p:spPr>
        </p:sp>
        <p:pic>
          <p:nvPicPr>
            <p:cNvPr id="15" name="Part 2" descr="Mã QR mở repository GitHub">
              <a:hlinkClick r:id="rId4" tooltip="Mở repository trên GitHub"/>
            </p:cNvPr>
            <p:cNvPicPr>
              <a:picLocks noChangeAspect="1"/>
            </p:cNvPicPr>
            <p:nvPr/>
          </p:nvPicPr>
          <p:blipFill>
            <a:blip r:embed="rId5"/>
            <a:stretch>
              <a:fillRect/>
            </a:stretch>
          </p:blipFill>
          <p:spPr>
            <a:xfrm>
              <a:off x="8974836" y="1764792"/>
              <a:ext cx="2011680" cy="2011680"/>
            </a:xfrm>
            <a:prstGeom prst="rect">
              <a:avLst/>
            </a:prstGeom>
          </p:spPr>
        </p:pic>
        <p:sp>
          <p:nvSpPr>
            <p:cNvPr id="16" name="Part 3"/>
            <p:cNvSpPr txBox="1"/>
            <p:nvPr/>
          </p:nvSpPr>
          <p:spPr>
            <a:xfrm>
              <a:off x="8321040" y="3858768"/>
              <a:ext cx="3319272" cy="310896"/>
            </a:xfrm>
            <a:prstGeom prst="rect">
              <a:avLst/>
            </a:prstGeom>
            <a:noFill/>
            <a:ln/>
          </p:spPr>
          <p:txBody>
            <a:bodyPr wrap="square" lIns="0" tIns="0" rIns="0" bIns="0" rtlCol="0" anchor="t"/>
            <a:lstStyle/>
            <a:p>
              <a:pPr marL="0" indent="0" algn="ctr">
                <a:buNone/>
              </a:pPr>
              <a:r>
                <a:rPr lang="en-US" sz="1200" dirty="0">
                  <a:solidFill>
                    <a:srgbClr val="6B7280"/>
                  </a:solidFill>
                  <a:latin typeface="Arial" pitchFamily="34" charset="0"/>
                  <a:ea typeface="Arial" pitchFamily="34" charset="-122"/>
                  <a:cs typeface="Arial" pitchFamily="34" charset="-120"/>
                </a:rPr>
                <a:t>Quét để mở repository</a:t>
              </a:r>
              <a:endParaRPr lang="en-US" sz="1200" dirty="0"/>
            </a:p>
          </p:txBody>
        </p:sp>
      </p:grpSp>
      <p:grpSp>
        <p:nvGrpSpPr>
          <p:cNvPr id="24" name="Group 10">
            <a:extLst>
              <a:ext uri="{FF2B5EF4-FFF2-40B4-BE49-F238E27FC236}">
                <a16:creationId xmlns:a16="http://schemas.microsoft.com/office/drawing/2014/main" id="{B10EA858-68D8-3AC6-5827-0AF3345EDD8E}"/>
              </a:ext>
            </a:extLst>
          </p:cNvPr>
          <p:cNvGrpSpPr/>
          <p:nvPr/>
        </p:nvGrpSpPr>
        <p:grpSpPr>
          <a:xfrm>
            <a:off x="548640" y="4572000"/>
            <a:ext cx="11091672" cy="1417320"/>
            <a:chOff x="548640" y="4572000"/>
            <a:chExt cx="11091672" cy="1417320"/>
          </a:xfrm>
        </p:grpSpPr>
        <p:sp>
          <p:nvSpPr>
            <p:cNvPr id="17" name="Part 1"/>
            <p:cNvSpPr/>
            <p:nvPr/>
          </p:nvSpPr>
          <p:spPr>
            <a:xfrm>
              <a:off x="548640" y="4572000"/>
              <a:ext cx="11091672" cy="1417320"/>
            </a:xfrm>
            <a:prstGeom prst="roundRect">
              <a:avLst>
                <a:gd name="adj" fmla="val 7742"/>
              </a:avLst>
            </a:prstGeom>
            <a:solidFill>
              <a:srgbClr val="E8EDF5"/>
            </a:solidFill>
            <a:ln/>
          </p:spPr>
        </p:sp>
        <p:sp>
          <p:nvSpPr>
            <p:cNvPr id="18" name="Part 2"/>
            <p:cNvSpPr/>
            <p:nvPr/>
          </p:nvSpPr>
          <p:spPr>
            <a:xfrm>
              <a:off x="822960" y="4773168"/>
              <a:ext cx="512064" cy="512064"/>
            </a:xfrm>
            <a:prstGeom prst="ellipse">
              <a:avLst/>
            </a:prstGeom>
            <a:solidFill>
              <a:srgbClr val="FFFFFF"/>
            </a:solidFill>
            <a:ln/>
          </p:spPr>
        </p:sp>
        <p:pic>
          <p:nvPicPr>
            <p:cNvPr id="19" name="Part 3" descr="Biểu tượng"/>
            <p:cNvPicPr>
              <a:picLocks noChangeAspect="1"/>
            </p:cNvPicPr>
            <p:nvPr/>
          </p:nvPicPr>
          <p:blipFill>
            <a:blip r:embed="rId6"/>
            <a:stretch>
              <a:fillRect/>
            </a:stretch>
          </p:blipFill>
          <p:spPr>
            <a:xfrm>
              <a:off x="945855" y="4896063"/>
              <a:ext cx="266273" cy="266273"/>
            </a:xfrm>
            <a:prstGeom prst="rect">
              <a:avLst/>
            </a:prstGeom>
          </p:spPr>
        </p:pic>
        <p:sp>
          <p:nvSpPr>
            <p:cNvPr id="20" name="Part 4"/>
            <p:cNvSpPr txBox="1"/>
            <p:nvPr/>
          </p:nvSpPr>
          <p:spPr>
            <a:xfrm>
              <a:off x="1508760" y="4773168"/>
              <a:ext cx="4572000" cy="512064"/>
            </a:xfrm>
            <a:prstGeom prst="rect">
              <a:avLst/>
            </a:prstGeom>
            <a:noFill/>
            <a:ln/>
          </p:spPr>
          <p:txBody>
            <a:bodyPr wrap="square" lIns="0" tIns="0" rIns="0" bIns="0" rtlCol="0" anchor="ctr"/>
            <a:lstStyle/>
            <a:p>
              <a:pPr marL="0" indent="0" algn="l">
                <a:buNone/>
              </a:pPr>
              <a:r>
                <a:rPr lang="en-US" sz="2000" b="1" dirty="0">
                  <a:solidFill>
                    <a:srgbClr val="0F2C59"/>
                  </a:solidFill>
                  <a:latin typeface="Arial" pitchFamily="34" charset="0"/>
                  <a:ea typeface="Arial" pitchFamily="34" charset="-122"/>
                  <a:cs typeface="Arial" pitchFamily="34" charset="-120"/>
                </a:rPr>
                <a:t>Video thuyết trình:</a:t>
              </a:r>
              <a:endParaRPr lang="en-US" sz="2000" dirty="0"/>
            </a:p>
          </p:txBody>
        </p:sp>
      </p:grpSp>
      <p:sp>
        <p:nvSpPr>
          <p:cNvPr id="21" name="Shape 11"/>
          <p:cNvSpPr txBox="1"/>
          <p:nvPr/>
        </p:nvSpPr>
        <p:spPr>
          <a:xfrm>
            <a:off x="1508760" y="5349240"/>
            <a:ext cx="9875520" cy="457200"/>
          </a:xfrm>
          <a:prstGeom prst="rect">
            <a:avLst/>
          </a:prstGeom>
          <a:noFill/>
          <a:ln/>
        </p:spPr>
        <p:txBody>
          <a:bodyPr wrap="square" lIns="0" tIns="0" rIns="0" bIns="0" rtlCol="0" anchor="ctr"/>
          <a:lstStyle/>
          <a:p>
            <a:pPr marL="0" indent="0" algn="l">
              <a:buNone/>
            </a:pPr>
            <a:r>
              <a:rPr lang="en-US" sz="1500" u="sng" dirty="0">
                <a:solidFill>
                  <a:srgbClr val="0F2C59"/>
                </a:solidFill>
                <a:uFill>
                  <a:solidFill>
                    <a:srgbClr val="0F2C59"/>
                  </a:solidFill>
                </a:uFill>
                <a:latin typeface="Arial" pitchFamily="34" charset="0"/>
                <a:ea typeface="Arial" pitchFamily="34" charset="-122"/>
                <a:cs typeface="Arial" pitchFamily="34" charset="-120"/>
                <a:hlinkClick r:id="rId7" tooltip="Mở video thuyết trình trên Google Drive">
                  <a:extLst>
                    <a:ext uri="{A12FA001-AC4F-418D-AE19-62706E023703}">
                      <ahyp:hlinkClr xmlns:ahyp="http://schemas.microsoft.com/office/drawing/2018/hyperlinkcolor" val="tx"/>
                    </a:ext>
                  </a:extLst>
                </a:hlinkClick>
              </a:rPr>
              <a:t>https://drive.google.com/file/d/1mQbcqRtB2FgkDaEPFMfxQvor5TGGTFZ_/view?usp=drive_link</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50"/>
                                        <p:tgtEl>
                                          <p:spTgt spid="22"/>
                                        </p:tgtEl>
                                      </p:cBhvr>
                                    </p:animEffect>
                                    <p:anim calcmode="lin" valueType="num">
                                      <p:cBhvr>
                                        <p:cTn id="8" dur="550" fill="hold"/>
                                        <p:tgtEl>
                                          <p:spTgt spid="22"/>
                                        </p:tgtEl>
                                        <p:attrNameLst>
                                          <p:attrName>ppt_x</p:attrName>
                                        </p:attrNameLst>
                                      </p:cBhvr>
                                      <p:tavLst>
                                        <p:tav tm="0">
                                          <p:val>
                                            <p:strVal val="#ppt_x"/>
                                          </p:val>
                                        </p:tav>
                                        <p:tav tm="100000">
                                          <p:val>
                                            <p:strVal val="#ppt_x"/>
                                          </p:val>
                                        </p:tav>
                                      </p:tavLst>
                                    </p:anim>
                                    <p:anim calcmode="lin" valueType="num">
                                      <p:cBhvr>
                                        <p:cTn id="9" dur="55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50"/>
                                        <p:tgtEl>
                                          <p:spTgt spid="12"/>
                                        </p:tgtEl>
                                      </p:cBhvr>
                                    </p:animEffect>
                                    <p:anim calcmode="lin" valueType="num">
                                      <p:cBhvr>
                                        <p:cTn id="13" dur="550" fill="hold"/>
                                        <p:tgtEl>
                                          <p:spTgt spid="12"/>
                                        </p:tgtEl>
                                        <p:attrNameLst>
                                          <p:attrName>ppt_x</p:attrName>
                                        </p:attrNameLst>
                                      </p:cBhvr>
                                      <p:tavLst>
                                        <p:tav tm="0">
                                          <p:val>
                                            <p:strVal val="#ppt_x"/>
                                          </p:val>
                                        </p:tav>
                                        <p:tav tm="100000">
                                          <p:val>
                                            <p:strVal val="#ppt_x"/>
                                          </p:val>
                                        </p:tav>
                                      </p:tavLst>
                                    </p:anim>
                                    <p:anim calcmode="lin" valueType="num">
                                      <p:cBhvr>
                                        <p:cTn id="14" dur="55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12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50"/>
                                        <p:tgtEl>
                                          <p:spTgt spid="23"/>
                                        </p:tgtEl>
                                      </p:cBhvr>
                                    </p:animEffect>
                                    <p:anim calcmode="lin" valueType="num">
                                      <p:cBhvr>
                                        <p:cTn id="18" dur="550" fill="hold"/>
                                        <p:tgtEl>
                                          <p:spTgt spid="23"/>
                                        </p:tgtEl>
                                        <p:attrNameLst>
                                          <p:attrName>ppt_x</p:attrName>
                                        </p:attrNameLst>
                                      </p:cBhvr>
                                      <p:tavLst>
                                        <p:tav tm="0">
                                          <p:val>
                                            <p:strVal val="#ppt_x"/>
                                          </p:val>
                                        </p:tav>
                                        <p:tav tm="100000">
                                          <p:val>
                                            <p:strVal val="#ppt_x"/>
                                          </p:val>
                                        </p:tav>
                                      </p:tavLst>
                                    </p:anim>
                                    <p:anim calcmode="lin" valueType="num">
                                      <p:cBhvr>
                                        <p:cTn id="19" dur="550" fill="hold"/>
                                        <p:tgtEl>
                                          <p:spTgt spid="23"/>
                                        </p:tgtEl>
                                        <p:attrNameLst>
                                          <p:attrName>ppt_y</p:attrName>
                                        </p:attrNameLst>
                                      </p:cBhvr>
                                      <p:tavLst>
                                        <p:tav tm="0">
                                          <p:val>
                                            <p:strVal val="#ppt_y+.1"/>
                                          </p:val>
                                        </p:tav>
                                        <p:tav tm="100000">
                                          <p:val>
                                            <p:strVal val="#ppt_y"/>
                                          </p:val>
                                        </p:tav>
                                      </p:tavLst>
                                    </p:anim>
                                  </p:childTnLst>
                                </p:cTn>
                              </p:par>
                            </p:childTnLst>
                          </p:cTn>
                        </p:par>
                        <p:par>
                          <p:cTn id="20" fill="hold">
                            <p:stCondLst>
                              <p:cond delay="670"/>
                            </p:stCondLst>
                            <p:childTnLst>
                              <p:par>
                                <p:cTn id="21" presetID="10" presetClass="entr" presetSubtype="0"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par>
                          <p:cTn id="27" fill="hold">
                            <p:stCondLst>
                              <p:cond delay="1170"/>
                            </p:stCondLst>
                            <p:childTnLst>
                              <p:par>
                                <p:cTn id="28" presetID="6" presetClass="emph" presetSubtype="0" autoRev="1" fill="hold" grpId="1" nodeType="afterEffect">
                                  <p:stCondLst>
                                    <p:cond delay="0"/>
                                  </p:stCondLst>
                                  <p:childTnLst>
                                    <p:animScale>
                                      <p:cBhvr>
                                        <p:cTn id="29" dur="400" fill="hold"/>
                                        <p:tgtEl>
                                          <p:spTgt spid="12"/>
                                        </p:tgtEl>
                                      </p:cBhvr>
                                      <p:by x="150000" y="150000"/>
                                      <p:to x="112000" y="112000"/>
                                    </p:animScale>
                                  </p:childTnLst>
                                </p:cTn>
                              </p:par>
                            </p:childTnLst>
                          </p:cTn>
                        </p:par>
                        <p:par>
                          <p:cTn id="30" fill="hold">
                            <p:stCondLst>
                              <p:cond delay="1970"/>
                            </p:stCondLst>
                            <p:childTnLst>
                              <p:par>
                                <p:cTn id="31" presetID="6" presetClass="emph" presetSubtype="0" autoRev="1" fill="hold" grpId="1" nodeType="afterEffect">
                                  <p:stCondLst>
                                    <p:cond delay="0"/>
                                  </p:stCondLst>
                                  <p:childTnLst>
                                    <p:animScale>
                                      <p:cBhvr>
                                        <p:cTn id="32" dur="400" fill="hold"/>
                                        <p:tgtEl>
                                          <p:spTgt spid="21"/>
                                        </p:tgtEl>
                                      </p:cBhvr>
                                      <p:by x="150000" y="15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21" grpId="0" animBg="1"/>
      <p:bldP spid="21"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C59"/>
        </a:solidFill>
        <a:effectLst/>
      </p:bgPr>
    </p:bg>
    <p:spTree>
      <p:nvGrpSpPr>
        <p:cNvPr id="1" name=""/>
        <p:cNvGrpSpPr/>
        <p:nvPr/>
      </p:nvGrpSpPr>
      <p:grpSpPr>
        <a:xfrm>
          <a:off x="0" y="0"/>
          <a:ext cx="0" cy="0"/>
          <a:chOff x="0" y="0"/>
          <a:chExt cx="0" cy="0"/>
        </a:xfrm>
      </p:grpSpPr>
      <p:pic>
        <p:nvPicPr>
          <p:cNvPr id="2" name="Shape 1" descr="Logo Trường Trung học Quốc tế DNC"/>
          <p:cNvPicPr>
            <a:picLocks noChangeAspect="1"/>
          </p:cNvPicPr>
          <p:nvPr/>
        </p:nvPicPr>
        <p:blipFill>
          <a:blip r:embed="rId3"/>
          <a:stretch>
            <a:fillRect/>
          </a:stretch>
        </p:blipFill>
        <p:spPr>
          <a:xfrm>
            <a:off x="10881360" y="365760"/>
            <a:ext cx="713232" cy="822960"/>
          </a:xfrm>
          <a:prstGeom prst="rect">
            <a:avLst/>
          </a:prstGeom>
        </p:spPr>
      </p:pic>
      <p:sp>
        <p:nvSpPr>
          <p:cNvPr id="3" name="Shape 2"/>
          <p:cNvSpPr txBox="1"/>
          <p:nvPr/>
        </p:nvSpPr>
        <p:spPr>
          <a:xfrm>
            <a:off x="548640" y="457200"/>
            <a:ext cx="9875520" cy="640080"/>
          </a:xfrm>
          <a:prstGeom prst="rect">
            <a:avLst/>
          </a:prstGeom>
          <a:noFill/>
          <a:ln/>
        </p:spPr>
        <p:txBody>
          <a:bodyPr wrap="square" lIns="0" tIns="0" rIns="0" bIns="0" rtlCol="0" anchor="ctr"/>
          <a:lstStyle/>
          <a:p>
            <a:pPr marL="0" indent="0" algn="l">
              <a:buNone/>
            </a:pPr>
            <a:r>
              <a:rPr lang="en-US" sz="3000" b="1" dirty="0">
                <a:solidFill>
                  <a:srgbClr val="FFFFFF"/>
                </a:solidFill>
                <a:latin typeface="Arial" pitchFamily="34" charset="0"/>
                <a:ea typeface="Arial" pitchFamily="34" charset="-122"/>
                <a:cs typeface="Arial" pitchFamily="34" charset="-120"/>
              </a:rPr>
              <a:t>Đánh giá, hướng phát triển và kết luận</a:t>
            </a:r>
            <a:endParaRPr lang="en-US" sz="3000" dirty="0"/>
          </a:p>
        </p:txBody>
      </p:sp>
      <p:grpSp>
        <p:nvGrpSpPr>
          <p:cNvPr id="21" name="Group 3">
            <a:extLst>
              <a:ext uri="{FF2B5EF4-FFF2-40B4-BE49-F238E27FC236}">
                <a16:creationId xmlns:a16="http://schemas.microsoft.com/office/drawing/2014/main" id="{BB3C763B-2E7D-2955-C029-7D32D9E1FED9}"/>
              </a:ext>
            </a:extLst>
          </p:cNvPr>
          <p:cNvGrpSpPr/>
          <p:nvPr/>
        </p:nvGrpSpPr>
        <p:grpSpPr>
          <a:xfrm>
            <a:off x="548640" y="1417320"/>
            <a:ext cx="3520440" cy="2971800"/>
            <a:chOff x="548640" y="1417320"/>
            <a:chExt cx="3520440" cy="2971800"/>
          </a:xfrm>
        </p:grpSpPr>
        <p:sp>
          <p:nvSpPr>
            <p:cNvPr id="4" name="Part 1"/>
            <p:cNvSpPr/>
            <p:nvPr/>
          </p:nvSpPr>
          <p:spPr>
            <a:xfrm>
              <a:off x="548640" y="1417320"/>
              <a:ext cx="3520440" cy="2971800"/>
            </a:xfrm>
            <a:prstGeom prst="roundRect">
              <a:avLst>
                <a:gd name="adj" fmla="val 3692"/>
              </a:avLst>
            </a:prstGeom>
            <a:solidFill>
              <a:srgbClr val="FFFFFF"/>
            </a:solidFill>
            <a:ln/>
            <a:effectLst>
              <a:outerShdw blurRad="127000" dist="38100" dir="5400000" algn="bl" rotWithShape="0">
                <a:srgbClr val="0F2C59">
                  <a:alpha val="12000"/>
                </a:srgbClr>
              </a:outerShdw>
            </a:effectLst>
          </p:spPr>
        </p:sp>
        <p:sp>
          <p:nvSpPr>
            <p:cNvPr id="5" name="Part 2"/>
            <p:cNvSpPr/>
            <p:nvPr/>
          </p:nvSpPr>
          <p:spPr>
            <a:xfrm>
              <a:off x="822960" y="1691640"/>
              <a:ext cx="640080" cy="640080"/>
            </a:xfrm>
            <a:prstGeom prst="ellipse">
              <a:avLst/>
            </a:prstGeom>
            <a:solidFill>
              <a:srgbClr val="E5B53A"/>
            </a:solidFill>
            <a:ln/>
          </p:spPr>
        </p:sp>
        <p:pic>
          <p:nvPicPr>
            <p:cNvPr id="6" name="Part 3" descr="Biểu tượng"/>
            <p:cNvPicPr>
              <a:picLocks noChangeAspect="1"/>
            </p:cNvPicPr>
            <p:nvPr/>
          </p:nvPicPr>
          <p:blipFill>
            <a:blip r:embed="rId4"/>
            <a:stretch>
              <a:fillRect/>
            </a:stretch>
          </p:blipFill>
          <p:spPr>
            <a:xfrm>
              <a:off x="982980" y="1851660"/>
              <a:ext cx="320040" cy="320040"/>
            </a:xfrm>
            <a:prstGeom prst="rect">
              <a:avLst/>
            </a:prstGeom>
          </p:spPr>
        </p:pic>
        <p:sp>
          <p:nvSpPr>
            <p:cNvPr id="7" name="Part 4"/>
            <p:cNvSpPr txBox="1"/>
            <p:nvPr/>
          </p:nvSpPr>
          <p:spPr>
            <a:xfrm>
              <a:off x="1645920" y="1783080"/>
              <a:ext cx="2286000" cy="457200"/>
            </a:xfrm>
            <a:prstGeom prst="rect">
              <a:avLst/>
            </a:prstGeom>
            <a:noFill/>
            <a:ln/>
          </p:spPr>
          <p:txBody>
            <a:bodyPr wrap="square" lIns="0" tIns="0" rIns="0" bIns="0" rtlCol="0" anchor="ctr"/>
            <a:lstStyle/>
            <a:p>
              <a:pPr marL="0" indent="0" algn="l">
                <a:buNone/>
              </a:pPr>
              <a:r>
                <a:rPr lang="en-US" sz="1900" b="1" dirty="0">
                  <a:solidFill>
                    <a:srgbClr val="0F2C59"/>
                  </a:solidFill>
                  <a:latin typeface="Arial" pitchFamily="34" charset="0"/>
                  <a:ea typeface="Arial" pitchFamily="34" charset="-122"/>
                  <a:cs typeface="Arial" pitchFamily="34" charset="-120"/>
                </a:rPr>
                <a:t>Ưu điểm</a:t>
              </a:r>
              <a:endParaRPr lang="en-US" sz="1900" dirty="0"/>
            </a:p>
          </p:txBody>
        </p:sp>
        <p:sp>
          <p:nvSpPr>
            <p:cNvPr id="8" name="Part 5"/>
            <p:cNvSpPr txBox="1"/>
            <p:nvPr/>
          </p:nvSpPr>
          <p:spPr>
            <a:xfrm>
              <a:off x="822960" y="2560320"/>
              <a:ext cx="3063240" cy="1737360"/>
            </a:xfrm>
            <a:prstGeom prst="rect">
              <a:avLst/>
            </a:prstGeom>
            <a:noFill/>
            <a:ln/>
          </p:spPr>
          <p:txBody>
            <a:bodyPr wrap="square" lIns="0" tIns="0" rIns="0" bIns="0" rtlCol="0" anchor="t"/>
            <a:lstStyle/>
            <a:p>
              <a:pPr marL="203200" indent="-203200">
                <a:spcAft>
                  <a:spcPts val="900"/>
                </a:spcAft>
                <a:buSzPct val="100000"/>
                <a:buChar char="•"/>
              </a:pPr>
              <a:r>
                <a:rPr lang="en-US" sz="1350" dirty="0">
                  <a:solidFill>
                    <a:srgbClr val="374151"/>
                  </a:solidFill>
                  <a:latin typeface="Arial" pitchFamily="34" charset="0"/>
                  <a:ea typeface="Arial" pitchFamily="34" charset="-122"/>
                  <a:cs typeface="Arial" pitchFamily="34" charset="-120"/>
                </a:rPr>
                <a:t>Đủ 6 chức năng F01–F06 theo đề cương</a:t>
              </a:r>
              <a:endParaRPr lang="en-US" sz="1350" dirty="0"/>
            </a:p>
            <a:p>
              <a:pPr marL="203200" indent="-203200">
                <a:spcAft>
                  <a:spcPts val="900"/>
                </a:spcAft>
                <a:buSzPct val="100000"/>
                <a:buChar char="•"/>
              </a:pPr>
              <a:r>
                <a:rPr lang="en-US" sz="1350" dirty="0">
                  <a:solidFill>
                    <a:srgbClr val="374151"/>
                  </a:solidFill>
                  <a:latin typeface="Arial" pitchFamily="34" charset="0"/>
                  <a:ea typeface="Arial" pitchFamily="34" charset="-122"/>
                  <a:cs typeface="Arial" pitchFamily="34" charset="-120"/>
                </a:rPr>
                <a:t>Bảo mật cơ bản đầy đủ, 16/16 ca kiểm thử đạt</a:t>
              </a:r>
              <a:endParaRPr lang="en-US" sz="1350" dirty="0"/>
            </a:p>
            <a:p>
              <a:pPr marL="203200" indent="-203200">
                <a:spcAft>
                  <a:spcPts val="900"/>
                </a:spcAft>
                <a:buSzPct val="100000"/>
                <a:buChar char="•"/>
              </a:pPr>
              <a:r>
                <a:rPr lang="en-US" sz="1350" dirty="0">
                  <a:solidFill>
                    <a:srgbClr val="374151"/>
                  </a:solidFill>
                  <a:latin typeface="Arial" pitchFamily="34" charset="0"/>
                  <a:ea typeface="Arial" pitchFamily="34" charset="-122"/>
                  <a:cs typeface="Arial" pitchFamily="34" charset="-120"/>
                </a:rPr>
                <a:t>Mã nguồn MVC rõ ràng, chạy ngay bằng Docker</a:t>
              </a:r>
              <a:endParaRPr lang="en-US" sz="1350" dirty="0"/>
            </a:p>
          </p:txBody>
        </p:sp>
      </p:grpSp>
      <p:grpSp>
        <p:nvGrpSpPr>
          <p:cNvPr id="22" name="Group 4">
            <a:extLst>
              <a:ext uri="{FF2B5EF4-FFF2-40B4-BE49-F238E27FC236}">
                <a16:creationId xmlns:a16="http://schemas.microsoft.com/office/drawing/2014/main" id="{1AFFF454-B2E1-5404-D816-DE084B3F4BB6}"/>
              </a:ext>
            </a:extLst>
          </p:cNvPr>
          <p:cNvGrpSpPr/>
          <p:nvPr/>
        </p:nvGrpSpPr>
        <p:grpSpPr>
          <a:xfrm>
            <a:off x="4334256" y="1417320"/>
            <a:ext cx="3520440" cy="2971800"/>
            <a:chOff x="4334256" y="1417320"/>
            <a:chExt cx="3520440" cy="2971800"/>
          </a:xfrm>
        </p:grpSpPr>
        <p:sp>
          <p:nvSpPr>
            <p:cNvPr id="9" name="Part 1"/>
            <p:cNvSpPr/>
            <p:nvPr/>
          </p:nvSpPr>
          <p:spPr>
            <a:xfrm>
              <a:off x="4334256" y="1417320"/>
              <a:ext cx="3520440" cy="2971800"/>
            </a:xfrm>
            <a:prstGeom prst="roundRect">
              <a:avLst>
                <a:gd name="adj" fmla="val 3692"/>
              </a:avLst>
            </a:prstGeom>
            <a:solidFill>
              <a:srgbClr val="FFFFFF"/>
            </a:solidFill>
            <a:ln/>
            <a:effectLst>
              <a:outerShdw blurRad="127000" dist="38100" dir="5400000" algn="bl" rotWithShape="0">
                <a:srgbClr val="0F2C59">
                  <a:alpha val="12000"/>
                </a:srgbClr>
              </a:outerShdw>
            </a:effectLst>
          </p:spPr>
        </p:sp>
        <p:sp>
          <p:nvSpPr>
            <p:cNvPr id="10" name="Part 2"/>
            <p:cNvSpPr/>
            <p:nvPr/>
          </p:nvSpPr>
          <p:spPr>
            <a:xfrm>
              <a:off x="4608576" y="1691640"/>
              <a:ext cx="640080" cy="640080"/>
            </a:xfrm>
            <a:prstGeom prst="ellipse">
              <a:avLst/>
            </a:prstGeom>
            <a:solidFill>
              <a:srgbClr val="E5B53A"/>
            </a:solidFill>
            <a:ln/>
          </p:spPr>
        </p:sp>
        <p:pic>
          <p:nvPicPr>
            <p:cNvPr id="11" name="Part 3" descr="Biểu tượng"/>
            <p:cNvPicPr>
              <a:picLocks noChangeAspect="1"/>
            </p:cNvPicPr>
            <p:nvPr/>
          </p:nvPicPr>
          <p:blipFill>
            <a:blip r:embed="rId5"/>
            <a:stretch>
              <a:fillRect/>
            </a:stretch>
          </p:blipFill>
          <p:spPr>
            <a:xfrm>
              <a:off x="4768596" y="1851660"/>
              <a:ext cx="320040" cy="320040"/>
            </a:xfrm>
            <a:prstGeom prst="rect">
              <a:avLst/>
            </a:prstGeom>
          </p:spPr>
        </p:pic>
        <p:sp>
          <p:nvSpPr>
            <p:cNvPr id="12" name="Part 4"/>
            <p:cNvSpPr txBox="1"/>
            <p:nvPr/>
          </p:nvSpPr>
          <p:spPr>
            <a:xfrm>
              <a:off x="5431536" y="1783080"/>
              <a:ext cx="2286000" cy="457200"/>
            </a:xfrm>
            <a:prstGeom prst="rect">
              <a:avLst/>
            </a:prstGeom>
            <a:noFill/>
            <a:ln/>
          </p:spPr>
          <p:txBody>
            <a:bodyPr wrap="square" lIns="0" tIns="0" rIns="0" bIns="0" rtlCol="0" anchor="ctr"/>
            <a:lstStyle/>
            <a:p>
              <a:pPr marL="0" indent="0" algn="l">
                <a:buNone/>
              </a:pPr>
              <a:r>
                <a:rPr lang="en-US" sz="1900" b="1" dirty="0">
                  <a:solidFill>
                    <a:srgbClr val="0F2C59"/>
                  </a:solidFill>
                  <a:latin typeface="Arial" pitchFamily="34" charset="0"/>
                  <a:ea typeface="Arial" pitchFamily="34" charset="-122"/>
                  <a:cs typeface="Arial" pitchFamily="34" charset="-120"/>
                </a:rPr>
                <a:t>Hạn chế</a:t>
              </a:r>
              <a:endParaRPr lang="en-US" sz="1900" dirty="0"/>
            </a:p>
          </p:txBody>
        </p:sp>
        <p:sp>
          <p:nvSpPr>
            <p:cNvPr id="13" name="Part 5"/>
            <p:cNvSpPr txBox="1"/>
            <p:nvPr/>
          </p:nvSpPr>
          <p:spPr>
            <a:xfrm>
              <a:off x="4608576" y="2560320"/>
              <a:ext cx="3063240" cy="1737360"/>
            </a:xfrm>
            <a:prstGeom prst="rect">
              <a:avLst/>
            </a:prstGeom>
            <a:noFill/>
            <a:ln/>
          </p:spPr>
          <p:txBody>
            <a:bodyPr wrap="square" lIns="0" tIns="0" rIns="0" bIns="0" rtlCol="0" anchor="t"/>
            <a:lstStyle/>
            <a:p>
              <a:pPr marL="203200" indent="-203200">
                <a:spcAft>
                  <a:spcPts val="900"/>
                </a:spcAft>
                <a:buSzPct val="100000"/>
                <a:buChar char="•"/>
              </a:pPr>
              <a:r>
                <a:rPr lang="en-US" sz="1350" dirty="0">
                  <a:solidFill>
                    <a:srgbClr val="374151"/>
                  </a:solidFill>
                  <a:latin typeface="Arial" pitchFamily="34" charset="0"/>
                  <a:ea typeface="Arial" pitchFamily="34" charset="-122"/>
                  <a:cs typeface="Arial" pitchFamily="34" charset="-120"/>
                </a:rPr>
                <a:t>Nội dung website còn là dữ liệu mẫu</a:t>
              </a:r>
              <a:endParaRPr lang="en-US" sz="1350" dirty="0"/>
            </a:p>
            <a:p>
              <a:pPr marL="203200" indent="-203200">
                <a:spcAft>
                  <a:spcPts val="900"/>
                </a:spcAft>
                <a:buSzPct val="100000"/>
                <a:buChar char="•"/>
              </a:pPr>
              <a:r>
                <a:rPr lang="en-US" sz="1350" dirty="0">
                  <a:solidFill>
                    <a:srgbClr val="374151"/>
                  </a:solidFill>
                  <a:latin typeface="Arial" pitchFamily="34" charset="0"/>
                  <a:ea typeface="Arial" pitchFamily="34" charset="-122"/>
                  <a:cs typeface="Arial" pitchFamily="34" charset="-120"/>
                </a:rPr>
                <a:t>Tệp học bạ nằm trong thư mục web công khai</a:t>
              </a:r>
              <a:endParaRPr lang="en-US" sz="1350" dirty="0"/>
            </a:p>
            <a:p>
              <a:pPr marL="203200" indent="-203200">
                <a:spcAft>
                  <a:spcPts val="900"/>
                </a:spcAft>
                <a:buSzPct val="100000"/>
                <a:buChar char="•"/>
              </a:pPr>
              <a:r>
                <a:rPr lang="en-US" sz="1350" dirty="0">
                  <a:solidFill>
                    <a:srgbClr val="374151"/>
                  </a:solidFill>
                  <a:latin typeface="Arial" pitchFamily="34" charset="0"/>
                  <a:ea typeface="Arial" pitchFamily="34" charset="-122"/>
                  <a:cs typeface="Arial" pitchFamily="34" charset="-120"/>
                </a:rPr>
                <a:t>Chưa có trình soạn thảo trực quan, chưa triển khai hosting</a:t>
              </a:r>
              <a:endParaRPr lang="en-US" sz="1350" dirty="0"/>
            </a:p>
          </p:txBody>
        </p:sp>
      </p:grpSp>
      <p:grpSp>
        <p:nvGrpSpPr>
          <p:cNvPr id="23" name="Group 5">
            <a:extLst>
              <a:ext uri="{FF2B5EF4-FFF2-40B4-BE49-F238E27FC236}">
                <a16:creationId xmlns:a16="http://schemas.microsoft.com/office/drawing/2014/main" id="{B8E51FE8-1F64-9D9E-C338-4B71A96E61E8}"/>
              </a:ext>
            </a:extLst>
          </p:cNvPr>
          <p:cNvGrpSpPr/>
          <p:nvPr/>
        </p:nvGrpSpPr>
        <p:grpSpPr>
          <a:xfrm>
            <a:off x="8119872" y="1417320"/>
            <a:ext cx="3520440" cy="2971800"/>
            <a:chOff x="8119872" y="1417320"/>
            <a:chExt cx="3520440" cy="2971800"/>
          </a:xfrm>
        </p:grpSpPr>
        <p:sp>
          <p:nvSpPr>
            <p:cNvPr id="14" name="Part 1"/>
            <p:cNvSpPr/>
            <p:nvPr/>
          </p:nvSpPr>
          <p:spPr>
            <a:xfrm>
              <a:off x="8119872" y="1417320"/>
              <a:ext cx="3520440" cy="2971800"/>
            </a:xfrm>
            <a:prstGeom prst="roundRect">
              <a:avLst>
                <a:gd name="adj" fmla="val 3692"/>
              </a:avLst>
            </a:prstGeom>
            <a:solidFill>
              <a:srgbClr val="FFFFFF"/>
            </a:solidFill>
            <a:ln/>
            <a:effectLst>
              <a:outerShdw blurRad="127000" dist="38100" dir="5400000" algn="bl" rotWithShape="0">
                <a:srgbClr val="0F2C59">
                  <a:alpha val="12000"/>
                </a:srgbClr>
              </a:outerShdw>
            </a:effectLst>
          </p:spPr>
        </p:sp>
        <p:sp>
          <p:nvSpPr>
            <p:cNvPr id="15" name="Part 2"/>
            <p:cNvSpPr/>
            <p:nvPr/>
          </p:nvSpPr>
          <p:spPr>
            <a:xfrm>
              <a:off x="8394192" y="1691640"/>
              <a:ext cx="640080" cy="640080"/>
            </a:xfrm>
            <a:prstGeom prst="ellipse">
              <a:avLst/>
            </a:prstGeom>
            <a:solidFill>
              <a:srgbClr val="E5B53A"/>
            </a:solidFill>
            <a:ln/>
          </p:spPr>
        </p:sp>
        <p:pic>
          <p:nvPicPr>
            <p:cNvPr id="16" name="Part 3" descr="Biểu tượng"/>
            <p:cNvPicPr>
              <a:picLocks noChangeAspect="1"/>
            </p:cNvPicPr>
            <p:nvPr/>
          </p:nvPicPr>
          <p:blipFill>
            <a:blip r:embed="rId6"/>
            <a:stretch>
              <a:fillRect/>
            </a:stretch>
          </p:blipFill>
          <p:spPr>
            <a:xfrm>
              <a:off x="8554212" y="1851660"/>
              <a:ext cx="320040" cy="320040"/>
            </a:xfrm>
            <a:prstGeom prst="rect">
              <a:avLst/>
            </a:prstGeom>
          </p:spPr>
        </p:pic>
        <p:sp>
          <p:nvSpPr>
            <p:cNvPr id="17" name="Part 4"/>
            <p:cNvSpPr txBox="1"/>
            <p:nvPr/>
          </p:nvSpPr>
          <p:spPr>
            <a:xfrm>
              <a:off x="9217152" y="1783080"/>
              <a:ext cx="2286000" cy="457200"/>
            </a:xfrm>
            <a:prstGeom prst="rect">
              <a:avLst/>
            </a:prstGeom>
            <a:noFill/>
            <a:ln/>
          </p:spPr>
          <p:txBody>
            <a:bodyPr wrap="square" lIns="0" tIns="0" rIns="0" bIns="0" rtlCol="0" anchor="ctr"/>
            <a:lstStyle/>
            <a:p>
              <a:pPr marL="0" indent="0" algn="l">
                <a:buNone/>
              </a:pPr>
              <a:r>
                <a:rPr lang="en-US" sz="1900" b="1" dirty="0">
                  <a:solidFill>
                    <a:srgbClr val="0F2C59"/>
                  </a:solidFill>
                  <a:latin typeface="Arial" pitchFamily="34" charset="0"/>
                  <a:ea typeface="Arial" pitchFamily="34" charset="-122"/>
                  <a:cs typeface="Arial" pitchFamily="34" charset="-120"/>
                </a:rPr>
                <a:t>Hướng phát triển</a:t>
              </a:r>
              <a:endParaRPr lang="en-US" sz="1900" dirty="0"/>
            </a:p>
          </p:txBody>
        </p:sp>
        <p:sp>
          <p:nvSpPr>
            <p:cNvPr id="18" name="Part 5"/>
            <p:cNvSpPr txBox="1"/>
            <p:nvPr/>
          </p:nvSpPr>
          <p:spPr>
            <a:xfrm>
              <a:off x="8394192" y="2560320"/>
              <a:ext cx="3063240" cy="1737360"/>
            </a:xfrm>
            <a:prstGeom prst="rect">
              <a:avLst/>
            </a:prstGeom>
            <a:noFill/>
            <a:ln/>
          </p:spPr>
          <p:txBody>
            <a:bodyPr wrap="square" lIns="0" tIns="0" rIns="0" bIns="0" rtlCol="0" anchor="t"/>
            <a:lstStyle/>
            <a:p>
              <a:pPr marL="203200" indent="-203200">
                <a:spcAft>
                  <a:spcPts val="900"/>
                </a:spcAft>
                <a:buSzPct val="100000"/>
                <a:buChar char="•"/>
              </a:pPr>
              <a:r>
                <a:rPr lang="en-US" sz="1350" dirty="0">
                  <a:solidFill>
                    <a:srgbClr val="374151"/>
                  </a:solidFill>
                  <a:latin typeface="Arial" pitchFamily="34" charset="0"/>
                  <a:ea typeface="Arial" pitchFamily="34" charset="-122"/>
                  <a:cs typeface="Arial" pitchFamily="34" charset="-120"/>
                </a:rPr>
                <a:t>Chuyển học bạ ra ngoài web root, tải qua trang quản trị</a:t>
              </a:r>
              <a:endParaRPr lang="en-US" sz="1350" dirty="0"/>
            </a:p>
            <a:p>
              <a:pPr marL="203200" indent="-203200">
                <a:spcAft>
                  <a:spcPts val="900"/>
                </a:spcAft>
                <a:buSzPct val="100000"/>
                <a:buChar char="•"/>
              </a:pPr>
              <a:r>
                <a:rPr lang="en-US" sz="1350" dirty="0">
                  <a:solidFill>
                    <a:srgbClr val="374151"/>
                  </a:solidFill>
                  <a:latin typeface="Arial" pitchFamily="34" charset="0"/>
                  <a:ea typeface="Arial" pitchFamily="34" charset="-122"/>
                  <a:cs typeface="Arial" pitchFamily="34" charset="-120"/>
                </a:rPr>
                <a:t>Trình soạn thảo WYSIWYG, email xác nhận đăng ký</a:t>
              </a:r>
              <a:endParaRPr lang="en-US" sz="1350" dirty="0"/>
            </a:p>
            <a:p>
              <a:pPr marL="203200" indent="-203200">
                <a:spcAft>
                  <a:spcPts val="900"/>
                </a:spcAft>
                <a:buSzPct val="100000"/>
                <a:buChar char="•"/>
              </a:pPr>
              <a:r>
                <a:rPr lang="en-US" sz="1350" dirty="0">
                  <a:solidFill>
                    <a:srgbClr val="374151"/>
                  </a:solidFill>
                  <a:latin typeface="Arial" pitchFamily="34" charset="0"/>
                  <a:ea typeface="Arial" pitchFamily="34" charset="-122"/>
                  <a:cs typeface="Arial" pitchFamily="34" charset="-120"/>
                </a:rPr>
                <a:t>Xuất Excel hồ sơ, kiểm thử PHPUnit, triển khai HTTPS</a:t>
              </a:r>
              <a:endParaRPr lang="en-US" sz="1350" dirty="0"/>
            </a:p>
          </p:txBody>
        </p:sp>
      </p:grpSp>
      <p:sp>
        <p:nvSpPr>
          <p:cNvPr id="19" name="Shape 6"/>
          <p:cNvSpPr txBox="1"/>
          <p:nvPr/>
        </p:nvSpPr>
        <p:spPr>
          <a:xfrm>
            <a:off x="548640" y="4617720"/>
            <a:ext cx="11091672" cy="685800"/>
          </a:xfrm>
          <a:prstGeom prst="rect">
            <a:avLst/>
          </a:prstGeom>
          <a:noFill/>
          <a:ln/>
        </p:spPr>
        <p:txBody>
          <a:bodyPr wrap="square" lIns="0" tIns="0" rIns="0" bIns="0" rtlCol="0" anchor="t"/>
          <a:lstStyle/>
          <a:p>
            <a:pPr marL="0" indent="0" algn="l">
              <a:buNone/>
            </a:pPr>
            <a:r>
              <a:rPr lang="en-US" sz="1450" b="1" dirty="0">
                <a:solidFill>
                  <a:srgbClr val="E5B53A"/>
                </a:solidFill>
                <a:latin typeface="Arial" pitchFamily="34" charset="0"/>
                <a:ea typeface="Arial" pitchFamily="34" charset="-122"/>
                <a:cs typeface="Arial" pitchFamily="34" charset="-120"/>
              </a:rPr>
              <a:t>Kết luận: </a:t>
            </a:r>
            <a:r>
              <a:rPr lang="en-US" sz="1450" dirty="0">
                <a:solidFill>
                  <a:srgbClr val="DCE4F2"/>
                </a:solidFill>
                <a:latin typeface="Arial" pitchFamily="34" charset="0"/>
                <a:ea typeface="Arial" pitchFamily="34" charset="-122"/>
                <a:cs typeface="Arial" pitchFamily="34" charset="-120"/>
              </a:rPr>
              <a:t>website đáp ứng mục tiêu đề tài – giới thiệu trường, quảng bá chương trình đào tạo, cập nhật tin tức và tiếp nhận đăng ký nhập học trực tuyến, kèm khu vực quản trị an toàn.</a:t>
            </a:r>
            <a:endParaRPr lang="en-US" sz="1450" dirty="0"/>
          </a:p>
        </p:txBody>
      </p:sp>
      <p:sp>
        <p:nvSpPr>
          <p:cNvPr id="20" name="Shape 7"/>
          <p:cNvSpPr txBox="1"/>
          <p:nvPr/>
        </p:nvSpPr>
        <p:spPr>
          <a:xfrm>
            <a:off x="548640" y="5532120"/>
            <a:ext cx="11091672" cy="640080"/>
          </a:xfrm>
          <a:prstGeom prst="rect">
            <a:avLst/>
          </a:prstGeom>
          <a:noFill/>
          <a:ln/>
        </p:spPr>
        <p:txBody>
          <a:bodyPr wrap="square" lIns="0" tIns="0" rIns="0" bIns="0" rtlCol="0" anchor="ctr"/>
          <a:lstStyle/>
          <a:p>
            <a:pPr marL="0" indent="0" algn="ctr">
              <a:buNone/>
            </a:pPr>
            <a:r>
              <a:rPr lang="en-US" sz="2800" b="1" kern="0" spc="100" dirty="0">
                <a:solidFill>
                  <a:srgbClr val="E5B53A"/>
                </a:solidFill>
                <a:latin typeface="Arial" pitchFamily="34" charset="0"/>
                <a:ea typeface="Arial" pitchFamily="34" charset="-122"/>
                <a:cs typeface="Arial" pitchFamily="34" charset="-120"/>
              </a:rPr>
              <a:t>CẢM ƠN THẦY CÔ ĐÃ LẮNG NGHE!</a:t>
            </a:r>
            <a:endParaRPr lang="en-US" sz="2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12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620"/>
                            </p:stCondLst>
                            <p:childTnLst>
                              <p:par>
                                <p:cTn id="12" presetID="42" presetClass="entr" presetSubtype="0" fill="hold"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50"/>
                                        <p:tgtEl>
                                          <p:spTgt spid="21"/>
                                        </p:tgtEl>
                                      </p:cBhvr>
                                    </p:animEffect>
                                    <p:anim calcmode="lin" valueType="num">
                                      <p:cBhvr>
                                        <p:cTn id="15" dur="550" fill="hold"/>
                                        <p:tgtEl>
                                          <p:spTgt spid="21"/>
                                        </p:tgtEl>
                                        <p:attrNameLst>
                                          <p:attrName>ppt_x</p:attrName>
                                        </p:attrNameLst>
                                      </p:cBhvr>
                                      <p:tavLst>
                                        <p:tav tm="0">
                                          <p:val>
                                            <p:strVal val="#ppt_x"/>
                                          </p:val>
                                        </p:tav>
                                        <p:tav tm="100000">
                                          <p:val>
                                            <p:strVal val="#ppt_x"/>
                                          </p:val>
                                        </p:tav>
                                      </p:tavLst>
                                    </p:anim>
                                    <p:anim calcmode="lin" valueType="num">
                                      <p:cBhvr>
                                        <p:cTn id="16" dur="550" fill="hold"/>
                                        <p:tgtEl>
                                          <p:spTgt spid="2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12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50"/>
                                        <p:tgtEl>
                                          <p:spTgt spid="22"/>
                                        </p:tgtEl>
                                      </p:cBhvr>
                                    </p:animEffect>
                                    <p:anim calcmode="lin" valueType="num">
                                      <p:cBhvr>
                                        <p:cTn id="20" dur="550" fill="hold"/>
                                        <p:tgtEl>
                                          <p:spTgt spid="22"/>
                                        </p:tgtEl>
                                        <p:attrNameLst>
                                          <p:attrName>ppt_x</p:attrName>
                                        </p:attrNameLst>
                                      </p:cBhvr>
                                      <p:tavLst>
                                        <p:tav tm="0">
                                          <p:val>
                                            <p:strVal val="#ppt_x"/>
                                          </p:val>
                                        </p:tav>
                                        <p:tav tm="100000">
                                          <p:val>
                                            <p:strVal val="#ppt_x"/>
                                          </p:val>
                                        </p:tav>
                                      </p:tavLst>
                                    </p:anim>
                                    <p:anim calcmode="lin" valueType="num">
                                      <p:cBhvr>
                                        <p:cTn id="21" dur="550" fill="hold"/>
                                        <p:tgtEl>
                                          <p:spTgt spid="2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24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50"/>
                                        <p:tgtEl>
                                          <p:spTgt spid="23"/>
                                        </p:tgtEl>
                                      </p:cBhvr>
                                    </p:animEffect>
                                    <p:anim calcmode="lin" valueType="num">
                                      <p:cBhvr>
                                        <p:cTn id="25" dur="550" fill="hold"/>
                                        <p:tgtEl>
                                          <p:spTgt spid="23"/>
                                        </p:tgtEl>
                                        <p:attrNameLst>
                                          <p:attrName>ppt_x</p:attrName>
                                        </p:attrNameLst>
                                      </p:cBhvr>
                                      <p:tavLst>
                                        <p:tav tm="0">
                                          <p:val>
                                            <p:strVal val="#ppt_x"/>
                                          </p:val>
                                        </p:tav>
                                        <p:tav tm="100000">
                                          <p:val>
                                            <p:strVal val="#ppt_x"/>
                                          </p:val>
                                        </p:tav>
                                      </p:tavLst>
                                    </p:anim>
                                    <p:anim calcmode="lin" valueType="num">
                                      <p:cBhvr>
                                        <p:cTn id="26" dur="550" fill="hold"/>
                                        <p:tgtEl>
                                          <p:spTgt spid="23"/>
                                        </p:tgtEl>
                                        <p:attrNameLst>
                                          <p:attrName>ppt_y</p:attrName>
                                        </p:attrNameLst>
                                      </p:cBhvr>
                                      <p:tavLst>
                                        <p:tav tm="0">
                                          <p:val>
                                            <p:strVal val="#ppt_y+.1"/>
                                          </p:val>
                                        </p:tav>
                                        <p:tav tm="100000">
                                          <p:val>
                                            <p:strVal val="#ppt_y"/>
                                          </p:val>
                                        </p:tav>
                                      </p:tavLst>
                                    </p:anim>
                                  </p:childTnLst>
                                </p:cTn>
                              </p:par>
                            </p:childTnLst>
                          </p:cTn>
                        </p:par>
                        <p:par>
                          <p:cTn id="27" fill="hold">
                            <p:stCondLst>
                              <p:cond delay="1410"/>
                            </p:stCondLst>
                            <p:childTnLst>
                              <p:par>
                                <p:cTn id="28" presetID="10" presetClass="entr" presetSubtype="0"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par>
                          <p:cTn id="31" fill="hold">
                            <p:stCondLst>
                              <p:cond delay="1910"/>
                            </p:stCondLst>
                            <p:childTnLst>
                              <p:par>
                                <p:cTn id="32" presetID="53" presetClass="entr" presetSubtype="16"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p:cTn id="34" dur="500" fill="hold"/>
                                        <p:tgtEl>
                                          <p:spTgt spid="20"/>
                                        </p:tgtEl>
                                        <p:attrNameLst>
                                          <p:attrName>ppt_w</p:attrName>
                                        </p:attrNameLst>
                                      </p:cBhvr>
                                      <p:tavLst>
                                        <p:tav tm="0">
                                          <p:val>
                                            <p:fltVal val="0"/>
                                          </p:val>
                                        </p:tav>
                                        <p:tav tm="100000">
                                          <p:val>
                                            <p:strVal val="#ppt_w"/>
                                          </p:val>
                                        </p:tav>
                                      </p:tavLst>
                                    </p:anim>
                                    <p:anim calcmode="lin" valueType="num">
                                      <p:cBhvr>
                                        <p:cTn id="35" dur="500" fill="hold"/>
                                        <p:tgtEl>
                                          <p:spTgt spid="20"/>
                                        </p:tgtEl>
                                        <p:attrNameLst>
                                          <p:attrName>ppt_h</p:attrName>
                                        </p:attrNameLst>
                                      </p:cBhvr>
                                      <p:tavLst>
                                        <p:tav tm="0">
                                          <p:val>
                                            <p:fltVal val="0"/>
                                          </p:val>
                                        </p:tav>
                                        <p:tav tm="100000">
                                          <p:val>
                                            <p:strVal val="#ppt_h"/>
                                          </p:val>
                                        </p:tav>
                                      </p:tavLst>
                                    </p:anim>
                                    <p:animEffect transition="in" filter="fade">
                                      <p:cBhvr>
                                        <p:cTn id="36" dur="500"/>
                                        <p:tgtEl>
                                          <p:spTgt spid="20"/>
                                        </p:tgtEl>
                                      </p:cBhvr>
                                    </p:animEffect>
                                  </p:childTnLst>
                                </p:cTn>
                              </p:par>
                            </p:childTnLst>
                          </p:cTn>
                        </p:par>
                        <p:par>
                          <p:cTn id="37" fill="hold">
                            <p:stCondLst>
                              <p:cond delay="2410"/>
                            </p:stCondLst>
                            <p:childTnLst>
                              <p:par>
                                <p:cTn id="38" presetID="6" presetClass="emph" presetSubtype="0" autoRev="1" fill="hold" grpId="1" nodeType="afterEffect">
                                  <p:stCondLst>
                                    <p:cond delay="0"/>
                                  </p:stCondLst>
                                  <p:childTnLst>
                                    <p:animScale>
                                      <p:cBhvr>
                                        <p:cTn id="39" dur="400" fill="hold"/>
                                        <p:tgtEl>
                                          <p:spTgt spid="20"/>
                                        </p:tgtEl>
                                      </p:cBhvr>
                                      <p:by x="150000" y="15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9" grpId="0" animBg="1"/>
      <p:bldP spid="20" grpId="0" animBg="1"/>
      <p:bldP spid="20"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3979</Words>
  <Application>Microsoft Office PowerPoint</Application>
  <PresentationFormat>Widescreen</PresentationFormat>
  <Paragraphs>473</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Trường Kỹ thuật và Công nghệ – Đại học Trà Vinh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Website Trường Trung học Quốc tế DNC</dc:title>
  <dc:subject>Thuyết trình đồ án thực tập cơ sở ngành</dc:subject>
  <dc:creator>Huỳnh Chí Khải</dc:creator>
  <cp:lastModifiedBy>Huỳnh Chí Khải</cp:lastModifiedBy>
  <cp:revision>2</cp:revision>
  <dcterms:created xsi:type="dcterms:W3CDTF">2026-09-28T14:57:12Z</dcterms:created>
  <dcterms:modified xsi:type="dcterms:W3CDTF">2026-09-28T14:57:28Z</dcterms:modified>
</cp:coreProperties>
</file>